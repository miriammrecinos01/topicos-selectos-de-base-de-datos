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7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7FF"/>
    <a:srgbClr val="E1E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5" d="100"/>
          <a:sy n="45" d="100"/>
        </p:scale>
        <p:origin x="34" y="6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BF4CC-5C31-65A5-C671-D7B7D33E3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69F6DBA-886D-FFC7-A36D-32AD0D7C9E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84DC09-1CFC-73DF-5AD3-113BEB627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7B4CA-AA22-4B9B-BD09-79480EF98E6D}" type="datetimeFigureOut">
              <a:rPr lang="es-ES" smtClean="0"/>
              <a:t>18/10/2025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AAE558-8365-3E72-4F2A-B380A8842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250B27-420D-D2A2-09A0-87D2F1CE8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3DC67-4C14-410C-BC22-8D17DFB31B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1201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AE94A0-1EBA-B8EC-F9D9-52685A54F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BC7E12-5E52-A30C-2836-DE8E3D65B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13E46B-2EB0-2CBD-18F1-52A08B12A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7B4CA-AA22-4B9B-BD09-79480EF98E6D}" type="datetimeFigureOut">
              <a:rPr lang="es-ES" smtClean="0"/>
              <a:t>18/10/2025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10E0A9-921E-9B3B-002E-DBDF4D0CE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A3091F-32C3-BA10-522B-95417E3FF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3DC67-4C14-410C-BC22-8D17DFB31B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0930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FF624E-92F9-907C-A192-D6B411BFF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41BE63F-49B7-E56F-A014-07E2666A6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807DF3-DCBA-D572-F199-3B5352757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7B4CA-AA22-4B9B-BD09-79480EF98E6D}" type="datetimeFigureOut">
              <a:rPr lang="es-ES" smtClean="0"/>
              <a:t>18/10/2025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FC7408-03B0-AF90-D283-AF12BDA07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B84513-D1EF-2A41-3BFC-04849469E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3DC67-4C14-410C-BC22-8D17DFB31B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5052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B15A2A-51CD-8F42-F2A6-7415A7DE0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5CBE8A-9994-58B4-3B07-3DC2A76DD4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589B247-75ED-B274-E74B-A439FB1685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B38B8C2-C0C7-38F5-7369-0C1B4DA36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7B4CA-AA22-4B9B-BD09-79480EF98E6D}" type="datetimeFigureOut">
              <a:rPr lang="es-ES" smtClean="0"/>
              <a:t>18/10/2025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CACAEA7-32E4-36F6-BADD-5E2EDB477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7B8288B-9EEF-7B0D-1662-AC7E6E3A7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3DC67-4C14-410C-BC22-8D17DFB31B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524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AB117A-142D-239A-9F06-8A2EC5349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D762444-1BAC-87A1-F8FD-C17FAC936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DA8E65C-9EAD-0AC7-69CB-A32FA30746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AA30500-2443-B1FC-FFA8-8A4335196B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9F6F4FA-523C-B2AF-1528-4C7AC876F1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0CD8BF3-1E5D-773F-E3D7-E530709EA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7B4CA-AA22-4B9B-BD09-79480EF98E6D}" type="datetimeFigureOut">
              <a:rPr lang="es-ES" smtClean="0"/>
              <a:t>18/10/2025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55C0979-B819-DBC1-B81A-529B0DB6A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AA011EF-8FBC-A362-AAC7-B17717746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3DC67-4C14-410C-BC22-8D17DFB31B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4606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D30F94-3C27-4E16-C61D-2582CE7C8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4FDC37F-4B72-DD44-750F-77D1620D8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7B4CA-AA22-4B9B-BD09-79480EF98E6D}" type="datetimeFigureOut">
              <a:rPr lang="es-ES" smtClean="0"/>
              <a:t>18/10/2025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58DAC67-6485-C9EC-638C-D96A1EEB3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C3B3BDF-FC0D-26F8-23AE-97260ACB6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3DC67-4C14-410C-BC22-8D17DFB31B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5913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3CDEFE2-FE76-9748-7515-E449B7D04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7B4CA-AA22-4B9B-BD09-79480EF98E6D}" type="datetimeFigureOut">
              <a:rPr lang="es-ES" smtClean="0"/>
              <a:t>18/10/2025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BF18C4D-6A1F-D4CD-16C7-2BB6414A3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510A60B-5470-9935-047D-DC2589281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3DC67-4C14-410C-BC22-8D17DFB31B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3740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4B5B71-CC35-7D45-1F62-9F355A6FB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DD3975-372E-10A6-06E8-38DEC2088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1C6D17A-94C8-995F-1B0E-4B5F697993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AB853CE-7E78-0489-BC6C-A4C8F1F46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7B4CA-AA22-4B9B-BD09-79480EF98E6D}" type="datetimeFigureOut">
              <a:rPr lang="es-ES" smtClean="0"/>
              <a:t>18/10/2025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06F473-6E1A-6B00-1A4B-1ECE61F7C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302B756-2F6F-80AC-05CB-D8256DCA7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3DC67-4C14-410C-BC22-8D17DFB31B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3767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81DB0F-0288-8D1D-27DC-525F2ABCE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DD08AA0-B7D1-A744-8FD1-D3242FDBE8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5039676-B8CD-46CF-13E0-21FFF1297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B37658-31E1-2B8A-A0D2-D2B1896E6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7B4CA-AA22-4B9B-BD09-79480EF98E6D}" type="datetimeFigureOut">
              <a:rPr lang="es-ES" smtClean="0"/>
              <a:t>18/10/2025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669C3E-979D-B1C7-9C81-2B7F44A3A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73E4447-003B-8570-D569-3E07E0BE3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3DC67-4C14-410C-BC22-8D17DFB31B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2858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48ECAF-3AAE-031E-DCBB-FFAFEA4B8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43914F3-8538-D66D-66C3-0D748C98E4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346BCA-F4A9-1989-779D-D3813D44E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7B4CA-AA22-4B9B-BD09-79480EF98E6D}" type="datetimeFigureOut">
              <a:rPr lang="es-ES" smtClean="0"/>
              <a:t>18/10/2025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D89583-37C0-E03B-E646-B8659207E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BCCDA8-B07D-E1C2-75F6-547BFC341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3DC67-4C14-410C-BC22-8D17DFB31B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3399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7019945-4E6D-F3DB-4D85-41396DF020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557E307-6858-0200-4B15-A70D4B05D6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9DFE5B-2BEB-829F-F316-63B894A75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7B4CA-AA22-4B9B-BD09-79480EF98E6D}" type="datetimeFigureOut">
              <a:rPr lang="es-ES" smtClean="0"/>
              <a:t>18/10/2025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5C4255-2B1F-65F7-7537-A931E9B50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789801-2800-5A05-D2FB-F6F7DE1FA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3DC67-4C14-410C-BC22-8D17DFB31B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4185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27F4B6B-7A05-B1B0-056B-60A19D462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E5F0C0-7CC1-1417-FF0F-37CF400DB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BC6E38-E1E8-88E1-4B51-D46255981B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B7B4CA-AA22-4B9B-BD09-79480EF98E6D}" type="datetimeFigureOut">
              <a:rPr lang="es-ES" smtClean="0"/>
              <a:t>18/10/2025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A4739D-6FC5-788D-2319-9BBBE258F7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8B813F-43A3-00BF-B1D7-D5186C69A2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E3DC67-4C14-410C-BC22-8D17DFB31B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0843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D355B532-5C8B-9888-3322-D9D570E21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60" y="109466"/>
            <a:ext cx="1543783" cy="454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TecNM | Tecnológico Nacional de México">
            <a:extLst>
              <a:ext uri="{FF2B5EF4-FFF2-40B4-BE49-F238E27FC236}">
                <a16:creationId xmlns:a16="http://schemas.microsoft.com/office/drawing/2014/main" id="{7E1F83BB-C227-B915-AD34-9F12270B0F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108" y="193698"/>
            <a:ext cx="1543783" cy="401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Instituto Tecnológico de Frontera Comalapa-Oficial | Frontera Comalapa">
            <a:extLst>
              <a:ext uri="{FF2B5EF4-FFF2-40B4-BE49-F238E27FC236}">
                <a16:creationId xmlns:a16="http://schemas.microsoft.com/office/drawing/2014/main" id="{24E92C32-A33B-B6D5-2EE1-D3A12BECF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4787" y="142131"/>
            <a:ext cx="1183697" cy="452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9">
            <a:extLst>
              <a:ext uri="{FF2B5EF4-FFF2-40B4-BE49-F238E27FC236}">
                <a16:creationId xmlns:a16="http://schemas.microsoft.com/office/drawing/2014/main" id="{5AD71589-09C5-22D2-94EB-9ECFBA1ADCBD}"/>
              </a:ext>
            </a:extLst>
          </p:cNvPr>
          <p:cNvSpPr txBox="1"/>
          <p:nvPr/>
        </p:nvSpPr>
        <p:spPr>
          <a:xfrm>
            <a:off x="3757479" y="1211076"/>
            <a:ext cx="5039840" cy="292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51"/>
              </a:lnSpc>
              <a:spcBef>
                <a:spcPct val="0"/>
              </a:spcBef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Montserrat Bold"/>
                <a:cs typeface="Times New Roman" panose="02020603050405020304" pitchFamily="18" charset="0"/>
                <a:sym typeface="Montserrat Bold"/>
              </a:rPr>
              <a:t>INSTITUTO TECNOLOGICO DE FRONTERA COMALAPA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8DCAFF5-E07E-6146-83A2-E7829B777F9C}"/>
              </a:ext>
            </a:extLst>
          </p:cNvPr>
          <p:cNvSpPr txBox="1"/>
          <p:nvPr/>
        </p:nvSpPr>
        <p:spPr>
          <a:xfrm>
            <a:off x="2914337" y="1961565"/>
            <a:ext cx="6363324" cy="3762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CATEDRÁTICO:  Mingo Velázquez Francisco Javier</a:t>
            </a:r>
          </a:p>
          <a:p>
            <a:pPr algn="ctr"/>
            <a:endParaRPr lang="es-E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s-E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s-E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MATERIA: Tópicos Selectos de Base de Datos</a:t>
            </a:r>
          </a:p>
          <a:p>
            <a:pPr algn="ctr"/>
            <a:endParaRPr lang="es-E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s-E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s-E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NOMBRE DEL ALUMNO: Moguel Recinos Miriam</a:t>
            </a:r>
          </a:p>
          <a:p>
            <a:pPr algn="ctr"/>
            <a:endParaRPr lang="es-E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s-E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s-E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NUMERO DE CONTROL: 211260044</a:t>
            </a:r>
          </a:p>
          <a:p>
            <a:pPr algn="ctr"/>
            <a:endParaRPr lang="es-E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s-E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s-E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CARRERA: Ingeniería en  Sistemas Computacionales</a:t>
            </a:r>
          </a:p>
          <a:p>
            <a:pPr algn="ctr"/>
            <a:endParaRPr lang="es-E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s-E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s-E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NOMBRE DEL TRABAJO: Mapa Conceptual</a:t>
            </a:r>
          </a:p>
          <a:p>
            <a:pPr algn="ctr"/>
            <a:endParaRPr lang="es-E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s-E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s-E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FRONTERA COMALAPA, CHIAPAS A 17 </a:t>
            </a:r>
            <a:r>
              <a:rPr lang="es-ES" sz="1200">
                <a:latin typeface="Times New Roman" panose="02020603050405020304" pitchFamily="18" charset="0"/>
                <a:cs typeface="Times New Roman" panose="02020603050405020304" pitchFamily="18" charset="0"/>
              </a:rPr>
              <a:t>DE OCTUBRE  </a:t>
            </a:r>
            <a:r>
              <a:rPr lang="es-E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2025</a:t>
            </a:r>
          </a:p>
          <a:p>
            <a:endParaRPr lang="es-E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2168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4A745A64-5DD6-B143-DAF7-B25E11F2FC57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6096000" y="961053"/>
            <a:ext cx="0" cy="21909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E67AC0F4-72C7-78F8-65B1-3E35C5A47D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83" b="26205"/>
          <a:stretch/>
        </p:blipFill>
        <p:spPr bwMode="auto">
          <a:xfrm>
            <a:off x="2573526" y="0"/>
            <a:ext cx="7044948" cy="1231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E16EEC3-08F8-7C06-FC60-AA4A991CB2A5}"/>
              </a:ext>
            </a:extLst>
          </p:cNvPr>
          <p:cNvSpPr txBox="1"/>
          <p:nvPr/>
        </p:nvSpPr>
        <p:spPr>
          <a:xfrm>
            <a:off x="2573526" y="431154"/>
            <a:ext cx="8223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latin typeface="Century Gothic" panose="020B0502020202020204" pitchFamily="34" charset="0"/>
              </a:rPr>
              <a:t>Tipos de Bases de Datos para Almacenamiento de Datos Históricos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7875A31-6CED-931C-DC51-F3661F8CD41E}"/>
              </a:ext>
            </a:extLst>
          </p:cNvPr>
          <p:cNvSpPr txBox="1"/>
          <p:nvPr/>
        </p:nvSpPr>
        <p:spPr>
          <a:xfrm>
            <a:off x="5620401" y="1401185"/>
            <a:ext cx="951197" cy="261610"/>
          </a:xfrm>
          <a:prstGeom prst="rect">
            <a:avLst/>
          </a:prstGeom>
          <a:solidFill>
            <a:srgbClr val="E1E1FF"/>
          </a:solidFill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Century Gothic" panose="020B0502020202020204" pitchFamily="34" charset="0"/>
              </a:rPr>
              <a:t>¿Qué es?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463D015-FF7C-7494-3337-EC6E12BFEC7A}"/>
              </a:ext>
            </a:extLst>
          </p:cNvPr>
          <p:cNvSpPr txBox="1"/>
          <p:nvPr/>
        </p:nvSpPr>
        <p:spPr>
          <a:xfrm>
            <a:off x="1393371" y="1869661"/>
            <a:ext cx="9405257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latin typeface="Century Gothic" panose="020B0502020202020204" pitchFamily="34" charset="0"/>
              </a:rPr>
              <a:t>Es un conjunto estructurado de información que permite almacenar, organizar, gestionar y recuperar datos de manera eficiente.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FD49240-E424-444E-89FB-9DF327DE8798}"/>
              </a:ext>
            </a:extLst>
          </p:cNvPr>
          <p:cNvSpPr txBox="1"/>
          <p:nvPr/>
        </p:nvSpPr>
        <p:spPr>
          <a:xfrm>
            <a:off x="5620401" y="2507681"/>
            <a:ext cx="1078979" cy="261610"/>
          </a:xfrm>
          <a:prstGeom prst="rect">
            <a:avLst/>
          </a:prstGeom>
          <a:solidFill>
            <a:srgbClr val="E1E1FF"/>
          </a:solidFill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Century Gothic" panose="020B0502020202020204" pitchFamily="34" charset="0"/>
              </a:rPr>
              <a:t>Se clasifican 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2703B6A-146A-5F5A-718A-EE8EFF2EBAF6}"/>
              </a:ext>
            </a:extLst>
          </p:cNvPr>
          <p:cNvSpPr txBox="1"/>
          <p:nvPr/>
        </p:nvSpPr>
        <p:spPr>
          <a:xfrm>
            <a:off x="1007706" y="3152001"/>
            <a:ext cx="2435289" cy="276999"/>
          </a:xfrm>
          <a:prstGeom prst="rect">
            <a:avLst/>
          </a:prstGeom>
          <a:solidFill>
            <a:srgbClr val="E1E1FF"/>
          </a:solidFill>
        </p:spPr>
        <p:txBody>
          <a:bodyPr wrap="square" rtlCol="0">
            <a:spAutoFit/>
          </a:bodyPr>
          <a:lstStyle/>
          <a:p>
            <a:r>
              <a:rPr lang="es-ES" sz="1200" b="1" dirty="0">
                <a:latin typeface="Century Gothic" panose="020B0502020202020204" pitchFamily="34" charset="0"/>
              </a:rPr>
              <a:t>Base de datos Transacciona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A44BE4B-BBF9-D5DB-BED1-652B90EED21E}"/>
              </a:ext>
            </a:extLst>
          </p:cNvPr>
          <p:cNvSpPr txBox="1"/>
          <p:nvPr/>
        </p:nvSpPr>
        <p:spPr>
          <a:xfrm>
            <a:off x="4878355" y="3152001"/>
            <a:ext cx="2435289" cy="276999"/>
          </a:xfrm>
          <a:prstGeom prst="rect">
            <a:avLst/>
          </a:prstGeom>
          <a:solidFill>
            <a:srgbClr val="E1E1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>
                <a:latin typeface="Century Gothic" panose="020B0502020202020204" pitchFamily="34" charset="0"/>
              </a:rPr>
              <a:t>Base de datos analítica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73A42F3-6C1F-C469-8605-5AA00D359DA9}"/>
              </a:ext>
            </a:extLst>
          </p:cNvPr>
          <p:cNvSpPr txBox="1"/>
          <p:nvPr/>
        </p:nvSpPr>
        <p:spPr>
          <a:xfrm>
            <a:off x="8240448" y="3185829"/>
            <a:ext cx="2556458" cy="276999"/>
          </a:xfrm>
          <a:prstGeom prst="rect">
            <a:avLst/>
          </a:prstGeom>
          <a:solidFill>
            <a:srgbClr val="E1E1FF"/>
          </a:solidFill>
        </p:spPr>
        <p:txBody>
          <a:bodyPr wrap="square" rtlCol="0">
            <a:spAutoFit/>
          </a:bodyPr>
          <a:lstStyle/>
          <a:p>
            <a:r>
              <a:rPr lang="es-ES" sz="1200" b="1" dirty="0">
                <a:latin typeface="Century Gothic" panose="020B0502020202020204" pitchFamily="34" charset="0"/>
              </a:rPr>
              <a:t>Base de datos multidimensional</a:t>
            </a:r>
          </a:p>
        </p:txBody>
      </p:sp>
      <p:cxnSp>
        <p:nvCxnSpPr>
          <p:cNvPr id="16" name="Conector: angular 15">
            <a:extLst>
              <a:ext uri="{FF2B5EF4-FFF2-40B4-BE49-F238E27FC236}">
                <a16:creationId xmlns:a16="http://schemas.microsoft.com/office/drawing/2014/main" id="{C1806DFF-ED9E-AAF1-F837-84EC96AFE916}"/>
              </a:ext>
            </a:extLst>
          </p:cNvPr>
          <p:cNvCxnSpPr>
            <a:stCxn id="9" idx="1"/>
            <a:endCxn id="10" idx="0"/>
          </p:cNvCxnSpPr>
          <p:nvPr/>
        </p:nvCxnSpPr>
        <p:spPr>
          <a:xfrm rot="10800000" flipV="1">
            <a:off x="2225351" y="2638485"/>
            <a:ext cx="3395050" cy="51351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Conector: angular 17">
            <a:extLst>
              <a:ext uri="{FF2B5EF4-FFF2-40B4-BE49-F238E27FC236}">
                <a16:creationId xmlns:a16="http://schemas.microsoft.com/office/drawing/2014/main" id="{4D44B6B2-8709-E0B7-A9EA-CB89DB03DFFB}"/>
              </a:ext>
            </a:extLst>
          </p:cNvPr>
          <p:cNvCxnSpPr>
            <a:stCxn id="9" idx="3"/>
            <a:endCxn id="12" idx="0"/>
          </p:cNvCxnSpPr>
          <p:nvPr/>
        </p:nvCxnSpPr>
        <p:spPr>
          <a:xfrm>
            <a:off x="6699380" y="2638486"/>
            <a:ext cx="2819297" cy="54734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FFD35D71-4728-DFD5-A0FB-D42150CD1DC6}"/>
              </a:ext>
            </a:extLst>
          </p:cNvPr>
          <p:cNvSpPr/>
          <p:nvPr/>
        </p:nvSpPr>
        <p:spPr>
          <a:xfrm>
            <a:off x="937725" y="3775235"/>
            <a:ext cx="2575249" cy="2425959"/>
          </a:xfrm>
          <a:prstGeom prst="roundRect">
            <a:avLst/>
          </a:prstGeom>
          <a:solidFill>
            <a:srgbClr val="F7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E68C224D-4693-52E0-193F-9F767FABC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55" y="3903692"/>
            <a:ext cx="2771190" cy="2139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Diseñada para gestionar operaciones diarias y transacciones en tiempo real.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Se enfoca en lectura y escritura rápida (insertar, actualizar, eliminar datos).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Mantiene la integridad y consistencia de la información.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Ejemplo: sistemas de ventas, bancos, inventarios.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No está optimizada para análisis histórico o consultas complejas</a:t>
            </a:r>
            <a:r>
              <a:rPr kumimoji="0" lang="es-ES" altLang="es-E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.</a:t>
            </a: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F044AFCD-FFD2-86C4-91C1-E4E792D80D7A}"/>
              </a:ext>
            </a:extLst>
          </p:cNvPr>
          <p:cNvCxnSpPr>
            <a:stCxn id="10" idx="2"/>
            <a:endCxn id="19" idx="0"/>
          </p:cNvCxnSpPr>
          <p:nvPr/>
        </p:nvCxnSpPr>
        <p:spPr>
          <a:xfrm flipH="1">
            <a:off x="2225350" y="3429000"/>
            <a:ext cx="1" cy="3462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2D579917-2EBC-A47D-F4D0-DB744B3E02FF}"/>
              </a:ext>
            </a:extLst>
          </p:cNvPr>
          <p:cNvSpPr/>
          <p:nvPr/>
        </p:nvSpPr>
        <p:spPr>
          <a:xfrm>
            <a:off x="4878355" y="3753913"/>
            <a:ext cx="2575249" cy="2425959"/>
          </a:xfrm>
          <a:prstGeom prst="roundRect">
            <a:avLst/>
          </a:prstGeom>
          <a:solidFill>
            <a:srgbClr val="F7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0F2ADFC2-6479-1E65-D4C0-5A478270DF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1726" y="7388638"/>
            <a:ext cx="277119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</p:txBody>
      </p:sp>
      <p:sp>
        <p:nvSpPr>
          <p:cNvPr id="32" name="Rectangle 7">
            <a:extLst>
              <a:ext uri="{FF2B5EF4-FFF2-40B4-BE49-F238E27FC236}">
                <a16:creationId xmlns:a16="http://schemas.microsoft.com/office/drawing/2014/main" id="{A72839A4-3C23-32D5-9B4D-5EB0E8EB8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54" y="3741406"/>
            <a:ext cx="2697250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Diseñada para consultas complejas y análisis de grandes volúmenes de datos históricos.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Se orienta a la lectura y agregación de información, no a transacciones.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Permite toma de decisiones estratégicas basadas en patrones y tendencias.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Los datos suelen provenir de bases transaccionales.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Ideal para almacenamiento histórico y procesamiento de datos consolidados</a:t>
            </a:r>
            <a:r>
              <a:rPr kumimoji="0" lang="es-ES" altLang="es-E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.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22B0C1E6-266D-A664-007A-B6332AD79051}"/>
              </a:ext>
            </a:extLst>
          </p:cNvPr>
          <p:cNvCxnSpPr/>
          <p:nvPr/>
        </p:nvCxnSpPr>
        <p:spPr>
          <a:xfrm flipH="1">
            <a:off x="6095998" y="3410167"/>
            <a:ext cx="1" cy="3462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8A6533C9-01E9-4BBE-2847-596C48926667}"/>
              </a:ext>
            </a:extLst>
          </p:cNvPr>
          <p:cNvSpPr/>
          <p:nvPr/>
        </p:nvSpPr>
        <p:spPr>
          <a:xfrm>
            <a:off x="8342205" y="3814966"/>
            <a:ext cx="2575249" cy="2425959"/>
          </a:xfrm>
          <a:prstGeom prst="roundRect">
            <a:avLst/>
          </a:prstGeom>
          <a:solidFill>
            <a:srgbClr val="F7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4" name="Rectangle 8">
            <a:extLst>
              <a:ext uri="{FF2B5EF4-FFF2-40B4-BE49-F238E27FC236}">
                <a16:creationId xmlns:a16="http://schemas.microsoft.com/office/drawing/2014/main" id="{5C6B60E0-F5F3-581C-E134-3264D2E1C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1854" y="3838551"/>
            <a:ext cx="2697250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Tipo especializado de base OLAP.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Organiza la información en cubos multidimensionales (dimensiones y medidas).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Facilita el análisis desde diferentes perspectivas (por tiempo, producto, región, etc.).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Permite consultar y comparar datos históricos de forma rápida y flexible.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Base del concepto de Data </a:t>
            </a:r>
            <a:r>
              <a:rPr kumimoji="0" lang="es-ES" altLang="es-ES" sz="11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Warehouse</a:t>
            </a:r>
            <a:r>
              <a:rPr kumimoji="0" lang="es-ES" altLang="es-ES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o almacén de datos.</a:t>
            </a:r>
          </a:p>
        </p:txBody>
      </p: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9327FF8A-B9BF-6A9C-F9E1-5F33BA319E4B}"/>
              </a:ext>
            </a:extLst>
          </p:cNvPr>
          <p:cNvCxnSpPr/>
          <p:nvPr/>
        </p:nvCxnSpPr>
        <p:spPr>
          <a:xfrm flipH="1">
            <a:off x="9518676" y="3486413"/>
            <a:ext cx="1" cy="3462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7081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F31C5BE8-17FE-0944-0F0E-945F195F5A26}"/>
              </a:ext>
            </a:extLst>
          </p:cNvPr>
          <p:cNvCxnSpPr>
            <a:stCxn id="7" idx="2"/>
            <a:endCxn id="10" idx="0"/>
          </p:cNvCxnSpPr>
          <p:nvPr/>
        </p:nvCxnSpPr>
        <p:spPr>
          <a:xfrm flipH="1">
            <a:off x="6095999" y="2331326"/>
            <a:ext cx="1" cy="2698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C5A865CF-716F-8C6E-646D-B0085A39E2F8}"/>
              </a:ext>
            </a:extLst>
          </p:cNvPr>
          <p:cNvCxnSpPr>
            <a:stCxn id="4" idx="2"/>
            <a:endCxn id="7" idx="0"/>
          </p:cNvCxnSpPr>
          <p:nvPr/>
        </p:nvCxnSpPr>
        <p:spPr>
          <a:xfrm>
            <a:off x="6096000" y="1231641"/>
            <a:ext cx="0" cy="638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" name="Picture 2">
            <a:extLst>
              <a:ext uri="{FF2B5EF4-FFF2-40B4-BE49-F238E27FC236}">
                <a16:creationId xmlns:a16="http://schemas.microsoft.com/office/drawing/2014/main" id="{F6A9C06D-6F9C-A40C-CE3B-E4AE24A0BE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83" b="26205"/>
          <a:stretch/>
        </p:blipFill>
        <p:spPr bwMode="auto">
          <a:xfrm>
            <a:off x="2573526" y="0"/>
            <a:ext cx="7044948" cy="1231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E8673D7-24F1-F2DE-F66A-4198EA3A2446}"/>
              </a:ext>
            </a:extLst>
          </p:cNvPr>
          <p:cNvSpPr txBox="1"/>
          <p:nvPr/>
        </p:nvSpPr>
        <p:spPr>
          <a:xfrm>
            <a:off x="1984309" y="431154"/>
            <a:ext cx="8223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latin typeface="Century Gothic" panose="020B0502020202020204" pitchFamily="34" charset="0"/>
              </a:rPr>
              <a:t>Base de datos transaccional (OLTP – Online </a:t>
            </a:r>
            <a:r>
              <a:rPr lang="es-ES" b="1" dirty="0" err="1">
                <a:latin typeface="Century Gothic" panose="020B0502020202020204" pitchFamily="34" charset="0"/>
              </a:rPr>
              <a:t>Transaction</a:t>
            </a:r>
            <a:r>
              <a:rPr lang="es-ES" b="1" dirty="0">
                <a:latin typeface="Century Gothic" panose="020B0502020202020204" pitchFamily="34" charset="0"/>
              </a:rPr>
              <a:t> Processing)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4ED4F5B-F854-67B7-3975-5189220BA36F}"/>
              </a:ext>
            </a:extLst>
          </p:cNvPr>
          <p:cNvSpPr txBox="1"/>
          <p:nvPr/>
        </p:nvSpPr>
        <p:spPr>
          <a:xfrm>
            <a:off x="5620401" y="1401185"/>
            <a:ext cx="951197" cy="261610"/>
          </a:xfrm>
          <a:prstGeom prst="rect">
            <a:avLst/>
          </a:prstGeom>
          <a:solidFill>
            <a:srgbClr val="E1E1FF"/>
          </a:solidFill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Century Gothic" panose="020B0502020202020204" pitchFamily="34" charset="0"/>
              </a:rPr>
              <a:t>¿Qué es?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3AB882E-FF4A-210E-5DBC-9DDF452B4EBD}"/>
              </a:ext>
            </a:extLst>
          </p:cNvPr>
          <p:cNvSpPr txBox="1"/>
          <p:nvPr/>
        </p:nvSpPr>
        <p:spPr>
          <a:xfrm>
            <a:off x="1393371" y="1869661"/>
            <a:ext cx="9405257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latin typeface="Century Gothic" panose="020B0502020202020204" pitchFamily="34" charset="0"/>
              </a:rPr>
              <a:t>Sistema orientado al procesamiento de transacciones en tiempo real, donde se realizan operaciones frecuentes de inserción, actualización y eliminación de datos.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E0BFC48-9F32-E392-B5F0-48354486688A}"/>
              </a:ext>
            </a:extLst>
          </p:cNvPr>
          <p:cNvSpPr txBox="1"/>
          <p:nvPr/>
        </p:nvSpPr>
        <p:spPr>
          <a:xfrm>
            <a:off x="5109351" y="2601165"/>
            <a:ext cx="1973295" cy="261610"/>
          </a:xfrm>
          <a:prstGeom prst="rect">
            <a:avLst/>
          </a:prstGeom>
          <a:solidFill>
            <a:srgbClr val="E1E1FF"/>
          </a:solidFill>
        </p:spPr>
        <p:txBody>
          <a:bodyPr wrap="square" rtlCol="0">
            <a:spAutoFit/>
          </a:bodyPr>
          <a:lstStyle/>
          <a:p>
            <a:r>
              <a:rPr lang="es-ES" sz="1100" b="1" dirty="0">
                <a:latin typeface="Century Gothic" panose="020B0502020202020204" pitchFamily="34" charset="0"/>
              </a:rPr>
              <a:t>Características Principales 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99F361B-94B6-E55C-6814-37D660D990FB}"/>
              </a:ext>
            </a:extLst>
          </p:cNvPr>
          <p:cNvSpPr txBox="1"/>
          <p:nvPr/>
        </p:nvSpPr>
        <p:spPr>
          <a:xfrm>
            <a:off x="4612433" y="3099843"/>
            <a:ext cx="2967134" cy="430887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1100" dirty="0">
                <a:latin typeface="Century Gothic" panose="020B0502020202020204" pitchFamily="34" charset="0"/>
              </a:rPr>
              <a:t>Diseñada para manejar gran número de operaciones simultáneas.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7E82345-11CB-70A3-4A8A-5E5C50B5201E}"/>
              </a:ext>
            </a:extLst>
          </p:cNvPr>
          <p:cNvSpPr txBox="1"/>
          <p:nvPr/>
        </p:nvSpPr>
        <p:spPr>
          <a:xfrm>
            <a:off x="4612431" y="3772046"/>
            <a:ext cx="2967134" cy="430887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1100" dirty="0">
                <a:latin typeface="Century Gothic" panose="020B0502020202020204" pitchFamily="34" charset="0"/>
              </a:rPr>
              <a:t>Garantiza integridad, consistencia y disponibilidad de los datos.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FD7AE60-A435-3404-452B-E5DF32739762}"/>
              </a:ext>
            </a:extLst>
          </p:cNvPr>
          <p:cNvSpPr txBox="1"/>
          <p:nvPr/>
        </p:nvSpPr>
        <p:spPr>
          <a:xfrm>
            <a:off x="4578217" y="4463966"/>
            <a:ext cx="2967134" cy="430887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1100" dirty="0">
                <a:latin typeface="Century Gothic" panose="020B0502020202020204" pitchFamily="34" charset="0"/>
              </a:rPr>
              <a:t>Utiliza modelos relacionales con estructuras altamente normalizadas.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7E04F75-5485-8D79-F52F-C9B974F2222F}"/>
              </a:ext>
            </a:extLst>
          </p:cNvPr>
          <p:cNvSpPr txBox="1"/>
          <p:nvPr/>
        </p:nvSpPr>
        <p:spPr>
          <a:xfrm>
            <a:off x="4612431" y="5136169"/>
            <a:ext cx="2967134" cy="430887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1100" dirty="0">
                <a:latin typeface="Century Gothic" panose="020B0502020202020204" pitchFamily="34" charset="0"/>
              </a:rPr>
              <a:t>Optimizada para escritura y acceso rápido a registros individuales.</a:t>
            </a: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FD09A0E7-4D51-77E9-9B24-804EE312AA84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6095998" y="2885942"/>
            <a:ext cx="2" cy="213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A7E80061-D29A-2638-8D14-565D74CA38D3}"/>
              </a:ext>
            </a:extLst>
          </p:cNvPr>
          <p:cNvCxnSpPr>
            <a:cxnSpLocks/>
          </p:cNvCxnSpPr>
          <p:nvPr/>
        </p:nvCxnSpPr>
        <p:spPr>
          <a:xfrm>
            <a:off x="6095996" y="3577862"/>
            <a:ext cx="2" cy="213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FBEEB8CB-A25C-F955-B977-43E98E251E2B}"/>
              </a:ext>
            </a:extLst>
          </p:cNvPr>
          <p:cNvCxnSpPr>
            <a:cxnSpLocks/>
          </p:cNvCxnSpPr>
          <p:nvPr/>
        </p:nvCxnSpPr>
        <p:spPr>
          <a:xfrm>
            <a:off x="6061782" y="4250065"/>
            <a:ext cx="2" cy="213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E7BB5422-F790-9185-501F-F8FC789958FE}"/>
              </a:ext>
            </a:extLst>
          </p:cNvPr>
          <p:cNvCxnSpPr>
            <a:cxnSpLocks/>
          </p:cNvCxnSpPr>
          <p:nvPr/>
        </p:nvCxnSpPr>
        <p:spPr>
          <a:xfrm>
            <a:off x="6095994" y="4894853"/>
            <a:ext cx="2" cy="213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B0FA1A76-CDB5-BE95-E6D4-C967DB64C3A8}"/>
              </a:ext>
            </a:extLst>
          </p:cNvPr>
          <p:cNvSpPr txBox="1"/>
          <p:nvPr/>
        </p:nvSpPr>
        <p:spPr>
          <a:xfrm>
            <a:off x="997661" y="2624332"/>
            <a:ext cx="1973295" cy="261610"/>
          </a:xfrm>
          <a:prstGeom prst="rect">
            <a:avLst/>
          </a:prstGeom>
          <a:solidFill>
            <a:srgbClr val="E1E1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100" b="1" dirty="0">
                <a:latin typeface="Century Gothic" panose="020B0502020202020204" pitchFamily="34" charset="0"/>
              </a:rPr>
              <a:t>Ejemplos de uso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8D79B136-BF1B-015F-8884-80225FF1C03A}"/>
              </a:ext>
            </a:extLst>
          </p:cNvPr>
          <p:cNvSpPr txBox="1"/>
          <p:nvPr/>
        </p:nvSpPr>
        <p:spPr>
          <a:xfrm>
            <a:off x="9043759" y="2624332"/>
            <a:ext cx="1973295" cy="430887"/>
          </a:xfrm>
          <a:prstGeom prst="rect">
            <a:avLst/>
          </a:prstGeom>
          <a:solidFill>
            <a:srgbClr val="E1E1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100" b="1" dirty="0">
                <a:latin typeface="Century Gothic" panose="020B0502020202020204" pitchFamily="34" charset="0"/>
              </a:rPr>
              <a:t>Relación con los datos históricos</a:t>
            </a:r>
          </a:p>
        </p:txBody>
      </p:sp>
      <p:cxnSp>
        <p:nvCxnSpPr>
          <p:cNvPr id="30" name="Conector: angular 29">
            <a:extLst>
              <a:ext uri="{FF2B5EF4-FFF2-40B4-BE49-F238E27FC236}">
                <a16:creationId xmlns:a16="http://schemas.microsoft.com/office/drawing/2014/main" id="{E6A3C504-8FD6-AC37-4758-21E62CD922F1}"/>
              </a:ext>
            </a:extLst>
          </p:cNvPr>
          <p:cNvCxnSpPr>
            <a:cxnSpLocks/>
          </p:cNvCxnSpPr>
          <p:nvPr/>
        </p:nvCxnSpPr>
        <p:spPr>
          <a:xfrm rot="10800000" flipV="1">
            <a:off x="1984309" y="2345587"/>
            <a:ext cx="4111685" cy="15808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Conector: angular 31">
            <a:extLst>
              <a:ext uri="{FF2B5EF4-FFF2-40B4-BE49-F238E27FC236}">
                <a16:creationId xmlns:a16="http://schemas.microsoft.com/office/drawing/2014/main" id="{701492E8-50A2-11AE-708A-08724B019C0A}"/>
              </a:ext>
            </a:extLst>
          </p:cNvPr>
          <p:cNvCxnSpPr>
            <a:cxnSpLocks/>
          </p:cNvCxnSpPr>
          <p:nvPr/>
        </p:nvCxnSpPr>
        <p:spPr>
          <a:xfrm>
            <a:off x="6095994" y="2342789"/>
            <a:ext cx="3934413" cy="15808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DC273E55-4C7A-848B-227A-F1408ED6BD41}"/>
              </a:ext>
            </a:extLst>
          </p:cNvPr>
          <p:cNvSpPr txBox="1"/>
          <p:nvPr/>
        </p:nvSpPr>
        <p:spPr>
          <a:xfrm>
            <a:off x="500741" y="3099843"/>
            <a:ext cx="2967134" cy="261610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Century Gothic" panose="020B0502020202020204" pitchFamily="34" charset="0"/>
              </a:rPr>
              <a:t>Sistemas de ventas o facturación.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5C2A058E-F18A-6879-EC97-6BD6122E113A}"/>
              </a:ext>
            </a:extLst>
          </p:cNvPr>
          <p:cNvSpPr txBox="1"/>
          <p:nvPr/>
        </p:nvSpPr>
        <p:spPr>
          <a:xfrm>
            <a:off x="500741" y="3575354"/>
            <a:ext cx="2967134" cy="261610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Century Gothic" panose="020B0502020202020204" pitchFamily="34" charset="0"/>
              </a:rPr>
              <a:t>Gestión de inventarios.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50E4ECD6-E532-BBF4-1AE7-336119CC4887}"/>
              </a:ext>
            </a:extLst>
          </p:cNvPr>
          <p:cNvSpPr txBox="1"/>
          <p:nvPr/>
        </p:nvSpPr>
        <p:spPr>
          <a:xfrm>
            <a:off x="499018" y="4119260"/>
            <a:ext cx="2967134" cy="261610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Century Gothic" panose="020B0502020202020204" pitchFamily="34" charset="0"/>
              </a:rPr>
              <a:t>Sistemas bancarios y de reservas.</a:t>
            </a:r>
          </a:p>
        </p:txBody>
      </p: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B6BD3E24-048B-4525-57F2-754BD17FC6BD}"/>
              </a:ext>
            </a:extLst>
          </p:cNvPr>
          <p:cNvCxnSpPr>
            <a:cxnSpLocks/>
          </p:cNvCxnSpPr>
          <p:nvPr/>
        </p:nvCxnSpPr>
        <p:spPr>
          <a:xfrm>
            <a:off x="1982581" y="2872067"/>
            <a:ext cx="2" cy="213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6FD4924C-9DEF-3872-014B-D44B5EA8B4BC}"/>
              </a:ext>
            </a:extLst>
          </p:cNvPr>
          <p:cNvCxnSpPr>
            <a:cxnSpLocks/>
          </p:cNvCxnSpPr>
          <p:nvPr/>
        </p:nvCxnSpPr>
        <p:spPr>
          <a:xfrm>
            <a:off x="1982581" y="3375328"/>
            <a:ext cx="2" cy="213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BC092C0D-459A-1EF8-164A-280203848CF9}"/>
              </a:ext>
            </a:extLst>
          </p:cNvPr>
          <p:cNvCxnSpPr>
            <a:cxnSpLocks/>
          </p:cNvCxnSpPr>
          <p:nvPr/>
        </p:nvCxnSpPr>
        <p:spPr>
          <a:xfrm>
            <a:off x="1968409" y="3850670"/>
            <a:ext cx="2" cy="213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B7379BB9-A7DE-65B0-8052-2FFAB9BA26DF}"/>
              </a:ext>
            </a:extLst>
          </p:cNvPr>
          <p:cNvSpPr txBox="1"/>
          <p:nvPr/>
        </p:nvSpPr>
        <p:spPr>
          <a:xfrm>
            <a:off x="8546839" y="3253925"/>
            <a:ext cx="2967134" cy="430887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1100" dirty="0">
                <a:latin typeface="Century Gothic" panose="020B0502020202020204" pitchFamily="34" charset="0"/>
              </a:rPr>
              <a:t>Es la fuente primaria de generación de datos.</a:t>
            </a:r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8E953156-8586-52CC-E6DA-00EA68B1E150}"/>
              </a:ext>
            </a:extLst>
          </p:cNvPr>
          <p:cNvCxnSpPr>
            <a:cxnSpLocks/>
          </p:cNvCxnSpPr>
          <p:nvPr/>
        </p:nvCxnSpPr>
        <p:spPr>
          <a:xfrm>
            <a:off x="10036624" y="3047622"/>
            <a:ext cx="2" cy="213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CuadroTexto 40">
            <a:extLst>
              <a:ext uri="{FF2B5EF4-FFF2-40B4-BE49-F238E27FC236}">
                <a16:creationId xmlns:a16="http://schemas.microsoft.com/office/drawing/2014/main" id="{389FA3E4-D4C4-3FC8-5929-3F0ABBA3180B}"/>
              </a:ext>
            </a:extLst>
          </p:cNvPr>
          <p:cNvSpPr txBox="1"/>
          <p:nvPr/>
        </p:nvSpPr>
        <p:spPr>
          <a:xfrm>
            <a:off x="8546839" y="3903816"/>
            <a:ext cx="2967134" cy="600164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1100" dirty="0">
                <a:latin typeface="Century Gothic" panose="020B0502020202020204" pitchFamily="34" charset="0"/>
              </a:rPr>
              <a:t>Los datos capturados aquí se extraen periódicamente para alimentar sistemas analíticos o almacenes de datos.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0ADCB88A-7057-B405-3E30-40B54C07BF0A}"/>
              </a:ext>
            </a:extLst>
          </p:cNvPr>
          <p:cNvSpPr txBox="1"/>
          <p:nvPr/>
        </p:nvSpPr>
        <p:spPr>
          <a:xfrm>
            <a:off x="8546839" y="4722984"/>
            <a:ext cx="2967134" cy="430887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1100" dirty="0">
                <a:latin typeface="Century Gothic" panose="020B0502020202020204" pitchFamily="34" charset="0"/>
              </a:rPr>
              <a:t>No apta para análisis de largo plazo o grandes volúmenes históricos.</a:t>
            </a:r>
          </a:p>
        </p:txBody>
      </p: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0C32A327-C1C8-849B-D678-71A4B8F9F33D}"/>
              </a:ext>
            </a:extLst>
          </p:cNvPr>
          <p:cNvCxnSpPr>
            <a:cxnSpLocks/>
          </p:cNvCxnSpPr>
          <p:nvPr/>
        </p:nvCxnSpPr>
        <p:spPr>
          <a:xfrm>
            <a:off x="10030404" y="3706159"/>
            <a:ext cx="2" cy="213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87FD109F-37A1-E179-47ED-C0D2CB7439A1}"/>
              </a:ext>
            </a:extLst>
          </p:cNvPr>
          <p:cNvCxnSpPr>
            <a:cxnSpLocks/>
          </p:cNvCxnSpPr>
          <p:nvPr/>
        </p:nvCxnSpPr>
        <p:spPr>
          <a:xfrm>
            <a:off x="10030404" y="4491054"/>
            <a:ext cx="2" cy="213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5802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F31C5BE8-17FE-0944-0F0E-945F195F5A26}"/>
              </a:ext>
            </a:extLst>
          </p:cNvPr>
          <p:cNvCxnSpPr>
            <a:stCxn id="7" idx="2"/>
            <a:endCxn id="10" idx="0"/>
          </p:cNvCxnSpPr>
          <p:nvPr/>
        </p:nvCxnSpPr>
        <p:spPr>
          <a:xfrm flipH="1">
            <a:off x="6095999" y="2331326"/>
            <a:ext cx="1" cy="2698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C5A865CF-716F-8C6E-646D-B0085A39E2F8}"/>
              </a:ext>
            </a:extLst>
          </p:cNvPr>
          <p:cNvCxnSpPr>
            <a:stCxn id="4" idx="2"/>
            <a:endCxn id="7" idx="0"/>
          </p:cNvCxnSpPr>
          <p:nvPr/>
        </p:nvCxnSpPr>
        <p:spPr>
          <a:xfrm>
            <a:off x="6096000" y="1231641"/>
            <a:ext cx="0" cy="638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" name="Picture 2">
            <a:extLst>
              <a:ext uri="{FF2B5EF4-FFF2-40B4-BE49-F238E27FC236}">
                <a16:creationId xmlns:a16="http://schemas.microsoft.com/office/drawing/2014/main" id="{F6A9C06D-6F9C-A40C-CE3B-E4AE24A0BE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83" b="26205"/>
          <a:stretch/>
        </p:blipFill>
        <p:spPr bwMode="auto">
          <a:xfrm>
            <a:off x="2573526" y="0"/>
            <a:ext cx="7044948" cy="1231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E8673D7-24F1-F2DE-F66A-4198EA3A2446}"/>
              </a:ext>
            </a:extLst>
          </p:cNvPr>
          <p:cNvSpPr txBox="1"/>
          <p:nvPr/>
        </p:nvSpPr>
        <p:spPr>
          <a:xfrm>
            <a:off x="1984309" y="431154"/>
            <a:ext cx="8223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latin typeface="Century Gothic" panose="020B0502020202020204" pitchFamily="34" charset="0"/>
              </a:rPr>
              <a:t>Base de datos analítica (OLAP – Online </a:t>
            </a:r>
            <a:r>
              <a:rPr lang="es-ES" b="1" dirty="0" err="1">
                <a:latin typeface="Century Gothic" panose="020B0502020202020204" pitchFamily="34" charset="0"/>
              </a:rPr>
              <a:t>Analytical</a:t>
            </a:r>
            <a:r>
              <a:rPr lang="es-ES" b="1" dirty="0">
                <a:latin typeface="Century Gothic" panose="020B0502020202020204" pitchFamily="34" charset="0"/>
              </a:rPr>
              <a:t> Processing)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4ED4F5B-F854-67B7-3975-5189220BA36F}"/>
              </a:ext>
            </a:extLst>
          </p:cNvPr>
          <p:cNvSpPr txBox="1"/>
          <p:nvPr/>
        </p:nvSpPr>
        <p:spPr>
          <a:xfrm>
            <a:off x="5620401" y="1401185"/>
            <a:ext cx="951197" cy="261610"/>
          </a:xfrm>
          <a:prstGeom prst="rect">
            <a:avLst/>
          </a:prstGeom>
          <a:solidFill>
            <a:srgbClr val="E1E1FF"/>
          </a:solidFill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Century Gothic" panose="020B0502020202020204" pitchFamily="34" charset="0"/>
              </a:rPr>
              <a:t>¿Qué es?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3AB882E-FF4A-210E-5DBC-9DDF452B4EBD}"/>
              </a:ext>
            </a:extLst>
          </p:cNvPr>
          <p:cNvSpPr txBox="1"/>
          <p:nvPr/>
        </p:nvSpPr>
        <p:spPr>
          <a:xfrm>
            <a:off x="1393371" y="1869661"/>
            <a:ext cx="9405257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latin typeface="Century Gothic" panose="020B0502020202020204" pitchFamily="34" charset="0"/>
              </a:rPr>
              <a:t>Sistema orientado al análisis de grandes volúmenes de información, especialmente datos históricos consolidados provenientes de fuentes transaccionales.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E0BFC48-9F32-E392-B5F0-48354486688A}"/>
              </a:ext>
            </a:extLst>
          </p:cNvPr>
          <p:cNvSpPr txBox="1"/>
          <p:nvPr/>
        </p:nvSpPr>
        <p:spPr>
          <a:xfrm>
            <a:off x="5109351" y="2601165"/>
            <a:ext cx="1973295" cy="261610"/>
          </a:xfrm>
          <a:prstGeom prst="rect">
            <a:avLst/>
          </a:prstGeom>
          <a:solidFill>
            <a:srgbClr val="E1E1FF"/>
          </a:solidFill>
        </p:spPr>
        <p:txBody>
          <a:bodyPr wrap="square" rtlCol="0">
            <a:spAutoFit/>
          </a:bodyPr>
          <a:lstStyle/>
          <a:p>
            <a:r>
              <a:rPr lang="es-ES" sz="1100" b="1" dirty="0">
                <a:latin typeface="Century Gothic" panose="020B0502020202020204" pitchFamily="34" charset="0"/>
              </a:rPr>
              <a:t>Características Principales 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99F361B-94B6-E55C-6814-37D660D990FB}"/>
              </a:ext>
            </a:extLst>
          </p:cNvPr>
          <p:cNvSpPr txBox="1"/>
          <p:nvPr/>
        </p:nvSpPr>
        <p:spPr>
          <a:xfrm>
            <a:off x="4343395" y="3116516"/>
            <a:ext cx="3505198" cy="769441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1100" dirty="0">
                <a:latin typeface="Century Gothic" panose="020B0502020202020204" pitchFamily="34" charset="0"/>
              </a:rPr>
              <a:t>Sistema orientado al análisis de grandes volúmenes de información, especialmente datos históricos consolidados provenientes de fuentes transaccionales.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7E04F75-5485-8D79-F52F-C9B974F2222F}"/>
              </a:ext>
            </a:extLst>
          </p:cNvPr>
          <p:cNvSpPr txBox="1"/>
          <p:nvPr/>
        </p:nvSpPr>
        <p:spPr>
          <a:xfrm>
            <a:off x="4343395" y="4953816"/>
            <a:ext cx="3505198" cy="600164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1100" dirty="0">
                <a:latin typeface="Century Gothic" panose="020B0502020202020204" pitchFamily="34" charset="0"/>
              </a:rPr>
              <a:t>Facilita la toma de decisiones estratégicas basadas en patrones, tendencias y comportamientos.</a:t>
            </a: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FD09A0E7-4D51-77E9-9B24-804EE312AA84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6095994" y="2862775"/>
            <a:ext cx="5" cy="2537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E7BB5422-F790-9185-501F-F8FC789958FE}"/>
              </a:ext>
            </a:extLst>
          </p:cNvPr>
          <p:cNvCxnSpPr>
            <a:cxnSpLocks/>
          </p:cNvCxnSpPr>
          <p:nvPr/>
        </p:nvCxnSpPr>
        <p:spPr>
          <a:xfrm>
            <a:off x="6095994" y="3880434"/>
            <a:ext cx="2" cy="213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B0FA1A76-CDB5-BE95-E6D4-C967DB64C3A8}"/>
              </a:ext>
            </a:extLst>
          </p:cNvPr>
          <p:cNvSpPr txBox="1"/>
          <p:nvPr/>
        </p:nvSpPr>
        <p:spPr>
          <a:xfrm>
            <a:off x="997661" y="2624332"/>
            <a:ext cx="1973295" cy="261610"/>
          </a:xfrm>
          <a:prstGeom prst="rect">
            <a:avLst/>
          </a:prstGeom>
          <a:solidFill>
            <a:srgbClr val="E1E1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100" b="1" dirty="0">
                <a:latin typeface="Century Gothic" panose="020B0502020202020204" pitchFamily="34" charset="0"/>
              </a:rPr>
              <a:t>Ejemplos de uso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8D79B136-BF1B-015F-8884-80225FF1C03A}"/>
              </a:ext>
            </a:extLst>
          </p:cNvPr>
          <p:cNvSpPr txBox="1"/>
          <p:nvPr/>
        </p:nvSpPr>
        <p:spPr>
          <a:xfrm>
            <a:off x="9043759" y="2624332"/>
            <a:ext cx="1973295" cy="430887"/>
          </a:xfrm>
          <a:prstGeom prst="rect">
            <a:avLst/>
          </a:prstGeom>
          <a:solidFill>
            <a:srgbClr val="E1E1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100" b="1" dirty="0">
                <a:latin typeface="Century Gothic" panose="020B0502020202020204" pitchFamily="34" charset="0"/>
              </a:rPr>
              <a:t>Relación con los datos históricos</a:t>
            </a:r>
          </a:p>
        </p:txBody>
      </p:sp>
      <p:cxnSp>
        <p:nvCxnSpPr>
          <p:cNvPr id="30" name="Conector: angular 29">
            <a:extLst>
              <a:ext uri="{FF2B5EF4-FFF2-40B4-BE49-F238E27FC236}">
                <a16:creationId xmlns:a16="http://schemas.microsoft.com/office/drawing/2014/main" id="{E6A3C504-8FD6-AC37-4758-21E62CD922F1}"/>
              </a:ext>
            </a:extLst>
          </p:cNvPr>
          <p:cNvCxnSpPr>
            <a:cxnSpLocks/>
          </p:cNvCxnSpPr>
          <p:nvPr/>
        </p:nvCxnSpPr>
        <p:spPr>
          <a:xfrm rot="10800000" flipV="1">
            <a:off x="1984309" y="2345587"/>
            <a:ext cx="4111685" cy="15808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Conector: angular 31">
            <a:extLst>
              <a:ext uri="{FF2B5EF4-FFF2-40B4-BE49-F238E27FC236}">
                <a16:creationId xmlns:a16="http://schemas.microsoft.com/office/drawing/2014/main" id="{701492E8-50A2-11AE-708A-08724B019C0A}"/>
              </a:ext>
            </a:extLst>
          </p:cNvPr>
          <p:cNvCxnSpPr>
            <a:cxnSpLocks/>
          </p:cNvCxnSpPr>
          <p:nvPr/>
        </p:nvCxnSpPr>
        <p:spPr>
          <a:xfrm>
            <a:off x="6095994" y="2342789"/>
            <a:ext cx="3934413" cy="15808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DC273E55-4C7A-848B-227A-F1408ED6BD41}"/>
              </a:ext>
            </a:extLst>
          </p:cNvPr>
          <p:cNvSpPr txBox="1"/>
          <p:nvPr/>
        </p:nvSpPr>
        <p:spPr>
          <a:xfrm>
            <a:off x="500741" y="3099843"/>
            <a:ext cx="2967134" cy="261610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Century Gothic" panose="020B0502020202020204" pitchFamily="34" charset="0"/>
              </a:rPr>
              <a:t>Análisis de ventas históricas.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5C2A058E-F18A-6879-EC97-6BD6122E113A}"/>
              </a:ext>
            </a:extLst>
          </p:cNvPr>
          <p:cNvSpPr txBox="1"/>
          <p:nvPr/>
        </p:nvSpPr>
        <p:spPr>
          <a:xfrm>
            <a:off x="500741" y="3575354"/>
            <a:ext cx="2967134" cy="430887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1100" dirty="0">
                <a:latin typeface="Century Gothic" panose="020B0502020202020204" pitchFamily="34" charset="0"/>
              </a:rPr>
              <a:t>Proyecciones de demanda o comportamiento del cliente.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50E4ECD6-E532-BBF4-1AE7-336119CC4887}"/>
              </a:ext>
            </a:extLst>
          </p:cNvPr>
          <p:cNvSpPr txBox="1"/>
          <p:nvPr/>
        </p:nvSpPr>
        <p:spPr>
          <a:xfrm>
            <a:off x="499014" y="4258089"/>
            <a:ext cx="2967134" cy="430887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1100" dirty="0">
                <a:latin typeface="Century Gothic" panose="020B0502020202020204" pitchFamily="34" charset="0"/>
              </a:rPr>
              <a:t>Control de indicadores empresariales (KPI).</a:t>
            </a:r>
          </a:p>
        </p:txBody>
      </p: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B6BD3E24-048B-4525-57F2-754BD17FC6BD}"/>
              </a:ext>
            </a:extLst>
          </p:cNvPr>
          <p:cNvCxnSpPr>
            <a:cxnSpLocks/>
          </p:cNvCxnSpPr>
          <p:nvPr/>
        </p:nvCxnSpPr>
        <p:spPr>
          <a:xfrm>
            <a:off x="1982581" y="2880366"/>
            <a:ext cx="2" cy="213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6FD4924C-9DEF-3872-014B-D44B5EA8B4BC}"/>
              </a:ext>
            </a:extLst>
          </p:cNvPr>
          <p:cNvCxnSpPr>
            <a:cxnSpLocks/>
          </p:cNvCxnSpPr>
          <p:nvPr/>
        </p:nvCxnSpPr>
        <p:spPr>
          <a:xfrm>
            <a:off x="1982581" y="3350300"/>
            <a:ext cx="2" cy="213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BC092C0D-459A-1EF8-164A-280203848CF9}"/>
              </a:ext>
            </a:extLst>
          </p:cNvPr>
          <p:cNvCxnSpPr>
            <a:cxnSpLocks/>
          </p:cNvCxnSpPr>
          <p:nvPr/>
        </p:nvCxnSpPr>
        <p:spPr>
          <a:xfrm>
            <a:off x="1982581" y="4025214"/>
            <a:ext cx="2" cy="213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B7379BB9-A7DE-65B0-8052-2FFAB9BA26DF}"/>
              </a:ext>
            </a:extLst>
          </p:cNvPr>
          <p:cNvSpPr txBox="1"/>
          <p:nvPr/>
        </p:nvSpPr>
        <p:spPr>
          <a:xfrm>
            <a:off x="8546839" y="3253925"/>
            <a:ext cx="2967134" cy="430887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1100" dirty="0">
                <a:latin typeface="Century Gothic" panose="020B0502020202020204" pitchFamily="34" charset="0"/>
              </a:rPr>
              <a:t>Es el entorno principal para su análisis y consulta.</a:t>
            </a:r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8E953156-8586-52CC-E6DA-00EA68B1E150}"/>
              </a:ext>
            </a:extLst>
          </p:cNvPr>
          <p:cNvCxnSpPr>
            <a:cxnSpLocks/>
          </p:cNvCxnSpPr>
          <p:nvPr/>
        </p:nvCxnSpPr>
        <p:spPr>
          <a:xfrm>
            <a:off x="10036624" y="3047622"/>
            <a:ext cx="2" cy="213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CuadroTexto 40">
            <a:extLst>
              <a:ext uri="{FF2B5EF4-FFF2-40B4-BE49-F238E27FC236}">
                <a16:creationId xmlns:a16="http://schemas.microsoft.com/office/drawing/2014/main" id="{389FA3E4-D4C4-3FC8-5929-3F0ABBA3180B}"/>
              </a:ext>
            </a:extLst>
          </p:cNvPr>
          <p:cNvSpPr txBox="1"/>
          <p:nvPr/>
        </p:nvSpPr>
        <p:spPr>
          <a:xfrm>
            <a:off x="8546839" y="3903816"/>
            <a:ext cx="2967134" cy="430887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1100" dirty="0">
                <a:latin typeface="Century Gothic" panose="020B0502020202020204" pitchFamily="34" charset="0"/>
              </a:rPr>
              <a:t>Permite visualizar la evolución temporal de los datos.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0ADCB88A-7057-B405-3E30-40B54C07BF0A}"/>
              </a:ext>
            </a:extLst>
          </p:cNvPr>
          <p:cNvSpPr txBox="1"/>
          <p:nvPr/>
        </p:nvSpPr>
        <p:spPr>
          <a:xfrm>
            <a:off x="8629967" y="4553707"/>
            <a:ext cx="2967134" cy="600164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1100" dirty="0">
                <a:latin typeface="Century Gothic" panose="020B0502020202020204" pitchFamily="34" charset="0"/>
              </a:rPr>
              <a:t>Se alimenta periódicamente desde las bases OLTP mediante procesos ETL (Extracción, Transformación y Carga).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C766D2E-89E4-084E-A76B-E1E1771F0765}"/>
              </a:ext>
            </a:extLst>
          </p:cNvPr>
          <p:cNvSpPr txBox="1"/>
          <p:nvPr/>
        </p:nvSpPr>
        <p:spPr>
          <a:xfrm>
            <a:off x="4343395" y="4088812"/>
            <a:ext cx="3505198" cy="600164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1100" dirty="0">
                <a:latin typeface="Century Gothic" panose="020B0502020202020204" pitchFamily="34" charset="0"/>
              </a:rPr>
              <a:t>Los datos se almacenan de forma desnormalizada para mejorar el rendimiento de lectura.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835943F5-0ECF-CF31-C182-ACCDC711FA45}"/>
              </a:ext>
            </a:extLst>
          </p:cNvPr>
          <p:cNvCxnSpPr>
            <a:cxnSpLocks/>
          </p:cNvCxnSpPr>
          <p:nvPr/>
        </p:nvCxnSpPr>
        <p:spPr>
          <a:xfrm>
            <a:off x="6095992" y="4695213"/>
            <a:ext cx="2" cy="213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5F4F069-C598-A204-9FA5-0D602687EE25}"/>
              </a:ext>
            </a:extLst>
          </p:cNvPr>
          <p:cNvSpPr txBox="1"/>
          <p:nvPr/>
        </p:nvSpPr>
        <p:spPr>
          <a:xfrm>
            <a:off x="4343395" y="5767881"/>
            <a:ext cx="3505198" cy="430887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1100" dirty="0">
                <a:latin typeface="Century Gothic" panose="020B0502020202020204" pitchFamily="34" charset="0"/>
              </a:rPr>
              <a:t>Soporta herramientas de minería de datos, reportes y </a:t>
            </a:r>
            <a:r>
              <a:rPr lang="es-ES" sz="1100" dirty="0" err="1">
                <a:latin typeface="Century Gothic" panose="020B0502020202020204" pitchFamily="34" charset="0"/>
              </a:rPr>
              <a:t>dashboards</a:t>
            </a:r>
            <a:r>
              <a:rPr lang="es-ES" sz="1100" dirty="0">
                <a:latin typeface="Century Gothic" panose="020B0502020202020204" pitchFamily="34" charset="0"/>
              </a:rPr>
              <a:t>.</a:t>
            </a: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8EE8101C-9CAD-A50A-7F53-086A4970375B}"/>
              </a:ext>
            </a:extLst>
          </p:cNvPr>
          <p:cNvCxnSpPr>
            <a:cxnSpLocks/>
          </p:cNvCxnSpPr>
          <p:nvPr/>
        </p:nvCxnSpPr>
        <p:spPr>
          <a:xfrm>
            <a:off x="6095990" y="5553980"/>
            <a:ext cx="2" cy="213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5A4EAE47-0D07-FCA0-5D41-3E6486A614F5}"/>
              </a:ext>
            </a:extLst>
          </p:cNvPr>
          <p:cNvCxnSpPr>
            <a:cxnSpLocks/>
          </p:cNvCxnSpPr>
          <p:nvPr/>
        </p:nvCxnSpPr>
        <p:spPr>
          <a:xfrm>
            <a:off x="10030406" y="3689915"/>
            <a:ext cx="2" cy="213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A577B468-AC28-3B76-C65A-C0C9DD991292}"/>
              </a:ext>
            </a:extLst>
          </p:cNvPr>
          <p:cNvCxnSpPr>
            <a:cxnSpLocks/>
          </p:cNvCxnSpPr>
          <p:nvPr/>
        </p:nvCxnSpPr>
        <p:spPr>
          <a:xfrm>
            <a:off x="10030406" y="4330909"/>
            <a:ext cx="2" cy="213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8231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F31C5BE8-17FE-0944-0F0E-945F195F5A26}"/>
              </a:ext>
            </a:extLst>
          </p:cNvPr>
          <p:cNvCxnSpPr>
            <a:stCxn id="7" idx="2"/>
            <a:endCxn id="10" idx="0"/>
          </p:cNvCxnSpPr>
          <p:nvPr/>
        </p:nvCxnSpPr>
        <p:spPr>
          <a:xfrm flipH="1">
            <a:off x="6095999" y="2331326"/>
            <a:ext cx="1" cy="2698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C5A865CF-716F-8C6E-646D-B0085A39E2F8}"/>
              </a:ext>
            </a:extLst>
          </p:cNvPr>
          <p:cNvCxnSpPr>
            <a:stCxn id="4" idx="2"/>
            <a:endCxn id="7" idx="0"/>
          </p:cNvCxnSpPr>
          <p:nvPr/>
        </p:nvCxnSpPr>
        <p:spPr>
          <a:xfrm>
            <a:off x="6096000" y="1231641"/>
            <a:ext cx="0" cy="638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" name="Picture 2">
            <a:extLst>
              <a:ext uri="{FF2B5EF4-FFF2-40B4-BE49-F238E27FC236}">
                <a16:creationId xmlns:a16="http://schemas.microsoft.com/office/drawing/2014/main" id="{F6A9C06D-6F9C-A40C-CE3B-E4AE24A0BE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83" b="26205"/>
          <a:stretch/>
        </p:blipFill>
        <p:spPr bwMode="auto">
          <a:xfrm>
            <a:off x="2573526" y="0"/>
            <a:ext cx="7044948" cy="1231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E8673D7-24F1-F2DE-F66A-4198EA3A2446}"/>
              </a:ext>
            </a:extLst>
          </p:cNvPr>
          <p:cNvSpPr txBox="1"/>
          <p:nvPr/>
        </p:nvSpPr>
        <p:spPr>
          <a:xfrm>
            <a:off x="1992622" y="431154"/>
            <a:ext cx="8223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latin typeface="Century Gothic" panose="020B0502020202020204" pitchFamily="34" charset="0"/>
              </a:rPr>
              <a:t>Base de datos multidimensional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4ED4F5B-F854-67B7-3975-5189220BA36F}"/>
              </a:ext>
            </a:extLst>
          </p:cNvPr>
          <p:cNvSpPr txBox="1"/>
          <p:nvPr/>
        </p:nvSpPr>
        <p:spPr>
          <a:xfrm>
            <a:off x="5620401" y="1401185"/>
            <a:ext cx="951197" cy="261610"/>
          </a:xfrm>
          <a:prstGeom prst="rect">
            <a:avLst/>
          </a:prstGeom>
          <a:solidFill>
            <a:srgbClr val="E1E1FF"/>
          </a:solidFill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Century Gothic" panose="020B0502020202020204" pitchFamily="34" charset="0"/>
              </a:rPr>
              <a:t>¿Qué es?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3AB882E-FF4A-210E-5DBC-9DDF452B4EBD}"/>
              </a:ext>
            </a:extLst>
          </p:cNvPr>
          <p:cNvSpPr txBox="1"/>
          <p:nvPr/>
        </p:nvSpPr>
        <p:spPr>
          <a:xfrm>
            <a:off x="1393371" y="1869661"/>
            <a:ext cx="9405257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latin typeface="Century Gothic" panose="020B0502020202020204" pitchFamily="34" charset="0"/>
              </a:rPr>
              <a:t>Tipo especializado de base de datos analítica, diseñada para organizar los datos en estructuras multidimensionales llamadas “cubos”, donde cada dimensión representa una perspectiva de análisis (tiempo, producto, región, cliente, etc.).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E0BFC48-9F32-E392-B5F0-48354486688A}"/>
              </a:ext>
            </a:extLst>
          </p:cNvPr>
          <p:cNvSpPr txBox="1"/>
          <p:nvPr/>
        </p:nvSpPr>
        <p:spPr>
          <a:xfrm>
            <a:off x="5109351" y="2601165"/>
            <a:ext cx="1973295" cy="261610"/>
          </a:xfrm>
          <a:prstGeom prst="rect">
            <a:avLst/>
          </a:prstGeom>
          <a:solidFill>
            <a:srgbClr val="E1E1FF"/>
          </a:solidFill>
        </p:spPr>
        <p:txBody>
          <a:bodyPr wrap="square" rtlCol="0">
            <a:spAutoFit/>
          </a:bodyPr>
          <a:lstStyle/>
          <a:p>
            <a:r>
              <a:rPr lang="es-ES" sz="1100" b="1" dirty="0">
                <a:latin typeface="Century Gothic" panose="020B0502020202020204" pitchFamily="34" charset="0"/>
              </a:rPr>
              <a:t>Características Principales 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99F361B-94B6-E55C-6814-37D660D990FB}"/>
              </a:ext>
            </a:extLst>
          </p:cNvPr>
          <p:cNvSpPr txBox="1"/>
          <p:nvPr/>
        </p:nvSpPr>
        <p:spPr>
          <a:xfrm>
            <a:off x="4343395" y="3116516"/>
            <a:ext cx="3505198" cy="600164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1100" dirty="0">
                <a:latin typeface="Century Gothic" panose="020B0502020202020204" pitchFamily="34" charset="0"/>
              </a:rPr>
              <a:t>Representa la información como medidas (valores cuantitativos) y dimensiones (criterios de análisis).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7E04F75-5485-8D79-F52F-C9B974F2222F}"/>
              </a:ext>
            </a:extLst>
          </p:cNvPr>
          <p:cNvSpPr txBox="1"/>
          <p:nvPr/>
        </p:nvSpPr>
        <p:spPr>
          <a:xfrm>
            <a:off x="4343395" y="4633789"/>
            <a:ext cx="3505198" cy="430887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1100" dirty="0">
                <a:latin typeface="Century Gothic" panose="020B0502020202020204" pitchFamily="34" charset="0"/>
              </a:rPr>
              <a:t>Optimizada para agregaciones rápidas y exploración interactiva.</a:t>
            </a: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FD09A0E7-4D51-77E9-9B24-804EE312AA84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6095994" y="2862775"/>
            <a:ext cx="5" cy="2537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E7BB5422-F790-9185-501F-F8FC789958FE}"/>
              </a:ext>
            </a:extLst>
          </p:cNvPr>
          <p:cNvCxnSpPr>
            <a:cxnSpLocks/>
          </p:cNvCxnSpPr>
          <p:nvPr/>
        </p:nvCxnSpPr>
        <p:spPr>
          <a:xfrm>
            <a:off x="6104310" y="3716680"/>
            <a:ext cx="2" cy="213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B0FA1A76-CDB5-BE95-E6D4-C967DB64C3A8}"/>
              </a:ext>
            </a:extLst>
          </p:cNvPr>
          <p:cNvSpPr txBox="1"/>
          <p:nvPr/>
        </p:nvSpPr>
        <p:spPr>
          <a:xfrm>
            <a:off x="997661" y="2624332"/>
            <a:ext cx="1973295" cy="261610"/>
          </a:xfrm>
          <a:prstGeom prst="rect">
            <a:avLst/>
          </a:prstGeom>
          <a:solidFill>
            <a:srgbClr val="E1E1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100" b="1" dirty="0">
                <a:latin typeface="Century Gothic" panose="020B0502020202020204" pitchFamily="34" charset="0"/>
              </a:rPr>
              <a:t>Ejemplos de uso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8D79B136-BF1B-015F-8884-80225FF1C03A}"/>
              </a:ext>
            </a:extLst>
          </p:cNvPr>
          <p:cNvSpPr txBox="1"/>
          <p:nvPr/>
        </p:nvSpPr>
        <p:spPr>
          <a:xfrm>
            <a:off x="9043759" y="2624332"/>
            <a:ext cx="1973295" cy="430887"/>
          </a:xfrm>
          <a:prstGeom prst="rect">
            <a:avLst/>
          </a:prstGeom>
          <a:solidFill>
            <a:srgbClr val="E1E1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100" b="1" dirty="0">
                <a:latin typeface="Century Gothic" panose="020B0502020202020204" pitchFamily="34" charset="0"/>
              </a:rPr>
              <a:t>Relación con los datos históricos</a:t>
            </a:r>
          </a:p>
        </p:txBody>
      </p:sp>
      <p:cxnSp>
        <p:nvCxnSpPr>
          <p:cNvPr id="30" name="Conector: angular 29">
            <a:extLst>
              <a:ext uri="{FF2B5EF4-FFF2-40B4-BE49-F238E27FC236}">
                <a16:creationId xmlns:a16="http://schemas.microsoft.com/office/drawing/2014/main" id="{E6A3C504-8FD6-AC37-4758-21E62CD922F1}"/>
              </a:ext>
            </a:extLst>
          </p:cNvPr>
          <p:cNvCxnSpPr>
            <a:cxnSpLocks/>
          </p:cNvCxnSpPr>
          <p:nvPr/>
        </p:nvCxnSpPr>
        <p:spPr>
          <a:xfrm rot="10800000" flipV="1">
            <a:off x="1984309" y="2345587"/>
            <a:ext cx="4111685" cy="15808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Conector: angular 31">
            <a:extLst>
              <a:ext uri="{FF2B5EF4-FFF2-40B4-BE49-F238E27FC236}">
                <a16:creationId xmlns:a16="http://schemas.microsoft.com/office/drawing/2014/main" id="{701492E8-50A2-11AE-708A-08724B019C0A}"/>
              </a:ext>
            </a:extLst>
          </p:cNvPr>
          <p:cNvCxnSpPr>
            <a:cxnSpLocks/>
          </p:cNvCxnSpPr>
          <p:nvPr/>
        </p:nvCxnSpPr>
        <p:spPr>
          <a:xfrm>
            <a:off x="6095994" y="2342789"/>
            <a:ext cx="3934413" cy="15808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DC273E55-4C7A-848B-227A-F1408ED6BD41}"/>
              </a:ext>
            </a:extLst>
          </p:cNvPr>
          <p:cNvSpPr txBox="1"/>
          <p:nvPr/>
        </p:nvSpPr>
        <p:spPr>
          <a:xfrm>
            <a:off x="500741" y="3099843"/>
            <a:ext cx="2967134" cy="600164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" sz="1100" b="1" dirty="0">
                <a:latin typeface="Century Gothic" panose="020B0502020202020204" pitchFamily="34" charset="0"/>
              </a:rPr>
              <a:t>Análisis multidimensional de ventas: </a:t>
            </a:r>
            <a:r>
              <a:rPr lang="es-ES" sz="1100" dirty="0">
                <a:latin typeface="Century Gothic" panose="020B0502020202020204" pitchFamily="34" charset="0"/>
              </a:rPr>
              <a:t>comparar por año, mes, zona y categoría</a:t>
            </a:r>
            <a:r>
              <a:rPr lang="es-ES" sz="1100" dirty="0"/>
              <a:t>.</a:t>
            </a:r>
            <a:endParaRPr lang="es-ES" sz="1100" dirty="0">
              <a:latin typeface="Century Gothic" panose="020B0502020202020204" pitchFamily="34" charset="0"/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50E4ECD6-E532-BBF4-1AE7-336119CC4887}"/>
              </a:ext>
            </a:extLst>
          </p:cNvPr>
          <p:cNvSpPr txBox="1"/>
          <p:nvPr/>
        </p:nvSpPr>
        <p:spPr>
          <a:xfrm>
            <a:off x="509055" y="3973127"/>
            <a:ext cx="2967134" cy="430887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1100" b="1" dirty="0">
                <a:latin typeface="Century Gothic" panose="020B0502020202020204" pitchFamily="34" charset="0"/>
              </a:rPr>
              <a:t>Análisis financiero:</a:t>
            </a:r>
            <a:r>
              <a:rPr lang="es-ES" sz="1100" dirty="0">
                <a:latin typeface="Century Gothic" panose="020B0502020202020204" pitchFamily="34" charset="0"/>
              </a:rPr>
              <a:t> ingresos, costos y márgenes por periodo y departamento.</a:t>
            </a:r>
          </a:p>
        </p:txBody>
      </p: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B6BD3E24-048B-4525-57F2-754BD17FC6BD}"/>
              </a:ext>
            </a:extLst>
          </p:cNvPr>
          <p:cNvCxnSpPr>
            <a:cxnSpLocks/>
          </p:cNvCxnSpPr>
          <p:nvPr/>
        </p:nvCxnSpPr>
        <p:spPr>
          <a:xfrm>
            <a:off x="1982581" y="2880366"/>
            <a:ext cx="2" cy="213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BC092C0D-459A-1EF8-164A-280203848CF9}"/>
              </a:ext>
            </a:extLst>
          </p:cNvPr>
          <p:cNvCxnSpPr>
            <a:cxnSpLocks/>
          </p:cNvCxnSpPr>
          <p:nvPr/>
        </p:nvCxnSpPr>
        <p:spPr>
          <a:xfrm>
            <a:off x="1982579" y="3689915"/>
            <a:ext cx="2" cy="213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B7379BB9-A7DE-65B0-8052-2FFAB9BA26DF}"/>
              </a:ext>
            </a:extLst>
          </p:cNvPr>
          <p:cNvSpPr txBox="1"/>
          <p:nvPr/>
        </p:nvSpPr>
        <p:spPr>
          <a:xfrm>
            <a:off x="8546839" y="3253925"/>
            <a:ext cx="2967134" cy="430887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1100" dirty="0">
                <a:latin typeface="Century Gothic" panose="020B0502020202020204" pitchFamily="34" charset="0"/>
              </a:rPr>
              <a:t>Permite conservar, organizar y consultar datos históricos consolidados.</a:t>
            </a:r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8E953156-8586-52CC-E6DA-00EA68B1E150}"/>
              </a:ext>
            </a:extLst>
          </p:cNvPr>
          <p:cNvCxnSpPr>
            <a:cxnSpLocks/>
          </p:cNvCxnSpPr>
          <p:nvPr/>
        </p:nvCxnSpPr>
        <p:spPr>
          <a:xfrm>
            <a:off x="10036624" y="3047622"/>
            <a:ext cx="2" cy="213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CuadroTexto 40">
            <a:extLst>
              <a:ext uri="{FF2B5EF4-FFF2-40B4-BE49-F238E27FC236}">
                <a16:creationId xmlns:a16="http://schemas.microsoft.com/office/drawing/2014/main" id="{389FA3E4-D4C4-3FC8-5929-3F0ABBA3180B}"/>
              </a:ext>
            </a:extLst>
          </p:cNvPr>
          <p:cNvSpPr txBox="1"/>
          <p:nvPr/>
        </p:nvSpPr>
        <p:spPr>
          <a:xfrm>
            <a:off x="8546839" y="3903816"/>
            <a:ext cx="2967134" cy="430887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1100" dirty="0">
                <a:latin typeface="Century Gothic" panose="020B0502020202020204" pitchFamily="34" charset="0"/>
              </a:rPr>
              <a:t>Favorece la detección de patrones temporales y tendencias.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0ADCB88A-7057-B405-3E30-40B54C07BF0A}"/>
              </a:ext>
            </a:extLst>
          </p:cNvPr>
          <p:cNvSpPr txBox="1"/>
          <p:nvPr/>
        </p:nvSpPr>
        <p:spPr>
          <a:xfrm>
            <a:off x="8629967" y="4553707"/>
            <a:ext cx="2967134" cy="430887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1100" dirty="0">
                <a:latin typeface="Century Gothic" panose="020B0502020202020204" pitchFamily="34" charset="0"/>
              </a:rPr>
              <a:t>Es el modelo ideal para representar la evolución del negocio en el tiempo.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C766D2E-89E4-084E-A76B-E1E1771F0765}"/>
              </a:ext>
            </a:extLst>
          </p:cNvPr>
          <p:cNvSpPr txBox="1"/>
          <p:nvPr/>
        </p:nvSpPr>
        <p:spPr>
          <a:xfrm>
            <a:off x="4351711" y="3958007"/>
            <a:ext cx="3505198" cy="430887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1100" dirty="0">
                <a:latin typeface="Century Gothic" panose="020B0502020202020204" pitchFamily="34" charset="0"/>
              </a:rPr>
              <a:t>Permite consultas dinámicas y análisis desde diferentes ángulos.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835943F5-0ECF-CF31-C182-ACCDC711FA45}"/>
              </a:ext>
            </a:extLst>
          </p:cNvPr>
          <p:cNvCxnSpPr>
            <a:cxnSpLocks/>
          </p:cNvCxnSpPr>
          <p:nvPr/>
        </p:nvCxnSpPr>
        <p:spPr>
          <a:xfrm>
            <a:off x="6095990" y="4396363"/>
            <a:ext cx="2" cy="213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5F4F069-C598-A204-9FA5-0D602687EE25}"/>
              </a:ext>
            </a:extLst>
          </p:cNvPr>
          <p:cNvSpPr txBox="1"/>
          <p:nvPr/>
        </p:nvSpPr>
        <p:spPr>
          <a:xfrm>
            <a:off x="4351711" y="5342477"/>
            <a:ext cx="3505198" cy="430887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1100" dirty="0">
                <a:latin typeface="Century Gothic" panose="020B0502020202020204" pitchFamily="34" charset="0"/>
              </a:rPr>
              <a:t>Base fundamental de los sistemas Data </a:t>
            </a:r>
            <a:r>
              <a:rPr lang="es-ES" sz="1100" dirty="0" err="1">
                <a:latin typeface="Century Gothic" panose="020B0502020202020204" pitchFamily="34" charset="0"/>
              </a:rPr>
              <a:t>Warehouse</a:t>
            </a:r>
            <a:r>
              <a:rPr lang="es-ES" sz="1100" dirty="0">
                <a:latin typeface="Century Gothic" panose="020B0502020202020204" pitchFamily="34" charset="0"/>
              </a:rPr>
              <a:t> y Business </a:t>
            </a:r>
            <a:r>
              <a:rPr lang="es-ES" sz="1100" dirty="0" err="1">
                <a:latin typeface="Century Gothic" panose="020B0502020202020204" pitchFamily="34" charset="0"/>
              </a:rPr>
              <a:t>Intelligence</a:t>
            </a:r>
            <a:r>
              <a:rPr lang="es-ES" sz="1100" dirty="0">
                <a:latin typeface="Century Gothic" panose="020B0502020202020204" pitchFamily="34" charset="0"/>
              </a:rPr>
              <a:t> (BI).</a:t>
            </a: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8EE8101C-9CAD-A50A-7F53-086A4970375B}"/>
              </a:ext>
            </a:extLst>
          </p:cNvPr>
          <p:cNvCxnSpPr>
            <a:cxnSpLocks/>
          </p:cNvCxnSpPr>
          <p:nvPr/>
        </p:nvCxnSpPr>
        <p:spPr>
          <a:xfrm>
            <a:off x="6082131" y="5088164"/>
            <a:ext cx="2" cy="213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5A4EAE47-0D07-FCA0-5D41-3E6486A614F5}"/>
              </a:ext>
            </a:extLst>
          </p:cNvPr>
          <p:cNvCxnSpPr>
            <a:cxnSpLocks/>
          </p:cNvCxnSpPr>
          <p:nvPr/>
        </p:nvCxnSpPr>
        <p:spPr>
          <a:xfrm>
            <a:off x="10030406" y="3689915"/>
            <a:ext cx="2" cy="213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A577B468-AC28-3B76-C65A-C0C9DD991292}"/>
              </a:ext>
            </a:extLst>
          </p:cNvPr>
          <p:cNvCxnSpPr>
            <a:cxnSpLocks/>
          </p:cNvCxnSpPr>
          <p:nvPr/>
        </p:nvCxnSpPr>
        <p:spPr>
          <a:xfrm>
            <a:off x="10030406" y="4330909"/>
            <a:ext cx="2" cy="213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2211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1C7BE1-567D-0BBA-F05C-C4EC098C4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200" dirty="0"/>
              <a:t>Referencias</a:t>
            </a:r>
            <a:r>
              <a:rPr lang="es-ES" dirty="0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A533EF-5665-8967-40AB-1DD11A648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Calle Sánchez, D. A. (2009). </a:t>
            </a:r>
            <a:r>
              <a:rPr lang="es-E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para el diseño e implementación de bases de datos</a:t>
            </a:r>
            <a:r>
              <a:rPr lang="es-E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[PDF]. Repositorio EAFIT.  https://repository.eafit.edu.co/server/api/core/bitstreams/6f7c0135-b446-4a33-9365-954ed476c244/content </a:t>
            </a:r>
          </a:p>
          <a:p>
            <a:r>
              <a:rPr lang="es-E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Abelló, A. (2020). </a:t>
            </a:r>
            <a:r>
              <a:rPr lang="es-E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Diseño multidimensional y explotación de datos</a:t>
            </a:r>
            <a:r>
              <a:rPr lang="es-E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[PDF]. UOC Open Access. https://openaccess.uoc.edu/server/api/core/bitstreams/4a3f91fd-83df-4bee-a491-1682a097f33d/content </a:t>
            </a:r>
          </a:p>
          <a:p>
            <a:r>
              <a:rPr lang="es-E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Mantilla Hernández, J. H. (s. f.). </a:t>
            </a:r>
            <a:r>
              <a:rPr lang="es-E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Metodología de diseño de cubos OLAP para inteligencia de negocios usando Mondrian y </a:t>
            </a:r>
            <a:r>
              <a:rPr lang="es-E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JPivot</a:t>
            </a:r>
            <a:r>
              <a:rPr lang="es-E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partir de una base de datos transaccional</a:t>
            </a:r>
            <a:r>
              <a:rPr lang="es-E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[Trabajo de grado]. https://gc.scalahed.com/recursos/files/r161r/w24822w/METODOLOGIA_DE_DISENO_DE_CUBOS_OLAP_PARA_INTELIGENCIA_DE_NEGOCIOS_USANDO_MONDRIAN_Y_JPIVOT_A_PARTIR_DE_UNA_BASE_DE_DATOS_TRANSACCIONAL.pdf?utm_source=chatgpt.com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071113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933</Words>
  <Application>Microsoft Office PowerPoint</Application>
  <PresentationFormat>Panorámica</PresentationFormat>
  <Paragraphs>93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Century Gothic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Referencias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Miriam Recinos</dc:creator>
  <cp:lastModifiedBy>Miriam Recinos</cp:lastModifiedBy>
  <cp:revision>2</cp:revision>
  <dcterms:created xsi:type="dcterms:W3CDTF">2025-10-07T02:56:47Z</dcterms:created>
  <dcterms:modified xsi:type="dcterms:W3CDTF">2025-10-18T19:16:30Z</dcterms:modified>
</cp:coreProperties>
</file>