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1"/>
  </p:notesMasterIdLst>
  <p:sldIdLst>
    <p:sldId id="268" r:id="rId2"/>
    <p:sldId id="256" r:id="rId3"/>
    <p:sldId id="259" r:id="rId4"/>
    <p:sldId id="261" r:id="rId5"/>
    <p:sldId id="260" r:id="rId6"/>
    <p:sldId id="269" r:id="rId7"/>
    <p:sldId id="270" r:id="rId8"/>
    <p:sldId id="271" r:id="rId9"/>
    <p:sldId id="272" r:id="rId10"/>
    <p:sldId id="274" r:id="rId11"/>
    <p:sldId id="273" r:id="rId12"/>
    <p:sldId id="275" r:id="rId13"/>
    <p:sldId id="276" r:id="rId14"/>
    <p:sldId id="277" r:id="rId15"/>
    <p:sldId id="278" r:id="rId16"/>
    <p:sldId id="279" r:id="rId17"/>
    <p:sldId id="280" r:id="rId18"/>
    <p:sldId id="281" r:id="rId19"/>
    <p:sldId id="282" r:id="rId20"/>
  </p:sldIdLst>
  <p:sldSz cx="18288000" cy="10287000"/>
  <p:notesSz cx="6858000" cy="9144000"/>
  <p:embeddedFontLst>
    <p:embeddedFont>
      <p:font typeface="Berlin Sans FB" panose="020E0602020502020306" pitchFamily="34" charset="0"/>
      <p:regular r:id="rId22"/>
      <p:bold r:id="rId23"/>
    </p:embeddedFont>
    <p:embeddedFont>
      <p:font typeface="Monkey" panose="020B0604020202020204" charset="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99FF"/>
    <a:srgbClr val="FF66FF"/>
    <a:srgbClr val="3399FF"/>
    <a:srgbClr val="99CCFF"/>
    <a:srgbClr val="FF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p:scale>
          <a:sx n="28" d="100"/>
          <a:sy n="28" d="100"/>
        </p:scale>
        <p:origin x="446" y="64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9AEA5C6-3CF0-4586-8E5D-7DB8F2501B6F}" type="datetimeFigureOut">
              <a:rPr lang="es-ES" smtClean="0"/>
              <a:t>18/10/2025</a:t>
            </a:fld>
            <a:endParaRPr lang="es-E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ES"/>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0A3C7F3-0A77-4BD5-91AA-E77F13438790}" type="slidenum">
              <a:rPr lang="es-ES" smtClean="0"/>
              <a:t>‹Nº›</a:t>
            </a:fld>
            <a:endParaRPr lang="es-ES"/>
          </a:p>
        </p:txBody>
      </p:sp>
    </p:spTree>
    <p:extLst>
      <p:ext uri="{BB962C8B-B14F-4D97-AF65-F5344CB8AC3E}">
        <p14:creationId xmlns:p14="http://schemas.microsoft.com/office/powerpoint/2010/main" val="7338576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40A3C7F3-0A77-4BD5-91AA-E77F13438790}" type="slidenum">
              <a:rPr lang="es-ES" smtClean="0"/>
              <a:t>16</a:t>
            </a:fld>
            <a:endParaRPr lang="es-ES"/>
          </a:p>
        </p:txBody>
      </p:sp>
    </p:spTree>
    <p:extLst>
      <p:ext uri="{BB962C8B-B14F-4D97-AF65-F5344CB8AC3E}">
        <p14:creationId xmlns:p14="http://schemas.microsoft.com/office/powerpoint/2010/main" val="22684010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40A3C7F3-0A77-4BD5-91AA-E77F13438790}" type="slidenum">
              <a:rPr lang="es-ES" smtClean="0"/>
              <a:t>17</a:t>
            </a:fld>
            <a:endParaRPr lang="es-ES"/>
          </a:p>
        </p:txBody>
      </p:sp>
    </p:spTree>
    <p:extLst>
      <p:ext uri="{BB962C8B-B14F-4D97-AF65-F5344CB8AC3E}">
        <p14:creationId xmlns:p14="http://schemas.microsoft.com/office/powerpoint/2010/main" val="6239592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40A3C7F3-0A77-4BD5-91AA-E77F13438790}" type="slidenum">
              <a:rPr lang="es-ES" smtClean="0"/>
              <a:t>18</a:t>
            </a:fld>
            <a:endParaRPr lang="es-ES"/>
          </a:p>
        </p:txBody>
      </p:sp>
    </p:spTree>
    <p:extLst>
      <p:ext uri="{BB962C8B-B14F-4D97-AF65-F5344CB8AC3E}">
        <p14:creationId xmlns:p14="http://schemas.microsoft.com/office/powerpoint/2010/main" val="22784676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40A3C7F3-0A77-4BD5-91AA-E77F13438790}" type="slidenum">
              <a:rPr lang="es-ES" smtClean="0"/>
              <a:t>19</a:t>
            </a:fld>
            <a:endParaRPr lang="es-ES"/>
          </a:p>
        </p:txBody>
      </p:sp>
    </p:spTree>
    <p:extLst>
      <p:ext uri="{BB962C8B-B14F-4D97-AF65-F5344CB8AC3E}">
        <p14:creationId xmlns:p14="http://schemas.microsoft.com/office/powerpoint/2010/main" val="37089983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10/18/2025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10/18/2025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10/18/2025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10/18/2025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svg"/><Relationship Id="rId3" Type="http://schemas.openxmlformats.org/officeDocument/2006/relationships/image" Target="../media/image5.svg"/><Relationship Id="rId7" Type="http://schemas.openxmlformats.org/officeDocument/2006/relationships/image" Target="../media/image9.svg"/><Relationship Id="rId12" Type="http://schemas.openxmlformats.org/officeDocument/2006/relationships/image" Target="../media/image14.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8.png"/><Relationship Id="rId11" Type="http://schemas.openxmlformats.org/officeDocument/2006/relationships/image" Target="../media/image13.svg"/><Relationship Id="rId5" Type="http://schemas.openxmlformats.org/officeDocument/2006/relationships/image" Target="../media/image7.svg"/><Relationship Id="rId15" Type="http://schemas.openxmlformats.org/officeDocument/2006/relationships/image" Target="../media/image17.sv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svg"/><Relationship Id="rId14" Type="http://schemas.openxmlformats.org/officeDocument/2006/relationships/image" Target="../media/image16.png"/></Relationships>
</file>

<file path=ppt/slides/_rels/slide3.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9.svg"/><Relationship Id="rId7" Type="http://schemas.openxmlformats.org/officeDocument/2006/relationships/image" Target="../media/image11.svg"/><Relationship Id="rId2" Type="http://schemas.openxmlformats.org/officeDocument/2006/relationships/image" Target="../media/image8.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19.svg"/><Relationship Id="rId4" Type="http://schemas.openxmlformats.org/officeDocument/2006/relationships/image" Target="../media/image18.png"/><Relationship Id="rId9" Type="http://schemas.openxmlformats.org/officeDocument/2006/relationships/image" Target="../media/image17.svg"/></Relationships>
</file>

<file path=ppt/slides/_rels/slide4.xml.rels><?xml version="1.0" encoding="UTF-8" standalone="yes"?>
<Relationships xmlns="http://schemas.openxmlformats.org/package/2006/relationships"><Relationship Id="rId3" Type="http://schemas.openxmlformats.org/officeDocument/2006/relationships/image" Target="../media/image13.svg"/><Relationship Id="rId7" Type="http://schemas.openxmlformats.org/officeDocument/2006/relationships/image" Target="../media/image21.svg"/><Relationship Id="rId2" Type="http://schemas.openxmlformats.org/officeDocument/2006/relationships/image" Target="../media/image12.png"/><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17.svg"/><Relationship Id="rId4" Type="http://schemas.openxmlformats.org/officeDocument/2006/relationships/image" Target="../media/image16.png"/></Relationships>
</file>

<file path=ppt/slides/_rels/slide5.xml.rels><?xml version="1.0" encoding="UTF-8" standalone="yes"?>
<Relationships xmlns="http://schemas.openxmlformats.org/package/2006/relationships"><Relationship Id="rId8" Type="http://schemas.openxmlformats.org/officeDocument/2006/relationships/image" Target="../media/image22.jpg"/><Relationship Id="rId3" Type="http://schemas.openxmlformats.org/officeDocument/2006/relationships/image" Target="../media/image5.svg"/><Relationship Id="rId7" Type="http://schemas.openxmlformats.org/officeDocument/2006/relationships/image" Target="../media/image17.sv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1.sv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8" Type="http://schemas.openxmlformats.org/officeDocument/2006/relationships/image" Target="../media/image23.jpg"/><Relationship Id="rId3" Type="http://schemas.openxmlformats.org/officeDocument/2006/relationships/image" Target="../media/image5.svg"/><Relationship Id="rId7" Type="http://schemas.openxmlformats.org/officeDocument/2006/relationships/image" Target="../media/image17.sv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1.sv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5.svg"/><Relationship Id="rId7" Type="http://schemas.openxmlformats.org/officeDocument/2006/relationships/image" Target="../media/image17.sv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1.sv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5.svg"/><Relationship Id="rId7" Type="http://schemas.openxmlformats.org/officeDocument/2006/relationships/image" Target="../media/image17.sv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1.sv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5.svg"/><Relationship Id="rId7" Type="http://schemas.openxmlformats.org/officeDocument/2006/relationships/image" Target="../media/image17.sv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1.sv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27.png"/><Relationship Id="rId5" Type="http://schemas.openxmlformats.org/officeDocument/2006/relationships/image" Target="../media/image11.sv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28.png"/><Relationship Id="rId5" Type="http://schemas.openxmlformats.org/officeDocument/2006/relationships/image" Target="../media/image11.sv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5.svg"/><Relationship Id="rId7" Type="http://schemas.openxmlformats.org/officeDocument/2006/relationships/image" Target="../media/image30.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29.png"/><Relationship Id="rId5" Type="http://schemas.openxmlformats.org/officeDocument/2006/relationships/image" Target="../media/image11.sv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31.png"/><Relationship Id="rId5" Type="http://schemas.openxmlformats.org/officeDocument/2006/relationships/image" Target="../media/image11.svg"/><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32.png"/><Relationship Id="rId5" Type="http://schemas.openxmlformats.org/officeDocument/2006/relationships/image" Target="../media/image11.svg"/><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33.png"/><Relationship Id="rId5" Type="http://schemas.openxmlformats.org/officeDocument/2006/relationships/image" Target="../media/image11.svg"/><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34.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5.svg"/></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35.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5.svg"/></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5.svg"/></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5.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6">
            <a:extLst>
              <a:ext uri="{FF2B5EF4-FFF2-40B4-BE49-F238E27FC236}">
                <a16:creationId xmlns:a16="http://schemas.microsoft.com/office/drawing/2014/main" id="{88A9A533-354B-6112-6039-33AAE3468D8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532980" y="190500"/>
            <a:ext cx="3222039" cy="948859"/>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TecNM | Tecnológico Nacional de México">
            <a:extLst>
              <a:ext uri="{FF2B5EF4-FFF2-40B4-BE49-F238E27FC236}">
                <a16:creationId xmlns:a16="http://schemas.microsoft.com/office/drawing/2014/main" id="{93A3BDAD-BDD9-43C1-B7C5-A6CDD3C7CE4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8738" y="190500"/>
            <a:ext cx="3222039" cy="837228"/>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4" descr="Instituto Tecnológico de Frontera Comalapa-Oficial | Frontera Comalapa">
            <a:extLst>
              <a:ext uri="{FF2B5EF4-FFF2-40B4-BE49-F238E27FC236}">
                <a16:creationId xmlns:a16="http://schemas.microsoft.com/office/drawing/2014/main" id="{C7CCD30C-5447-A756-62CB-076A502F1BE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468600" y="190500"/>
            <a:ext cx="2470502" cy="944854"/>
          </a:xfrm>
          <a:prstGeom prst="rect">
            <a:avLst/>
          </a:prstGeom>
          <a:noFill/>
          <a:extLst>
            <a:ext uri="{909E8E84-426E-40DD-AFC4-6F175D3DCCD1}">
              <a14:hiddenFill xmlns:a14="http://schemas.microsoft.com/office/drawing/2010/main">
                <a:solidFill>
                  <a:srgbClr val="FFFFFF"/>
                </a:solidFill>
              </a14:hiddenFill>
            </a:ext>
          </a:extLst>
        </p:spPr>
      </p:pic>
      <p:sp>
        <p:nvSpPr>
          <p:cNvPr id="7" name="CuadroTexto 6">
            <a:extLst>
              <a:ext uri="{FF2B5EF4-FFF2-40B4-BE49-F238E27FC236}">
                <a16:creationId xmlns:a16="http://schemas.microsoft.com/office/drawing/2014/main" id="{21D5C216-C88B-2887-A633-9E569D046A19}"/>
              </a:ext>
            </a:extLst>
          </p:cNvPr>
          <p:cNvSpPr txBox="1"/>
          <p:nvPr/>
        </p:nvSpPr>
        <p:spPr>
          <a:xfrm>
            <a:off x="3810000" y="3446881"/>
            <a:ext cx="11030262" cy="5516895"/>
          </a:xfrm>
          <a:prstGeom prst="rect">
            <a:avLst/>
          </a:prstGeom>
          <a:noFill/>
        </p:spPr>
        <p:txBody>
          <a:bodyPr wrap="square" rtlCol="0">
            <a:spAutoFit/>
          </a:bodyPr>
          <a:lstStyle/>
          <a:p>
            <a:pPr algn="ctr"/>
            <a:r>
              <a:rPr lang="es-ES" dirty="0">
                <a:latin typeface="Times New Roman" panose="02020603050405020304" pitchFamily="18" charset="0"/>
                <a:cs typeface="Times New Roman" panose="02020603050405020304" pitchFamily="18" charset="0"/>
              </a:rPr>
              <a:t>CATEDRÁTICO:  Mingo Velázquez Francisco Javier.</a:t>
            </a:r>
          </a:p>
          <a:p>
            <a:pPr algn="ctr"/>
            <a:endParaRPr lang="es-ES" dirty="0">
              <a:latin typeface="Times New Roman" panose="02020603050405020304" pitchFamily="18" charset="0"/>
              <a:cs typeface="Times New Roman" panose="02020603050405020304" pitchFamily="18" charset="0"/>
            </a:endParaRPr>
          </a:p>
          <a:p>
            <a:pPr algn="ctr"/>
            <a:endParaRPr lang="es-ES" dirty="0">
              <a:latin typeface="Times New Roman" panose="02020603050405020304" pitchFamily="18" charset="0"/>
              <a:cs typeface="Times New Roman" panose="02020603050405020304" pitchFamily="18" charset="0"/>
            </a:endParaRPr>
          </a:p>
          <a:p>
            <a:pPr algn="ctr"/>
            <a:r>
              <a:rPr lang="es-ES" dirty="0">
                <a:latin typeface="Times New Roman" panose="02020603050405020304" pitchFamily="18" charset="0"/>
                <a:cs typeface="Times New Roman" panose="02020603050405020304" pitchFamily="18" charset="0"/>
              </a:rPr>
              <a:t>MATERIA: Tópicos Selectos de Base de datos.</a:t>
            </a:r>
          </a:p>
          <a:p>
            <a:pPr algn="ctr"/>
            <a:r>
              <a:rPr lang="es-ES" dirty="0">
                <a:latin typeface="Times New Roman" panose="02020603050405020304" pitchFamily="18" charset="0"/>
                <a:cs typeface="Times New Roman" panose="02020603050405020304" pitchFamily="18" charset="0"/>
              </a:rPr>
              <a:t> </a:t>
            </a:r>
          </a:p>
          <a:p>
            <a:pPr algn="ctr"/>
            <a:endParaRPr lang="es-ES" dirty="0">
              <a:latin typeface="Times New Roman" panose="02020603050405020304" pitchFamily="18" charset="0"/>
              <a:cs typeface="Times New Roman" panose="02020603050405020304" pitchFamily="18" charset="0"/>
            </a:endParaRPr>
          </a:p>
          <a:p>
            <a:pPr algn="ctr"/>
            <a:r>
              <a:rPr lang="es-ES" dirty="0">
                <a:latin typeface="Times New Roman" panose="02020603050405020304" pitchFamily="18" charset="0"/>
                <a:cs typeface="Times New Roman" panose="02020603050405020304" pitchFamily="18" charset="0"/>
              </a:rPr>
              <a:t>NOMBRE DEL ALUMNO: Moguel Recinos Miriam.</a:t>
            </a:r>
          </a:p>
          <a:p>
            <a:pPr algn="ctr"/>
            <a:endParaRPr lang="es-ES" dirty="0">
              <a:latin typeface="Times New Roman" panose="02020603050405020304" pitchFamily="18" charset="0"/>
              <a:cs typeface="Times New Roman" panose="02020603050405020304" pitchFamily="18" charset="0"/>
            </a:endParaRPr>
          </a:p>
          <a:p>
            <a:pPr algn="ctr"/>
            <a:endParaRPr lang="es-ES" dirty="0">
              <a:latin typeface="Times New Roman" panose="02020603050405020304" pitchFamily="18" charset="0"/>
              <a:cs typeface="Times New Roman" panose="02020603050405020304" pitchFamily="18" charset="0"/>
            </a:endParaRPr>
          </a:p>
          <a:p>
            <a:pPr algn="ctr"/>
            <a:r>
              <a:rPr lang="es-ES" dirty="0">
                <a:latin typeface="Times New Roman" panose="02020603050405020304" pitchFamily="18" charset="0"/>
                <a:cs typeface="Times New Roman" panose="02020603050405020304" pitchFamily="18" charset="0"/>
              </a:rPr>
              <a:t>NUMERO DE CONTROL: 211260044</a:t>
            </a:r>
          </a:p>
          <a:p>
            <a:pPr algn="ctr"/>
            <a:endParaRPr lang="es-ES" dirty="0">
              <a:latin typeface="Times New Roman" panose="02020603050405020304" pitchFamily="18" charset="0"/>
              <a:cs typeface="Times New Roman" panose="02020603050405020304" pitchFamily="18" charset="0"/>
            </a:endParaRPr>
          </a:p>
          <a:p>
            <a:pPr algn="ctr"/>
            <a:endParaRPr lang="es-ES" dirty="0">
              <a:latin typeface="Times New Roman" panose="02020603050405020304" pitchFamily="18" charset="0"/>
              <a:cs typeface="Times New Roman" panose="02020603050405020304" pitchFamily="18" charset="0"/>
            </a:endParaRPr>
          </a:p>
          <a:p>
            <a:pPr algn="ctr"/>
            <a:r>
              <a:rPr lang="es-ES" dirty="0">
                <a:latin typeface="Times New Roman" panose="02020603050405020304" pitchFamily="18" charset="0"/>
                <a:cs typeface="Times New Roman" panose="02020603050405020304" pitchFamily="18" charset="0"/>
              </a:rPr>
              <a:t>CARRERA: Ingeniería en  Sistemas Computacionales.</a:t>
            </a:r>
          </a:p>
          <a:p>
            <a:pPr algn="ctr"/>
            <a:endParaRPr lang="es-ES" dirty="0">
              <a:latin typeface="Times New Roman" panose="02020603050405020304" pitchFamily="18" charset="0"/>
              <a:cs typeface="Times New Roman" panose="02020603050405020304" pitchFamily="18" charset="0"/>
            </a:endParaRPr>
          </a:p>
          <a:p>
            <a:pPr algn="ctr"/>
            <a:r>
              <a:rPr lang="es-ES" dirty="0">
                <a:latin typeface="Times New Roman" panose="02020603050405020304" pitchFamily="18" charset="0"/>
                <a:cs typeface="Times New Roman" panose="02020603050405020304" pitchFamily="18" charset="0"/>
              </a:rPr>
              <a:t> </a:t>
            </a:r>
          </a:p>
          <a:p>
            <a:pPr algn="ctr"/>
            <a:r>
              <a:rPr lang="es-ES" dirty="0">
                <a:latin typeface="Times New Roman" panose="02020603050405020304" pitchFamily="18" charset="0"/>
                <a:cs typeface="Times New Roman" panose="02020603050405020304" pitchFamily="18" charset="0"/>
              </a:rPr>
              <a:t>NOMBRE DEL TRABAJO: Reporte de Practica.</a:t>
            </a:r>
          </a:p>
          <a:p>
            <a:pPr algn="ctr"/>
            <a:endParaRPr lang="es-ES" dirty="0">
              <a:latin typeface="Times New Roman" panose="02020603050405020304" pitchFamily="18" charset="0"/>
              <a:cs typeface="Times New Roman" panose="02020603050405020304" pitchFamily="18" charset="0"/>
            </a:endParaRPr>
          </a:p>
          <a:p>
            <a:pPr algn="ctr"/>
            <a:endParaRPr lang="es-ES" dirty="0">
              <a:latin typeface="Times New Roman" panose="02020603050405020304" pitchFamily="18" charset="0"/>
              <a:cs typeface="Times New Roman" panose="02020603050405020304" pitchFamily="18" charset="0"/>
            </a:endParaRPr>
          </a:p>
          <a:p>
            <a:pPr algn="ctr"/>
            <a:r>
              <a:rPr lang="es-ES" dirty="0">
                <a:latin typeface="Times New Roman" panose="02020603050405020304" pitchFamily="18" charset="0"/>
                <a:cs typeface="Times New Roman" panose="02020603050405020304" pitchFamily="18" charset="0"/>
              </a:rPr>
              <a:t>FRONTERA COMALAPA, CHIAPAS A 17  DE OCTUBRE DE 2025</a:t>
            </a:r>
          </a:p>
          <a:p>
            <a:endParaRPr lang="es-ES" sz="1050" dirty="0">
              <a:latin typeface="Times New Roman" panose="02020603050405020304" pitchFamily="18" charset="0"/>
              <a:cs typeface="Times New Roman" panose="02020603050405020304" pitchFamily="18" charset="0"/>
            </a:endParaRPr>
          </a:p>
        </p:txBody>
      </p:sp>
      <p:sp>
        <p:nvSpPr>
          <p:cNvPr id="8" name="TextBox 9">
            <a:extLst>
              <a:ext uri="{FF2B5EF4-FFF2-40B4-BE49-F238E27FC236}">
                <a16:creationId xmlns:a16="http://schemas.microsoft.com/office/drawing/2014/main" id="{C1E46E27-1B41-6E10-9056-1534A7DD71A7}"/>
              </a:ext>
            </a:extLst>
          </p:cNvPr>
          <p:cNvSpPr txBox="1"/>
          <p:nvPr/>
        </p:nvSpPr>
        <p:spPr>
          <a:xfrm>
            <a:off x="4957071" y="2134027"/>
            <a:ext cx="8736119" cy="333425"/>
          </a:xfrm>
          <a:prstGeom prst="rect">
            <a:avLst/>
          </a:prstGeom>
        </p:spPr>
        <p:txBody>
          <a:bodyPr wrap="square" lIns="0" tIns="0" rIns="0" bIns="0" rtlCol="0" anchor="t">
            <a:spAutoFit/>
          </a:bodyPr>
          <a:lstStyle/>
          <a:p>
            <a:pPr algn="ctr">
              <a:lnSpc>
                <a:spcPts val="2551"/>
              </a:lnSpc>
              <a:spcBef>
                <a:spcPct val="0"/>
              </a:spcBef>
            </a:pPr>
            <a:r>
              <a:rPr lang="en-US" sz="2400" b="1" dirty="0">
                <a:solidFill>
                  <a:srgbClr val="000000"/>
                </a:solidFill>
                <a:latin typeface="Times New Roman" panose="02020603050405020304" pitchFamily="18" charset="0"/>
                <a:ea typeface="Montserrat Bold"/>
                <a:cs typeface="Times New Roman" panose="02020603050405020304" pitchFamily="18" charset="0"/>
                <a:sym typeface="Montserrat Bold"/>
              </a:rPr>
              <a:t>INSTITUTO TECNOLOGICO DE FRONTERA COMALAPA</a:t>
            </a:r>
          </a:p>
        </p:txBody>
      </p:sp>
    </p:spTree>
    <p:extLst>
      <p:ext uri="{BB962C8B-B14F-4D97-AF65-F5344CB8AC3E}">
        <p14:creationId xmlns:p14="http://schemas.microsoft.com/office/powerpoint/2010/main" val="23722262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188259" y="3298463"/>
            <a:ext cx="15717741" cy="2323072"/>
          </a:xfrm>
          <a:prstGeom prst="rect">
            <a:avLst/>
          </a:prstGeom>
        </p:spPr>
        <p:txBody>
          <a:bodyPr lIns="0" tIns="0" rIns="0" bIns="0" rtlCol="0" anchor="t">
            <a:spAutoFit/>
          </a:bodyPr>
          <a:lstStyle/>
          <a:p>
            <a:pPr algn="ctr">
              <a:lnSpc>
                <a:spcPts val="21277"/>
              </a:lnSpc>
            </a:pPr>
            <a:r>
              <a:rPr lang="en-US" sz="10700" dirty="0" err="1">
                <a:solidFill>
                  <a:srgbClr val="000000"/>
                </a:solidFill>
                <a:latin typeface="Monkey"/>
                <a:ea typeface="Monkey"/>
                <a:cs typeface="Monkey"/>
                <a:sym typeface="Monkey"/>
              </a:rPr>
              <a:t>Microservicios</a:t>
            </a:r>
            <a:r>
              <a:rPr lang="en-US" sz="10700" dirty="0">
                <a:solidFill>
                  <a:srgbClr val="000000"/>
                </a:solidFill>
                <a:latin typeface="Monkey"/>
                <a:ea typeface="Monkey"/>
                <a:cs typeface="Monkey"/>
                <a:sym typeface="Monkey"/>
              </a:rPr>
              <a:t> </a:t>
            </a:r>
          </a:p>
        </p:txBody>
      </p:sp>
      <p:sp>
        <p:nvSpPr>
          <p:cNvPr id="3" name="Freeform 3"/>
          <p:cNvSpPr/>
          <p:nvPr/>
        </p:nvSpPr>
        <p:spPr>
          <a:xfrm rot="2761435">
            <a:off x="7430449" y="-2389394"/>
            <a:ext cx="3718326" cy="4017838"/>
          </a:xfrm>
          <a:custGeom>
            <a:avLst/>
            <a:gdLst/>
            <a:ahLst/>
            <a:cxnLst/>
            <a:rect l="l" t="t" r="r" b="b"/>
            <a:pathLst>
              <a:path w="3718326" h="4017838">
                <a:moveTo>
                  <a:pt x="0" y="0"/>
                </a:moveTo>
                <a:lnTo>
                  <a:pt x="3718327" y="0"/>
                </a:lnTo>
                <a:lnTo>
                  <a:pt x="3718327" y="4017838"/>
                </a:lnTo>
                <a:lnTo>
                  <a:pt x="0" y="401783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rot="691866">
            <a:off x="-826634" y="8057673"/>
            <a:ext cx="6931186" cy="4114800"/>
          </a:xfrm>
          <a:custGeom>
            <a:avLst/>
            <a:gdLst/>
            <a:ahLst/>
            <a:cxnLst/>
            <a:rect l="l" t="t" r="r" b="b"/>
            <a:pathLst>
              <a:path w="6931186" h="4114800">
                <a:moveTo>
                  <a:pt x="0" y="0"/>
                </a:moveTo>
                <a:lnTo>
                  <a:pt x="6931186" y="0"/>
                </a:lnTo>
                <a:lnTo>
                  <a:pt x="6931186"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Freeform 6"/>
          <p:cNvSpPr/>
          <p:nvPr/>
        </p:nvSpPr>
        <p:spPr>
          <a:xfrm>
            <a:off x="1028700" y="4347705"/>
            <a:ext cx="2808270" cy="1592273"/>
          </a:xfrm>
          <a:custGeom>
            <a:avLst/>
            <a:gdLst/>
            <a:ahLst/>
            <a:cxnLst/>
            <a:rect l="l" t="t" r="r" b="b"/>
            <a:pathLst>
              <a:path w="2808270" h="1592273">
                <a:moveTo>
                  <a:pt x="0" y="0"/>
                </a:moveTo>
                <a:lnTo>
                  <a:pt x="2808270" y="0"/>
                </a:lnTo>
                <a:lnTo>
                  <a:pt x="2808270" y="1592273"/>
                </a:lnTo>
                <a:lnTo>
                  <a:pt x="0" y="159227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7" name="Freeform 7"/>
          <p:cNvSpPr/>
          <p:nvPr/>
        </p:nvSpPr>
        <p:spPr>
          <a:xfrm rot="-2430465">
            <a:off x="3515861" y="-1278665"/>
            <a:ext cx="2562779" cy="3014631"/>
          </a:xfrm>
          <a:custGeom>
            <a:avLst/>
            <a:gdLst/>
            <a:ahLst/>
            <a:cxnLst/>
            <a:rect l="l" t="t" r="r" b="b"/>
            <a:pathLst>
              <a:path w="2562779" h="3014631">
                <a:moveTo>
                  <a:pt x="0" y="0"/>
                </a:moveTo>
                <a:lnTo>
                  <a:pt x="2562778" y="0"/>
                </a:lnTo>
                <a:lnTo>
                  <a:pt x="2562778" y="3014632"/>
                </a:lnTo>
                <a:lnTo>
                  <a:pt x="0" y="301463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8" name="Freeform 8"/>
          <p:cNvSpPr/>
          <p:nvPr/>
        </p:nvSpPr>
        <p:spPr>
          <a:xfrm rot="3442445">
            <a:off x="15613989" y="6169781"/>
            <a:ext cx="5669449" cy="5348714"/>
          </a:xfrm>
          <a:custGeom>
            <a:avLst/>
            <a:gdLst/>
            <a:ahLst/>
            <a:cxnLst/>
            <a:rect l="l" t="t" r="r" b="b"/>
            <a:pathLst>
              <a:path w="5669449" h="5348714">
                <a:moveTo>
                  <a:pt x="0" y="0"/>
                </a:moveTo>
                <a:lnTo>
                  <a:pt x="5669448" y="0"/>
                </a:lnTo>
                <a:lnTo>
                  <a:pt x="5669448" y="5348714"/>
                </a:lnTo>
                <a:lnTo>
                  <a:pt x="0" y="5348714"/>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9" name="Freeform 9"/>
          <p:cNvSpPr/>
          <p:nvPr/>
        </p:nvSpPr>
        <p:spPr>
          <a:xfrm>
            <a:off x="4265224" y="2182021"/>
            <a:ext cx="10093175" cy="340645"/>
          </a:xfrm>
          <a:custGeom>
            <a:avLst/>
            <a:gdLst/>
            <a:ahLst/>
            <a:cxnLst/>
            <a:rect l="l" t="t" r="r" b="b"/>
            <a:pathLst>
              <a:path w="10093175" h="340645">
                <a:moveTo>
                  <a:pt x="0" y="0"/>
                </a:moveTo>
                <a:lnTo>
                  <a:pt x="10093175" y="0"/>
                </a:lnTo>
                <a:lnTo>
                  <a:pt x="10093175" y="340644"/>
                </a:lnTo>
                <a:lnTo>
                  <a:pt x="0" y="340644"/>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10" name="Freeform 10"/>
          <p:cNvSpPr/>
          <p:nvPr/>
        </p:nvSpPr>
        <p:spPr>
          <a:xfrm rot="-2430465">
            <a:off x="12534652" y="8130991"/>
            <a:ext cx="2687366" cy="3161185"/>
          </a:xfrm>
          <a:custGeom>
            <a:avLst/>
            <a:gdLst/>
            <a:ahLst/>
            <a:cxnLst/>
            <a:rect l="l" t="t" r="r" b="b"/>
            <a:pathLst>
              <a:path w="2687366" h="3161185">
                <a:moveTo>
                  <a:pt x="0" y="0"/>
                </a:moveTo>
                <a:lnTo>
                  <a:pt x="2687366" y="0"/>
                </a:lnTo>
                <a:lnTo>
                  <a:pt x="2687366" y="3161184"/>
                </a:lnTo>
                <a:lnTo>
                  <a:pt x="0" y="316118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1" name="Freeform 11"/>
          <p:cNvSpPr/>
          <p:nvPr/>
        </p:nvSpPr>
        <p:spPr>
          <a:xfrm rot="-9665480">
            <a:off x="12174311" y="-2057400"/>
            <a:ext cx="6931186" cy="4114800"/>
          </a:xfrm>
          <a:custGeom>
            <a:avLst/>
            <a:gdLst/>
            <a:ahLst/>
            <a:cxnLst/>
            <a:rect l="l" t="t" r="r" b="b"/>
            <a:pathLst>
              <a:path w="6931186" h="4114800">
                <a:moveTo>
                  <a:pt x="0" y="0"/>
                </a:moveTo>
                <a:lnTo>
                  <a:pt x="6931185" y="0"/>
                </a:lnTo>
                <a:lnTo>
                  <a:pt x="6931185"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2" name="Freeform 12"/>
          <p:cNvSpPr/>
          <p:nvPr/>
        </p:nvSpPr>
        <p:spPr>
          <a:xfrm rot="-7648490">
            <a:off x="-3064074" y="-1234550"/>
            <a:ext cx="5669449" cy="5348714"/>
          </a:xfrm>
          <a:custGeom>
            <a:avLst/>
            <a:gdLst/>
            <a:ahLst/>
            <a:cxnLst/>
            <a:rect l="l" t="t" r="r" b="b"/>
            <a:pathLst>
              <a:path w="5669449" h="5348714">
                <a:moveTo>
                  <a:pt x="0" y="0"/>
                </a:moveTo>
                <a:lnTo>
                  <a:pt x="5669449" y="0"/>
                </a:lnTo>
                <a:lnTo>
                  <a:pt x="5669449" y="5348715"/>
                </a:lnTo>
                <a:lnTo>
                  <a:pt x="0" y="5348715"/>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3" name="Freeform 13"/>
          <p:cNvSpPr/>
          <p:nvPr/>
        </p:nvSpPr>
        <p:spPr>
          <a:xfrm rot="-10800000">
            <a:off x="14828420" y="4347364"/>
            <a:ext cx="2808270" cy="1592273"/>
          </a:xfrm>
          <a:custGeom>
            <a:avLst/>
            <a:gdLst/>
            <a:ahLst/>
            <a:cxnLst/>
            <a:rect l="l" t="t" r="r" b="b"/>
            <a:pathLst>
              <a:path w="2808270" h="1592273">
                <a:moveTo>
                  <a:pt x="0" y="0"/>
                </a:moveTo>
                <a:lnTo>
                  <a:pt x="2808270" y="0"/>
                </a:lnTo>
                <a:lnTo>
                  <a:pt x="2808270" y="1592272"/>
                </a:lnTo>
                <a:lnTo>
                  <a:pt x="0" y="159227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6" name="Freeform 16"/>
          <p:cNvSpPr/>
          <p:nvPr/>
        </p:nvSpPr>
        <p:spPr>
          <a:xfrm rot="2761435">
            <a:off x="7377228" y="8516603"/>
            <a:ext cx="3718326" cy="4017838"/>
          </a:xfrm>
          <a:custGeom>
            <a:avLst/>
            <a:gdLst/>
            <a:ahLst/>
            <a:cxnLst/>
            <a:rect l="l" t="t" r="r" b="b"/>
            <a:pathLst>
              <a:path w="3718326" h="4017838">
                <a:moveTo>
                  <a:pt x="0" y="0"/>
                </a:moveTo>
                <a:lnTo>
                  <a:pt x="3718326" y="0"/>
                </a:lnTo>
                <a:lnTo>
                  <a:pt x="3718326" y="4017838"/>
                </a:lnTo>
                <a:lnTo>
                  <a:pt x="0" y="401783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7" name="Freeform 17"/>
          <p:cNvSpPr/>
          <p:nvPr/>
        </p:nvSpPr>
        <p:spPr>
          <a:xfrm>
            <a:off x="4214456" y="7596983"/>
            <a:ext cx="10093175" cy="340645"/>
          </a:xfrm>
          <a:custGeom>
            <a:avLst/>
            <a:gdLst/>
            <a:ahLst/>
            <a:cxnLst/>
            <a:rect l="l" t="t" r="r" b="b"/>
            <a:pathLst>
              <a:path w="10093175" h="340645">
                <a:moveTo>
                  <a:pt x="0" y="0"/>
                </a:moveTo>
                <a:lnTo>
                  <a:pt x="10093174" y="0"/>
                </a:lnTo>
                <a:lnTo>
                  <a:pt x="10093174" y="340645"/>
                </a:lnTo>
                <a:lnTo>
                  <a:pt x="0" y="340645"/>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18" name="Freeform 18"/>
          <p:cNvSpPr/>
          <p:nvPr/>
        </p:nvSpPr>
        <p:spPr>
          <a:xfrm>
            <a:off x="2352226" y="1577246"/>
            <a:ext cx="573466" cy="604775"/>
          </a:xfrm>
          <a:custGeom>
            <a:avLst/>
            <a:gdLst/>
            <a:ahLst/>
            <a:cxnLst/>
            <a:rect l="l" t="t" r="r" b="b"/>
            <a:pathLst>
              <a:path w="573466" h="604775">
                <a:moveTo>
                  <a:pt x="0" y="0"/>
                </a:moveTo>
                <a:lnTo>
                  <a:pt x="573466" y="0"/>
                </a:lnTo>
                <a:lnTo>
                  <a:pt x="573466" y="604775"/>
                </a:lnTo>
                <a:lnTo>
                  <a:pt x="0" y="604775"/>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sp>
        <p:nvSpPr>
          <p:cNvPr id="19" name="Freeform 19"/>
          <p:cNvSpPr/>
          <p:nvPr/>
        </p:nvSpPr>
        <p:spPr>
          <a:xfrm>
            <a:off x="1242616" y="7596983"/>
            <a:ext cx="573466" cy="604775"/>
          </a:xfrm>
          <a:custGeom>
            <a:avLst/>
            <a:gdLst/>
            <a:ahLst/>
            <a:cxnLst/>
            <a:rect l="l" t="t" r="r" b="b"/>
            <a:pathLst>
              <a:path w="573466" h="604775">
                <a:moveTo>
                  <a:pt x="0" y="0"/>
                </a:moveTo>
                <a:lnTo>
                  <a:pt x="573466" y="0"/>
                </a:lnTo>
                <a:lnTo>
                  <a:pt x="573466" y="604775"/>
                </a:lnTo>
                <a:lnTo>
                  <a:pt x="0" y="604775"/>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sp>
        <p:nvSpPr>
          <p:cNvPr id="20" name="Freeform 20"/>
          <p:cNvSpPr/>
          <p:nvPr/>
        </p:nvSpPr>
        <p:spPr>
          <a:xfrm>
            <a:off x="16521795" y="2464662"/>
            <a:ext cx="573466" cy="604775"/>
          </a:xfrm>
          <a:custGeom>
            <a:avLst/>
            <a:gdLst/>
            <a:ahLst/>
            <a:cxnLst/>
            <a:rect l="l" t="t" r="r" b="b"/>
            <a:pathLst>
              <a:path w="573466" h="604775">
                <a:moveTo>
                  <a:pt x="0" y="0"/>
                </a:moveTo>
                <a:lnTo>
                  <a:pt x="573466" y="0"/>
                </a:lnTo>
                <a:lnTo>
                  <a:pt x="573466" y="604774"/>
                </a:lnTo>
                <a:lnTo>
                  <a:pt x="0" y="604774"/>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sp>
        <p:nvSpPr>
          <p:cNvPr id="21" name="Freeform 21"/>
          <p:cNvSpPr/>
          <p:nvPr/>
        </p:nvSpPr>
        <p:spPr>
          <a:xfrm>
            <a:off x="15353171" y="7937628"/>
            <a:ext cx="573466" cy="604775"/>
          </a:xfrm>
          <a:custGeom>
            <a:avLst/>
            <a:gdLst/>
            <a:ahLst/>
            <a:cxnLst/>
            <a:rect l="l" t="t" r="r" b="b"/>
            <a:pathLst>
              <a:path w="573466" h="604775">
                <a:moveTo>
                  <a:pt x="0" y="0"/>
                </a:moveTo>
                <a:lnTo>
                  <a:pt x="573466" y="0"/>
                </a:lnTo>
                <a:lnTo>
                  <a:pt x="573466" y="604775"/>
                </a:lnTo>
                <a:lnTo>
                  <a:pt x="0" y="604775"/>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sp>
        <p:nvSpPr>
          <p:cNvPr id="22" name="Freeform 22"/>
          <p:cNvSpPr/>
          <p:nvPr/>
        </p:nvSpPr>
        <p:spPr>
          <a:xfrm rot="-2430465">
            <a:off x="14471454" y="670140"/>
            <a:ext cx="1764035" cy="2075058"/>
          </a:xfrm>
          <a:custGeom>
            <a:avLst/>
            <a:gdLst/>
            <a:ahLst/>
            <a:cxnLst/>
            <a:rect l="l" t="t" r="r" b="b"/>
            <a:pathLst>
              <a:path w="1764035" h="2075058">
                <a:moveTo>
                  <a:pt x="0" y="0"/>
                </a:moveTo>
                <a:lnTo>
                  <a:pt x="1764036" y="0"/>
                </a:lnTo>
                <a:lnTo>
                  <a:pt x="1764036" y="2075058"/>
                </a:lnTo>
                <a:lnTo>
                  <a:pt x="0" y="2075058"/>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23" name="Freeform 23"/>
          <p:cNvSpPr/>
          <p:nvPr/>
        </p:nvSpPr>
        <p:spPr>
          <a:xfrm rot="-2430465">
            <a:off x="2036870" y="7544794"/>
            <a:ext cx="1777644" cy="2091066"/>
          </a:xfrm>
          <a:custGeom>
            <a:avLst/>
            <a:gdLst/>
            <a:ahLst/>
            <a:cxnLst/>
            <a:rect l="l" t="t" r="r" b="b"/>
            <a:pathLst>
              <a:path w="1777644" h="2091066">
                <a:moveTo>
                  <a:pt x="0" y="0"/>
                </a:moveTo>
                <a:lnTo>
                  <a:pt x="1777644" y="0"/>
                </a:lnTo>
                <a:lnTo>
                  <a:pt x="1777644" y="2091066"/>
                </a:lnTo>
                <a:lnTo>
                  <a:pt x="0" y="2091066"/>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p:cNvSpPr txBox="1"/>
          <p:nvPr/>
        </p:nvSpPr>
        <p:spPr>
          <a:xfrm>
            <a:off x="4670386" y="584476"/>
            <a:ext cx="11880560" cy="974626"/>
          </a:xfrm>
          <a:prstGeom prst="rect">
            <a:avLst/>
          </a:prstGeom>
        </p:spPr>
        <p:txBody>
          <a:bodyPr wrap="square" lIns="0" tIns="0" rIns="0" bIns="0" rtlCol="0" anchor="t">
            <a:spAutoFit/>
          </a:bodyPr>
          <a:lstStyle/>
          <a:p>
            <a:pPr algn="l">
              <a:lnSpc>
                <a:spcPts val="7613"/>
              </a:lnSpc>
            </a:pPr>
            <a:r>
              <a:rPr lang="en-US" sz="7200" dirty="0">
                <a:solidFill>
                  <a:srgbClr val="000000"/>
                </a:solidFill>
                <a:latin typeface="Monkey"/>
                <a:ea typeface="Monkey"/>
                <a:cs typeface="Monkey"/>
                <a:sym typeface="Monkey"/>
              </a:rPr>
              <a:t> </a:t>
            </a:r>
          </a:p>
        </p:txBody>
      </p:sp>
      <p:sp>
        <p:nvSpPr>
          <p:cNvPr id="8" name="Freeform 8"/>
          <p:cNvSpPr/>
          <p:nvPr/>
        </p:nvSpPr>
        <p:spPr>
          <a:xfrm>
            <a:off x="378329" y="355319"/>
            <a:ext cx="2808270" cy="1592273"/>
          </a:xfrm>
          <a:custGeom>
            <a:avLst/>
            <a:gdLst/>
            <a:ahLst/>
            <a:cxnLst/>
            <a:rect l="l" t="t" r="r" b="b"/>
            <a:pathLst>
              <a:path w="2808270" h="1592273">
                <a:moveTo>
                  <a:pt x="0" y="0"/>
                </a:moveTo>
                <a:lnTo>
                  <a:pt x="2808270" y="0"/>
                </a:lnTo>
                <a:lnTo>
                  <a:pt x="2808270" y="1592273"/>
                </a:lnTo>
                <a:lnTo>
                  <a:pt x="0" y="159227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9" name="Freeform 9"/>
          <p:cNvSpPr/>
          <p:nvPr/>
        </p:nvSpPr>
        <p:spPr>
          <a:xfrm rot="-2430465">
            <a:off x="15133923" y="161672"/>
            <a:ext cx="2465428" cy="2900117"/>
          </a:xfrm>
          <a:custGeom>
            <a:avLst/>
            <a:gdLst/>
            <a:ahLst/>
            <a:cxnLst/>
            <a:rect l="l" t="t" r="r" b="b"/>
            <a:pathLst>
              <a:path w="2465428" h="2900117">
                <a:moveTo>
                  <a:pt x="0" y="0"/>
                </a:moveTo>
                <a:lnTo>
                  <a:pt x="2465428" y="0"/>
                </a:lnTo>
                <a:lnTo>
                  <a:pt x="2465428" y="2900117"/>
                </a:lnTo>
                <a:lnTo>
                  <a:pt x="0" y="290011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0" name="Freeform 10"/>
          <p:cNvSpPr/>
          <p:nvPr/>
        </p:nvSpPr>
        <p:spPr>
          <a:xfrm rot="-2430465">
            <a:off x="74743" y="7718088"/>
            <a:ext cx="2465428" cy="2900117"/>
          </a:xfrm>
          <a:custGeom>
            <a:avLst/>
            <a:gdLst/>
            <a:ahLst/>
            <a:cxnLst/>
            <a:rect l="l" t="t" r="r" b="b"/>
            <a:pathLst>
              <a:path w="2465428" h="2900117">
                <a:moveTo>
                  <a:pt x="0" y="0"/>
                </a:moveTo>
                <a:lnTo>
                  <a:pt x="2465429" y="0"/>
                </a:lnTo>
                <a:lnTo>
                  <a:pt x="2465429" y="2900117"/>
                </a:lnTo>
                <a:lnTo>
                  <a:pt x="0" y="290011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Freeform 11"/>
          <p:cNvSpPr/>
          <p:nvPr/>
        </p:nvSpPr>
        <p:spPr>
          <a:xfrm>
            <a:off x="1020724" y="6057900"/>
            <a:ext cx="573466" cy="604775"/>
          </a:xfrm>
          <a:custGeom>
            <a:avLst/>
            <a:gdLst/>
            <a:ahLst/>
            <a:cxnLst/>
            <a:rect l="l" t="t" r="r" b="b"/>
            <a:pathLst>
              <a:path w="573466" h="604775">
                <a:moveTo>
                  <a:pt x="0" y="0"/>
                </a:moveTo>
                <a:lnTo>
                  <a:pt x="573465" y="0"/>
                </a:lnTo>
                <a:lnTo>
                  <a:pt x="573465" y="604775"/>
                </a:lnTo>
                <a:lnTo>
                  <a:pt x="0" y="604775"/>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s-ES" dirty="0"/>
          </a:p>
        </p:txBody>
      </p:sp>
      <p:sp>
        <p:nvSpPr>
          <p:cNvPr id="13" name="Freeform 13"/>
          <p:cNvSpPr/>
          <p:nvPr/>
        </p:nvSpPr>
        <p:spPr>
          <a:xfrm>
            <a:off x="16905630" y="7747368"/>
            <a:ext cx="573466" cy="604775"/>
          </a:xfrm>
          <a:custGeom>
            <a:avLst/>
            <a:gdLst/>
            <a:ahLst/>
            <a:cxnLst/>
            <a:rect l="l" t="t" r="r" b="b"/>
            <a:pathLst>
              <a:path w="573466" h="604775">
                <a:moveTo>
                  <a:pt x="0" y="0"/>
                </a:moveTo>
                <a:lnTo>
                  <a:pt x="573466" y="0"/>
                </a:lnTo>
                <a:lnTo>
                  <a:pt x="573466" y="604774"/>
                </a:lnTo>
                <a:lnTo>
                  <a:pt x="0" y="60477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4" name="Freeform 14"/>
          <p:cNvSpPr/>
          <p:nvPr/>
        </p:nvSpPr>
        <p:spPr>
          <a:xfrm>
            <a:off x="16291922" y="8653525"/>
            <a:ext cx="573466" cy="604775"/>
          </a:xfrm>
          <a:custGeom>
            <a:avLst/>
            <a:gdLst/>
            <a:ahLst/>
            <a:cxnLst/>
            <a:rect l="l" t="t" r="r" b="b"/>
            <a:pathLst>
              <a:path w="573466" h="604775">
                <a:moveTo>
                  <a:pt x="0" y="0"/>
                </a:moveTo>
                <a:lnTo>
                  <a:pt x="573465" y="0"/>
                </a:lnTo>
                <a:lnTo>
                  <a:pt x="573465" y="604775"/>
                </a:lnTo>
                <a:lnTo>
                  <a:pt x="0" y="604775"/>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5" name="CuadroTexto 14">
            <a:extLst>
              <a:ext uri="{FF2B5EF4-FFF2-40B4-BE49-F238E27FC236}">
                <a16:creationId xmlns:a16="http://schemas.microsoft.com/office/drawing/2014/main" id="{4ABD624F-8045-16D3-CC4F-CDF8B76DBEBF}"/>
              </a:ext>
            </a:extLst>
          </p:cNvPr>
          <p:cNvSpPr txBox="1"/>
          <p:nvPr/>
        </p:nvSpPr>
        <p:spPr>
          <a:xfrm>
            <a:off x="1782464" y="2823554"/>
            <a:ext cx="13990936" cy="3346301"/>
          </a:xfrm>
          <a:prstGeom prst="rect">
            <a:avLst/>
          </a:prstGeom>
          <a:noFill/>
        </p:spPr>
        <p:txBody>
          <a:bodyPr wrap="square" rtlCol="0">
            <a:spAutoFit/>
          </a:bodyPr>
          <a:lstStyle/>
          <a:p>
            <a:pPr algn="just">
              <a:lnSpc>
                <a:spcPct val="150000"/>
              </a:lnSpc>
            </a:pPr>
            <a:r>
              <a:rPr lang="es-ES" sz="2400" dirty="0">
                <a:latin typeface="Berlin Sans FB" panose="020E0602020502020306" pitchFamily="34" charset="0"/>
              </a:rPr>
              <a:t>En esta práctica se desarrolló un sistema con arquitectura de microservicios, utilizando Spring </a:t>
            </a:r>
            <a:r>
              <a:rPr lang="es-ES" sz="2400" dirty="0" err="1">
                <a:latin typeface="Berlin Sans FB" panose="020E0602020502020306" pitchFamily="34" charset="0"/>
              </a:rPr>
              <a:t>Boot</a:t>
            </a:r>
            <a:r>
              <a:rPr lang="es-ES" sz="2400" dirty="0">
                <a:latin typeface="Berlin Sans FB" panose="020E0602020502020306" pitchFamily="34" charset="0"/>
              </a:rPr>
              <a:t> para el </a:t>
            </a:r>
            <a:r>
              <a:rPr lang="es-ES" sz="2400" dirty="0" err="1">
                <a:latin typeface="Berlin Sans FB" panose="020E0602020502020306" pitchFamily="34" charset="0"/>
              </a:rPr>
              <a:t>backend</a:t>
            </a:r>
            <a:r>
              <a:rPr lang="es-ES" sz="2400" dirty="0">
                <a:latin typeface="Berlin Sans FB" panose="020E0602020502020306" pitchFamily="34" charset="0"/>
              </a:rPr>
              <a:t> y Angular para el </a:t>
            </a:r>
            <a:r>
              <a:rPr lang="es-ES" sz="2400" dirty="0" err="1">
                <a:latin typeface="Berlin Sans FB" panose="020E0602020502020306" pitchFamily="34" charset="0"/>
              </a:rPr>
              <a:t>frontend</a:t>
            </a:r>
            <a:r>
              <a:rPr lang="es-ES" sz="2400" dirty="0">
                <a:latin typeface="Berlin Sans FB" panose="020E0602020502020306" pitchFamily="34" charset="0"/>
              </a:rPr>
              <a:t>. El objetivo fue comprender la comunicación, configuración y despliegue de los microservicios mediante herramientas modernas. Se implementaron los servicios Gateway, Eureka, </a:t>
            </a:r>
            <a:r>
              <a:rPr lang="es-ES" sz="2400" dirty="0" err="1">
                <a:latin typeface="Berlin Sans FB" panose="020E0602020502020306" pitchFamily="34" charset="0"/>
              </a:rPr>
              <a:t>Config</a:t>
            </a:r>
            <a:r>
              <a:rPr lang="es-ES" sz="2400" dirty="0">
                <a:latin typeface="Berlin Sans FB" panose="020E0602020502020306" pitchFamily="34" charset="0"/>
              </a:rPr>
              <a:t>, </a:t>
            </a:r>
            <a:r>
              <a:rPr lang="es-ES" sz="2400" dirty="0" err="1">
                <a:latin typeface="Berlin Sans FB" panose="020E0602020502020306" pitchFamily="34" charset="0"/>
              </a:rPr>
              <a:t>Students</a:t>
            </a:r>
            <a:r>
              <a:rPr lang="es-ES" sz="2400" dirty="0">
                <a:latin typeface="Berlin Sans FB" panose="020E0602020502020306" pitchFamily="34" charset="0"/>
              </a:rPr>
              <a:t> y Curso, cada uno con funciones específicas. Además, se usaron contenedores Docker para las bases de datos: MySQL (</a:t>
            </a:r>
            <a:r>
              <a:rPr lang="es-ES" sz="2400" dirty="0" err="1">
                <a:latin typeface="Berlin Sans FB" panose="020E0602020502020306" pitchFamily="34" charset="0"/>
              </a:rPr>
              <a:t>Students</a:t>
            </a:r>
            <a:r>
              <a:rPr lang="es-ES" sz="2400" dirty="0">
                <a:latin typeface="Berlin Sans FB" panose="020E0602020502020306" pitchFamily="34" charset="0"/>
              </a:rPr>
              <a:t>) y PostgreSQL (Curso), logrando una infraestructura modular, escalable y de fácil mantenimiento.</a:t>
            </a:r>
          </a:p>
        </p:txBody>
      </p:sp>
      <p:sp>
        <p:nvSpPr>
          <p:cNvPr id="3" name="CuadroTexto 2">
            <a:extLst>
              <a:ext uri="{FF2B5EF4-FFF2-40B4-BE49-F238E27FC236}">
                <a16:creationId xmlns:a16="http://schemas.microsoft.com/office/drawing/2014/main" id="{BAF68E13-AEF2-A666-5715-111F30C206BF}"/>
              </a:ext>
            </a:extLst>
          </p:cNvPr>
          <p:cNvSpPr txBox="1"/>
          <p:nvPr/>
        </p:nvSpPr>
        <p:spPr>
          <a:xfrm>
            <a:off x="4423410" y="906310"/>
            <a:ext cx="9441180" cy="1138773"/>
          </a:xfrm>
          <a:prstGeom prst="rect">
            <a:avLst/>
          </a:prstGeom>
          <a:noFill/>
        </p:spPr>
        <p:txBody>
          <a:bodyPr wrap="square">
            <a:spAutoFit/>
          </a:bodyPr>
          <a:lstStyle/>
          <a:p>
            <a:r>
              <a:rPr lang="es-MX" sz="6800" dirty="0">
                <a:latin typeface="Berlin Sans FB" panose="020E0602020502020306" pitchFamily="34" charset="0"/>
              </a:rPr>
              <a:t>Introducción</a:t>
            </a:r>
            <a:endParaRPr lang="es-ES" sz="6800" dirty="0">
              <a:latin typeface="Berlin Sans FB" panose="020E0602020502020306"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reeform 8"/>
          <p:cNvSpPr/>
          <p:nvPr/>
        </p:nvSpPr>
        <p:spPr>
          <a:xfrm rot="7462734" flipH="1">
            <a:off x="14924124" y="-1879107"/>
            <a:ext cx="6727751" cy="6347146"/>
          </a:xfrm>
          <a:custGeom>
            <a:avLst/>
            <a:gdLst/>
            <a:ahLst/>
            <a:cxnLst/>
            <a:rect l="l" t="t" r="r" b="b"/>
            <a:pathLst>
              <a:path w="6727751" h="6347146">
                <a:moveTo>
                  <a:pt x="6727752" y="0"/>
                </a:moveTo>
                <a:lnTo>
                  <a:pt x="0" y="0"/>
                </a:lnTo>
                <a:lnTo>
                  <a:pt x="0" y="6347146"/>
                </a:lnTo>
                <a:lnTo>
                  <a:pt x="6727752" y="6347146"/>
                </a:lnTo>
                <a:lnTo>
                  <a:pt x="6727752"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9" name="Freeform 9"/>
          <p:cNvSpPr/>
          <p:nvPr/>
        </p:nvSpPr>
        <p:spPr>
          <a:xfrm rot="-3089871" flipH="1">
            <a:off x="-3403198" y="5826931"/>
            <a:ext cx="6806396" cy="6421342"/>
          </a:xfrm>
          <a:custGeom>
            <a:avLst/>
            <a:gdLst/>
            <a:ahLst/>
            <a:cxnLst/>
            <a:rect l="l" t="t" r="r" b="b"/>
            <a:pathLst>
              <a:path w="6806396" h="6421342">
                <a:moveTo>
                  <a:pt x="6806396" y="0"/>
                </a:moveTo>
                <a:lnTo>
                  <a:pt x="0" y="0"/>
                </a:lnTo>
                <a:lnTo>
                  <a:pt x="0" y="6421343"/>
                </a:lnTo>
                <a:lnTo>
                  <a:pt x="6806396" y="6421343"/>
                </a:lnTo>
                <a:lnTo>
                  <a:pt x="6806396"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0" name="Freeform 10"/>
          <p:cNvSpPr/>
          <p:nvPr/>
        </p:nvSpPr>
        <p:spPr>
          <a:xfrm>
            <a:off x="16536879" y="5560357"/>
            <a:ext cx="573466" cy="604775"/>
          </a:xfrm>
          <a:custGeom>
            <a:avLst/>
            <a:gdLst/>
            <a:ahLst/>
            <a:cxnLst/>
            <a:rect l="l" t="t" r="r" b="b"/>
            <a:pathLst>
              <a:path w="573466" h="604775">
                <a:moveTo>
                  <a:pt x="0" y="0"/>
                </a:moveTo>
                <a:lnTo>
                  <a:pt x="573466" y="0"/>
                </a:lnTo>
                <a:lnTo>
                  <a:pt x="573466" y="604775"/>
                </a:lnTo>
                <a:lnTo>
                  <a:pt x="0" y="60477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1" name="Freeform 11"/>
          <p:cNvSpPr/>
          <p:nvPr/>
        </p:nvSpPr>
        <p:spPr>
          <a:xfrm>
            <a:off x="15743700" y="4586146"/>
            <a:ext cx="573466" cy="604775"/>
          </a:xfrm>
          <a:custGeom>
            <a:avLst/>
            <a:gdLst/>
            <a:ahLst/>
            <a:cxnLst/>
            <a:rect l="l" t="t" r="r" b="b"/>
            <a:pathLst>
              <a:path w="573466" h="604775">
                <a:moveTo>
                  <a:pt x="0" y="0"/>
                </a:moveTo>
                <a:lnTo>
                  <a:pt x="573466" y="0"/>
                </a:lnTo>
                <a:lnTo>
                  <a:pt x="573466" y="604775"/>
                </a:lnTo>
                <a:lnTo>
                  <a:pt x="0" y="60477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2" name="Freeform 12"/>
          <p:cNvSpPr/>
          <p:nvPr/>
        </p:nvSpPr>
        <p:spPr>
          <a:xfrm>
            <a:off x="1803073" y="5448300"/>
            <a:ext cx="573466" cy="604775"/>
          </a:xfrm>
          <a:custGeom>
            <a:avLst/>
            <a:gdLst/>
            <a:ahLst/>
            <a:cxnLst/>
            <a:rect l="l" t="t" r="r" b="b"/>
            <a:pathLst>
              <a:path w="573466" h="604775">
                <a:moveTo>
                  <a:pt x="0" y="0"/>
                </a:moveTo>
                <a:lnTo>
                  <a:pt x="573466" y="0"/>
                </a:lnTo>
                <a:lnTo>
                  <a:pt x="573466" y="604775"/>
                </a:lnTo>
                <a:lnTo>
                  <a:pt x="0" y="60477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3" name="Freeform 13"/>
          <p:cNvSpPr/>
          <p:nvPr/>
        </p:nvSpPr>
        <p:spPr>
          <a:xfrm>
            <a:off x="914400" y="3770752"/>
            <a:ext cx="573466" cy="604775"/>
          </a:xfrm>
          <a:custGeom>
            <a:avLst/>
            <a:gdLst/>
            <a:ahLst/>
            <a:cxnLst/>
            <a:rect l="l" t="t" r="r" b="b"/>
            <a:pathLst>
              <a:path w="573466" h="604775">
                <a:moveTo>
                  <a:pt x="0" y="0"/>
                </a:moveTo>
                <a:lnTo>
                  <a:pt x="573466" y="0"/>
                </a:lnTo>
                <a:lnTo>
                  <a:pt x="573466" y="604775"/>
                </a:lnTo>
                <a:lnTo>
                  <a:pt x="0" y="60477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4" name="Freeform 14"/>
          <p:cNvSpPr/>
          <p:nvPr/>
        </p:nvSpPr>
        <p:spPr>
          <a:xfrm>
            <a:off x="15229252" y="7357437"/>
            <a:ext cx="2030048" cy="1900863"/>
          </a:xfrm>
          <a:custGeom>
            <a:avLst/>
            <a:gdLst/>
            <a:ahLst/>
            <a:cxnLst/>
            <a:rect l="l" t="t" r="r" b="b"/>
            <a:pathLst>
              <a:path w="2030048" h="1900863">
                <a:moveTo>
                  <a:pt x="0" y="0"/>
                </a:moveTo>
                <a:lnTo>
                  <a:pt x="2030048" y="0"/>
                </a:lnTo>
                <a:lnTo>
                  <a:pt x="2030048" y="1900863"/>
                </a:lnTo>
                <a:lnTo>
                  <a:pt x="0" y="190086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5" name="Freeform 15"/>
          <p:cNvSpPr/>
          <p:nvPr/>
        </p:nvSpPr>
        <p:spPr>
          <a:xfrm>
            <a:off x="701386" y="551400"/>
            <a:ext cx="2030048" cy="1900863"/>
          </a:xfrm>
          <a:custGeom>
            <a:avLst/>
            <a:gdLst/>
            <a:ahLst/>
            <a:cxnLst/>
            <a:rect l="l" t="t" r="r" b="b"/>
            <a:pathLst>
              <a:path w="2030048" h="1900863">
                <a:moveTo>
                  <a:pt x="0" y="0"/>
                </a:moveTo>
                <a:lnTo>
                  <a:pt x="2030047" y="0"/>
                </a:lnTo>
                <a:lnTo>
                  <a:pt x="2030047" y="1900863"/>
                </a:lnTo>
                <a:lnTo>
                  <a:pt x="0" y="190086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2" name="Google Shape;392;p64">
            <a:extLst>
              <a:ext uri="{FF2B5EF4-FFF2-40B4-BE49-F238E27FC236}">
                <a16:creationId xmlns:a16="http://schemas.microsoft.com/office/drawing/2014/main" id="{F5528C47-CA68-4981-3663-075D160DE501}"/>
              </a:ext>
            </a:extLst>
          </p:cNvPr>
          <p:cNvSpPr txBox="1">
            <a:spLocks/>
          </p:cNvSpPr>
          <p:nvPr/>
        </p:nvSpPr>
        <p:spPr>
          <a:xfrm>
            <a:off x="3886200" y="980666"/>
            <a:ext cx="5589920" cy="627600"/>
          </a:xfrm>
          <a:prstGeom prst="rect">
            <a:avLst/>
          </a:prstGeom>
        </p:spPr>
        <p:txBody>
          <a:bodyPr spcFirstLastPara="1" wrap="square" lIns="91425" tIns="91425" rIns="91425" bIns="91425" anchor="ctr" anchorCtr="0">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s-MX" sz="6800" dirty="0">
                <a:latin typeface="Berlin Sans FB" panose="020E0602020502020306" pitchFamily="34" charset="0"/>
              </a:rPr>
              <a:t>Justificación</a:t>
            </a:r>
            <a:r>
              <a:rPr lang="es-MX" dirty="0"/>
              <a:t> </a:t>
            </a:r>
          </a:p>
        </p:txBody>
      </p:sp>
      <p:sp>
        <p:nvSpPr>
          <p:cNvPr id="5" name="CuadroTexto 4">
            <a:extLst>
              <a:ext uri="{FF2B5EF4-FFF2-40B4-BE49-F238E27FC236}">
                <a16:creationId xmlns:a16="http://schemas.microsoft.com/office/drawing/2014/main" id="{241365B3-29E6-4A41-B93F-32115A3EC242}"/>
              </a:ext>
            </a:extLst>
          </p:cNvPr>
          <p:cNvSpPr txBox="1"/>
          <p:nvPr/>
        </p:nvSpPr>
        <p:spPr>
          <a:xfrm>
            <a:off x="2731434" y="2709793"/>
            <a:ext cx="12642272" cy="3900298"/>
          </a:xfrm>
          <a:prstGeom prst="rect">
            <a:avLst/>
          </a:prstGeom>
          <a:noFill/>
        </p:spPr>
        <p:txBody>
          <a:bodyPr wrap="square">
            <a:spAutoFit/>
          </a:bodyPr>
          <a:lstStyle/>
          <a:p>
            <a:pPr algn="just">
              <a:lnSpc>
                <a:spcPct val="150000"/>
              </a:lnSpc>
            </a:pPr>
            <a:r>
              <a:rPr lang="es-ES" sz="2400" dirty="0">
                <a:latin typeface="Berlin Sans FB" panose="020E0602020502020306" pitchFamily="34" charset="0"/>
              </a:rPr>
              <a:t>la integración con Angular permitió verificar el funcionamiento completo del sistema, desde la base de datos hasta la capa de presentación. Esta práctica tuvo como objetivo aplicar los conocimientos sobre arquitecturas distribuidas, enfocándose en los microservicios, una solución ampliamente utilizada en el desarrollo de aplicaciones empresariales. Con Spring </a:t>
            </a:r>
            <a:r>
              <a:rPr lang="es-ES" sz="2400" dirty="0" err="1">
                <a:latin typeface="Berlin Sans FB" panose="020E0602020502020306" pitchFamily="34" charset="0"/>
              </a:rPr>
              <a:t>Boot</a:t>
            </a:r>
            <a:r>
              <a:rPr lang="es-ES" sz="2400" dirty="0">
                <a:latin typeface="Berlin Sans FB" panose="020E0602020502020306" pitchFamily="34" charset="0"/>
              </a:rPr>
              <a:t> se crearon microservicios independientes que se comunican entre sí mediante Eureka y el API Gateway. El uso de Docker permitió aislar los entornos de las bases de datos, asegurando portabilidad y evitando conflictos. Finalmente,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reeform 8"/>
          <p:cNvSpPr/>
          <p:nvPr/>
        </p:nvSpPr>
        <p:spPr>
          <a:xfrm rot="2761435">
            <a:off x="7430449" y="-2389394"/>
            <a:ext cx="3718326" cy="4017838"/>
          </a:xfrm>
          <a:custGeom>
            <a:avLst/>
            <a:gdLst/>
            <a:ahLst/>
            <a:cxnLst/>
            <a:rect l="l" t="t" r="r" b="b"/>
            <a:pathLst>
              <a:path w="3718326" h="4017838">
                <a:moveTo>
                  <a:pt x="0" y="0"/>
                </a:moveTo>
                <a:lnTo>
                  <a:pt x="3718327" y="0"/>
                </a:lnTo>
                <a:lnTo>
                  <a:pt x="3718327" y="4017838"/>
                </a:lnTo>
                <a:lnTo>
                  <a:pt x="0" y="401783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9" name="Freeform 9"/>
          <p:cNvSpPr/>
          <p:nvPr/>
        </p:nvSpPr>
        <p:spPr>
          <a:xfrm rot="-2430465">
            <a:off x="285971" y="7039840"/>
            <a:ext cx="2562779" cy="3014631"/>
          </a:xfrm>
          <a:custGeom>
            <a:avLst/>
            <a:gdLst/>
            <a:ahLst/>
            <a:cxnLst/>
            <a:rect l="l" t="t" r="r" b="b"/>
            <a:pathLst>
              <a:path w="2562779" h="3014631">
                <a:moveTo>
                  <a:pt x="0" y="0"/>
                </a:moveTo>
                <a:lnTo>
                  <a:pt x="2562779" y="0"/>
                </a:lnTo>
                <a:lnTo>
                  <a:pt x="2562779" y="3014631"/>
                </a:lnTo>
                <a:lnTo>
                  <a:pt x="0" y="301463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0" name="Freeform 10"/>
          <p:cNvSpPr/>
          <p:nvPr/>
        </p:nvSpPr>
        <p:spPr>
          <a:xfrm rot="-2430465">
            <a:off x="15260927" y="298515"/>
            <a:ext cx="2465428" cy="2900117"/>
          </a:xfrm>
          <a:custGeom>
            <a:avLst/>
            <a:gdLst/>
            <a:ahLst/>
            <a:cxnLst/>
            <a:rect l="l" t="t" r="r" b="b"/>
            <a:pathLst>
              <a:path w="2465428" h="2900117">
                <a:moveTo>
                  <a:pt x="0" y="0"/>
                </a:moveTo>
                <a:lnTo>
                  <a:pt x="2465428" y="0"/>
                </a:lnTo>
                <a:lnTo>
                  <a:pt x="2465428" y="2900116"/>
                </a:lnTo>
                <a:lnTo>
                  <a:pt x="0" y="290011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1" name="Freeform 11"/>
          <p:cNvSpPr/>
          <p:nvPr/>
        </p:nvSpPr>
        <p:spPr>
          <a:xfrm rot="2761435">
            <a:off x="7377228" y="8516603"/>
            <a:ext cx="3718326" cy="4017838"/>
          </a:xfrm>
          <a:custGeom>
            <a:avLst/>
            <a:gdLst/>
            <a:ahLst/>
            <a:cxnLst/>
            <a:rect l="l" t="t" r="r" b="b"/>
            <a:pathLst>
              <a:path w="3718326" h="4017838">
                <a:moveTo>
                  <a:pt x="0" y="0"/>
                </a:moveTo>
                <a:lnTo>
                  <a:pt x="3718326" y="0"/>
                </a:lnTo>
                <a:lnTo>
                  <a:pt x="3718326" y="4017838"/>
                </a:lnTo>
                <a:lnTo>
                  <a:pt x="0" y="401783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2" name="Freeform 12"/>
          <p:cNvSpPr/>
          <p:nvPr/>
        </p:nvSpPr>
        <p:spPr>
          <a:xfrm>
            <a:off x="1894336" y="1143798"/>
            <a:ext cx="573466" cy="604775"/>
          </a:xfrm>
          <a:custGeom>
            <a:avLst/>
            <a:gdLst/>
            <a:ahLst/>
            <a:cxnLst/>
            <a:rect l="l" t="t" r="r" b="b"/>
            <a:pathLst>
              <a:path w="573466" h="604775">
                <a:moveTo>
                  <a:pt x="0" y="0"/>
                </a:moveTo>
                <a:lnTo>
                  <a:pt x="573466" y="0"/>
                </a:lnTo>
                <a:lnTo>
                  <a:pt x="573466" y="604775"/>
                </a:lnTo>
                <a:lnTo>
                  <a:pt x="0" y="60477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3" name="Freeform 13"/>
          <p:cNvSpPr/>
          <p:nvPr/>
        </p:nvSpPr>
        <p:spPr>
          <a:xfrm>
            <a:off x="1280628" y="2049956"/>
            <a:ext cx="573466" cy="604775"/>
          </a:xfrm>
          <a:custGeom>
            <a:avLst/>
            <a:gdLst/>
            <a:ahLst/>
            <a:cxnLst/>
            <a:rect l="l" t="t" r="r" b="b"/>
            <a:pathLst>
              <a:path w="573466" h="604775">
                <a:moveTo>
                  <a:pt x="0" y="0"/>
                </a:moveTo>
                <a:lnTo>
                  <a:pt x="573466" y="0"/>
                </a:lnTo>
                <a:lnTo>
                  <a:pt x="573466" y="604775"/>
                </a:lnTo>
                <a:lnTo>
                  <a:pt x="0" y="60477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Google Shape;392;p64">
            <a:extLst>
              <a:ext uri="{FF2B5EF4-FFF2-40B4-BE49-F238E27FC236}">
                <a16:creationId xmlns:a16="http://schemas.microsoft.com/office/drawing/2014/main" id="{15D63731-E17F-E197-C1F7-2DBDC324C3BE}"/>
              </a:ext>
            </a:extLst>
          </p:cNvPr>
          <p:cNvSpPr txBox="1">
            <a:spLocks/>
          </p:cNvSpPr>
          <p:nvPr/>
        </p:nvSpPr>
        <p:spPr>
          <a:xfrm>
            <a:off x="3011152" y="964167"/>
            <a:ext cx="12217055" cy="572700"/>
          </a:xfrm>
          <a:prstGeom prst="rect">
            <a:avLst/>
          </a:prstGeom>
        </p:spPr>
        <p:txBody>
          <a:bodyPr spcFirstLastPara="1" wrap="square" lIns="91425" tIns="91425" rIns="91425" bIns="91425" anchor="ctr" anchorCtr="0">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nSpc>
                <a:spcPct val="90000"/>
              </a:lnSpc>
            </a:pPr>
            <a:r>
              <a:rPr lang="es-MX" sz="6000" dirty="0">
                <a:latin typeface="Berlin Sans FB" panose="020E0602020502020306" pitchFamily="34" charset="0"/>
              </a:rPr>
              <a:t>Creación del Proyecto Principal</a:t>
            </a:r>
          </a:p>
        </p:txBody>
      </p:sp>
      <p:sp>
        <p:nvSpPr>
          <p:cNvPr id="23" name="CuadroTexto 22">
            <a:extLst>
              <a:ext uri="{FF2B5EF4-FFF2-40B4-BE49-F238E27FC236}">
                <a16:creationId xmlns:a16="http://schemas.microsoft.com/office/drawing/2014/main" id="{5C7AFB70-49F8-D820-515C-F25A33806B0B}"/>
              </a:ext>
            </a:extLst>
          </p:cNvPr>
          <p:cNvSpPr txBox="1"/>
          <p:nvPr/>
        </p:nvSpPr>
        <p:spPr>
          <a:xfrm>
            <a:off x="1280628" y="3212619"/>
            <a:ext cx="7045036" cy="2238305"/>
          </a:xfrm>
          <a:prstGeom prst="rect">
            <a:avLst/>
          </a:prstGeom>
          <a:noFill/>
        </p:spPr>
        <p:txBody>
          <a:bodyPr wrap="square">
            <a:spAutoFit/>
          </a:bodyPr>
          <a:lstStyle/>
          <a:p>
            <a:pPr algn="just">
              <a:lnSpc>
                <a:spcPct val="150000"/>
              </a:lnSpc>
            </a:pPr>
            <a:r>
              <a:rPr lang="es-ES" sz="2400" dirty="0">
                <a:latin typeface="Berlin Sans FB" panose="020E0602020502020306" pitchFamily="34" charset="0"/>
              </a:rPr>
              <a:t>1. El primer paso consistió en crear el proyecto padre de Maven, encargado de agrupar todos los submódulos correspondientes a los microservicios. Para ello, se ejecutó el siguiente comando en la terminal.</a:t>
            </a:r>
          </a:p>
        </p:txBody>
      </p:sp>
      <p:pic>
        <p:nvPicPr>
          <p:cNvPr id="25" name="Imagen 24" descr="Captura de pantalla de un celular&#10;&#10;El contenido generado por IA puede ser incorrecto.">
            <a:extLst>
              <a:ext uri="{FF2B5EF4-FFF2-40B4-BE49-F238E27FC236}">
                <a16:creationId xmlns:a16="http://schemas.microsoft.com/office/drawing/2014/main" id="{677DB640-CF36-4713-4830-29989300D449}"/>
              </a:ext>
            </a:extLst>
          </p:cNvPr>
          <p:cNvPicPr>
            <a:picLocks noChangeAspect="1"/>
          </p:cNvPicPr>
          <p:nvPr/>
        </p:nvPicPr>
        <p:blipFill>
          <a:blip r:embed="rId8"/>
          <a:stretch>
            <a:fillRect/>
          </a:stretch>
        </p:blipFill>
        <p:spPr>
          <a:xfrm>
            <a:off x="8482546" y="3558146"/>
            <a:ext cx="9634058" cy="6021284"/>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reeform 8"/>
          <p:cNvSpPr/>
          <p:nvPr/>
        </p:nvSpPr>
        <p:spPr>
          <a:xfrm rot="2761435">
            <a:off x="7430449" y="-2389394"/>
            <a:ext cx="3718326" cy="4017838"/>
          </a:xfrm>
          <a:custGeom>
            <a:avLst/>
            <a:gdLst/>
            <a:ahLst/>
            <a:cxnLst/>
            <a:rect l="l" t="t" r="r" b="b"/>
            <a:pathLst>
              <a:path w="3718326" h="4017838">
                <a:moveTo>
                  <a:pt x="0" y="0"/>
                </a:moveTo>
                <a:lnTo>
                  <a:pt x="3718327" y="0"/>
                </a:lnTo>
                <a:lnTo>
                  <a:pt x="3718327" y="4017838"/>
                </a:lnTo>
                <a:lnTo>
                  <a:pt x="0" y="401783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9" name="Freeform 9"/>
          <p:cNvSpPr/>
          <p:nvPr/>
        </p:nvSpPr>
        <p:spPr>
          <a:xfrm rot="-2430465">
            <a:off x="285971" y="7039840"/>
            <a:ext cx="2562779" cy="3014631"/>
          </a:xfrm>
          <a:custGeom>
            <a:avLst/>
            <a:gdLst/>
            <a:ahLst/>
            <a:cxnLst/>
            <a:rect l="l" t="t" r="r" b="b"/>
            <a:pathLst>
              <a:path w="2562779" h="3014631">
                <a:moveTo>
                  <a:pt x="0" y="0"/>
                </a:moveTo>
                <a:lnTo>
                  <a:pt x="2562779" y="0"/>
                </a:lnTo>
                <a:lnTo>
                  <a:pt x="2562779" y="3014631"/>
                </a:lnTo>
                <a:lnTo>
                  <a:pt x="0" y="301463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0" name="Freeform 10"/>
          <p:cNvSpPr/>
          <p:nvPr/>
        </p:nvSpPr>
        <p:spPr>
          <a:xfrm rot="-2430465">
            <a:off x="15260927" y="298515"/>
            <a:ext cx="2465428" cy="2900117"/>
          </a:xfrm>
          <a:custGeom>
            <a:avLst/>
            <a:gdLst/>
            <a:ahLst/>
            <a:cxnLst/>
            <a:rect l="l" t="t" r="r" b="b"/>
            <a:pathLst>
              <a:path w="2465428" h="2900117">
                <a:moveTo>
                  <a:pt x="0" y="0"/>
                </a:moveTo>
                <a:lnTo>
                  <a:pt x="2465428" y="0"/>
                </a:lnTo>
                <a:lnTo>
                  <a:pt x="2465428" y="2900116"/>
                </a:lnTo>
                <a:lnTo>
                  <a:pt x="0" y="290011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1" name="Freeform 11"/>
          <p:cNvSpPr/>
          <p:nvPr/>
        </p:nvSpPr>
        <p:spPr>
          <a:xfrm rot="2761435">
            <a:off x="7377228" y="8516603"/>
            <a:ext cx="3718326" cy="4017838"/>
          </a:xfrm>
          <a:custGeom>
            <a:avLst/>
            <a:gdLst/>
            <a:ahLst/>
            <a:cxnLst/>
            <a:rect l="l" t="t" r="r" b="b"/>
            <a:pathLst>
              <a:path w="3718326" h="4017838">
                <a:moveTo>
                  <a:pt x="0" y="0"/>
                </a:moveTo>
                <a:lnTo>
                  <a:pt x="3718326" y="0"/>
                </a:lnTo>
                <a:lnTo>
                  <a:pt x="3718326" y="4017838"/>
                </a:lnTo>
                <a:lnTo>
                  <a:pt x="0" y="401783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2" name="Freeform 12"/>
          <p:cNvSpPr/>
          <p:nvPr/>
        </p:nvSpPr>
        <p:spPr>
          <a:xfrm>
            <a:off x="1894336" y="1143798"/>
            <a:ext cx="573466" cy="604775"/>
          </a:xfrm>
          <a:custGeom>
            <a:avLst/>
            <a:gdLst/>
            <a:ahLst/>
            <a:cxnLst/>
            <a:rect l="l" t="t" r="r" b="b"/>
            <a:pathLst>
              <a:path w="573466" h="604775">
                <a:moveTo>
                  <a:pt x="0" y="0"/>
                </a:moveTo>
                <a:lnTo>
                  <a:pt x="573466" y="0"/>
                </a:lnTo>
                <a:lnTo>
                  <a:pt x="573466" y="604775"/>
                </a:lnTo>
                <a:lnTo>
                  <a:pt x="0" y="60477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3" name="Freeform 13"/>
          <p:cNvSpPr/>
          <p:nvPr/>
        </p:nvSpPr>
        <p:spPr>
          <a:xfrm>
            <a:off x="1280628" y="2049956"/>
            <a:ext cx="573466" cy="604775"/>
          </a:xfrm>
          <a:custGeom>
            <a:avLst/>
            <a:gdLst/>
            <a:ahLst/>
            <a:cxnLst/>
            <a:rect l="l" t="t" r="r" b="b"/>
            <a:pathLst>
              <a:path w="573466" h="604775">
                <a:moveTo>
                  <a:pt x="0" y="0"/>
                </a:moveTo>
                <a:lnTo>
                  <a:pt x="573466" y="0"/>
                </a:lnTo>
                <a:lnTo>
                  <a:pt x="573466" y="604775"/>
                </a:lnTo>
                <a:lnTo>
                  <a:pt x="0" y="60477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23" name="CuadroTexto 22">
            <a:extLst>
              <a:ext uri="{FF2B5EF4-FFF2-40B4-BE49-F238E27FC236}">
                <a16:creationId xmlns:a16="http://schemas.microsoft.com/office/drawing/2014/main" id="{5C7AFB70-49F8-D820-515C-F25A33806B0B}"/>
              </a:ext>
            </a:extLst>
          </p:cNvPr>
          <p:cNvSpPr txBox="1"/>
          <p:nvPr/>
        </p:nvSpPr>
        <p:spPr>
          <a:xfrm>
            <a:off x="1280628" y="3212619"/>
            <a:ext cx="7045036" cy="2802370"/>
          </a:xfrm>
          <a:prstGeom prst="rect">
            <a:avLst/>
          </a:prstGeom>
          <a:noFill/>
        </p:spPr>
        <p:txBody>
          <a:bodyPr wrap="square">
            <a:spAutoFit/>
          </a:bodyPr>
          <a:lstStyle/>
          <a:p>
            <a:pPr algn="just">
              <a:lnSpc>
                <a:spcPct val="150000"/>
              </a:lnSpc>
            </a:pPr>
            <a:r>
              <a:rPr lang="es-ES" sz="2400" dirty="0">
                <a:latin typeface="Berlin Sans FB" panose="020E0602020502020306" pitchFamily="34" charset="0"/>
              </a:rPr>
              <a:t>2. Posteriormente, se utilizó Spring </a:t>
            </a:r>
            <a:r>
              <a:rPr lang="es-ES" sz="2400" dirty="0" err="1">
                <a:latin typeface="Berlin Sans FB" panose="020E0602020502020306" pitchFamily="34" charset="0"/>
              </a:rPr>
              <a:t>Initializr</a:t>
            </a:r>
            <a:r>
              <a:rPr lang="es-ES" sz="2400" dirty="0">
                <a:latin typeface="Berlin Sans FB" panose="020E0602020502020306" pitchFamily="34" charset="0"/>
              </a:rPr>
              <a:t> para generar los microservicios que conforman el sistema. Desde esta herramienta, se descargaron los proyectos correspondientes junto con sus dependencias necesarias.</a:t>
            </a:r>
          </a:p>
        </p:txBody>
      </p:sp>
      <p:sp>
        <p:nvSpPr>
          <p:cNvPr id="2" name="Google Shape;392;p64">
            <a:extLst>
              <a:ext uri="{FF2B5EF4-FFF2-40B4-BE49-F238E27FC236}">
                <a16:creationId xmlns:a16="http://schemas.microsoft.com/office/drawing/2014/main" id="{30796F42-4B3A-3823-9B02-295011F9281B}"/>
              </a:ext>
            </a:extLst>
          </p:cNvPr>
          <p:cNvSpPr txBox="1">
            <a:spLocks/>
          </p:cNvSpPr>
          <p:nvPr/>
        </p:nvSpPr>
        <p:spPr>
          <a:xfrm>
            <a:off x="3134716" y="1039502"/>
            <a:ext cx="12867283" cy="604774"/>
          </a:xfrm>
          <a:prstGeom prst="rect">
            <a:avLst/>
          </a:prstGeom>
        </p:spPr>
        <p:txBody>
          <a:bodyPr spcFirstLastPara="1" wrap="square" lIns="91425" tIns="91425" rIns="91425" bIns="91425" anchor="ctr" anchorCtr="0">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nSpc>
                <a:spcPct val="90000"/>
              </a:lnSpc>
            </a:pPr>
            <a:r>
              <a:rPr lang="es-MX" sz="6000" dirty="0">
                <a:latin typeface="Berlin Sans FB" panose="020E0602020502020306" pitchFamily="34" charset="0"/>
              </a:rPr>
              <a:t>Creación de los Módulos Hijos con Spring </a:t>
            </a:r>
            <a:r>
              <a:rPr lang="es-MX" sz="6000" dirty="0" err="1">
                <a:latin typeface="Berlin Sans FB" panose="020E0602020502020306" pitchFamily="34" charset="0"/>
              </a:rPr>
              <a:t>Initializr</a:t>
            </a:r>
            <a:endParaRPr lang="es-MX" sz="6000" dirty="0">
              <a:latin typeface="Berlin Sans FB" panose="020E0602020502020306" pitchFamily="34" charset="0"/>
            </a:endParaRPr>
          </a:p>
        </p:txBody>
      </p:sp>
      <p:pic>
        <p:nvPicPr>
          <p:cNvPr id="3" name="Imagen 2" descr="Interfaz de usuario gráfica, Texto&#10;&#10;El contenido generado por IA puede ser incorrecto.">
            <a:extLst>
              <a:ext uri="{FF2B5EF4-FFF2-40B4-BE49-F238E27FC236}">
                <a16:creationId xmlns:a16="http://schemas.microsoft.com/office/drawing/2014/main" id="{118A325D-52FC-A05C-66D9-727C6CFEB516}"/>
              </a:ext>
            </a:extLst>
          </p:cNvPr>
          <p:cNvPicPr>
            <a:picLocks noChangeAspect="1"/>
          </p:cNvPicPr>
          <p:nvPr/>
        </p:nvPicPr>
        <p:blipFill>
          <a:blip r:embed="rId8"/>
          <a:stretch>
            <a:fillRect/>
          </a:stretch>
        </p:blipFill>
        <p:spPr>
          <a:xfrm>
            <a:off x="8839200" y="3704789"/>
            <a:ext cx="8908562" cy="5011065"/>
          </a:xfrm>
          <a:prstGeom prst="rect">
            <a:avLst/>
          </a:prstGeom>
          <a:noFill/>
          <a:ln>
            <a:noFill/>
          </a:ln>
        </p:spPr>
      </p:pic>
    </p:spTree>
    <p:extLst>
      <p:ext uri="{BB962C8B-B14F-4D97-AF65-F5344CB8AC3E}">
        <p14:creationId xmlns:p14="http://schemas.microsoft.com/office/powerpoint/2010/main" val="22629714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reeform 8"/>
          <p:cNvSpPr/>
          <p:nvPr/>
        </p:nvSpPr>
        <p:spPr>
          <a:xfrm rot="2761435">
            <a:off x="7430449" y="-2389394"/>
            <a:ext cx="3718326" cy="4017838"/>
          </a:xfrm>
          <a:custGeom>
            <a:avLst/>
            <a:gdLst/>
            <a:ahLst/>
            <a:cxnLst/>
            <a:rect l="l" t="t" r="r" b="b"/>
            <a:pathLst>
              <a:path w="3718326" h="4017838">
                <a:moveTo>
                  <a:pt x="0" y="0"/>
                </a:moveTo>
                <a:lnTo>
                  <a:pt x="3718327" y="0"/>
                </a:lnTo>
                <a:lnTo>
                  <a:pt x="3718327" y="4017838"/>
                </a:lnTo>
                <a:lnTo>
                  <a:pt x="0" y="401783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9" name="Freeform 9"/>
          <p:cNvSpPr/>
          <p:nvPr/>
        </p:nvSpPr>
        <p:spPr>
          <a:xfrm rot="-2430465">
            <a:off x="285971" y="7039840"/>
            <a:ext cx="2562779" cy="3014631"/>
          </a:xfrm>
          <a:custGeom>
            <a:avLst/>
            <a:gdLst/>
            <a:ahLst/>
            <a:cxnLst/>
            <a:rect l="l" t="t" r="r" b="b"/>
            <a:pathLst>
              <a:path w="2562779" h="3014631">
                <a:moveTo>
                  <a:pt x="0" y="0"/>
                </a:moveTo>
                <a:lnTo>
                  <a:pt x="2562779" y="0"/>
                </a:lnTo>
                <a:lnTo>
                  <a:pt x="2562779" y="3014631"/>
                </a:lnTo>
                <a:lnTo>
                  <a:pt x="0" y="301463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0" name="Freeform 10"/>
          <p:cNvSpPr/>
          <p:nvPr/>
        </p:nvSpPr>
        <p:spPr>
          <a:xfrm rot="-2430465">
            <a:off x="15260927" y="298515"/>
            <a:ext cx="2465428" cy="2900117"/>
          </a:xfrm>
          <a:custGeom>
            <a:avLst/>
            <a:gdLst/>
            <a:ahLst/>
            <a:cxnLst/>
            <a:rect l="l" t="t" r="r" b="b"/>
            <a:pathLst>
              <a:path w="2465428" h="2900117">
                <a:moveTo>
                  <a:pt x="0" y="0"/>
                </a:moveTo>
                <a:lnTo>
                  <a:pt x="2465428" y="0"/>
                </a:lnTo>
                <a:lnTo>
                  <a:pt x="2465428" y="2900116"/>
                </a:lnTo>
                <a:lnTo>
                  <a:pt x="0" y="290011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1" name="Freeform 11"/>
          <p:cNvSpPr/>
          <p:nvPr/>
        </p:nvSpPr>
        <p:spPr>
          <a:xfrm rot="2761435">
            <a:off x="7377228" y="8516603"/>
            <a:ext cx="3718326" cy="4017838"/>
          </a:xfrm>
          <a:custGeom>
            <a:avLst/>
            <a:gdLst/>
            <a:ahLst/>
            <a:cxnLst/>
            <a:rect l="l" t="t" r="r" b="b"/>
            <a:pathLst>
              <a:path w="3718326" h="4017838">
                <a:moveTo>
                  <a:pt x="0" y="0"/>
                </a:moveTo>
                <a:lnTo>
                  <a:pt x="3718326" y="0"/>
                </a:lnTo>
                <a:lnTo>
                  <a:pt x="3718326" y="4017838"/>
                </a:lnTo>
                <a:lnTo>
                  <a:pt x="0" y="401783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2" name="Freeform 12"/>
          <p:cNvSpPr/>
          <p:nvPr/>
        </p:nvSpPr>
        <p:spPr>
          <a:xfrm>
            <a:off x="1894336" y="1143798"/>
            <a:ext cx="573466" cy="604775"/>
          </a:xfrm>
          <a:custGeom>
            <a:avLst/>
            <a:gdLst/>
            <a:ahLst/>
            <a:cxnLst/>
            <a:rect l="l" t="t" r="r" b="b"/>
            <a:pathLst>
              <a:path w="573466" h="604775">
                <a:moveTo>
                  <a:pt x="0" y="0"/>
                </a:moveTo>
                <a:lnTo>
                  <a:pt x="573466" y="0"/>
                </a:lnTo>
                <a:lnTo>
                  <a:pt x="573466" y="604775"/>
                </a:lnTo>
                <a:lnTo>
                  <a:pt x="0" y="60477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3" name="Freeform 13"/>
          <p:cNvSpPr/>
          <p:nvPr/>
        </p:nvSpPr>
        <p:spPr>
          <a:xfrm>
            <a:off x="893072" y="865878"/>
            <a:ext cx="573466" cy="604775"/>
          </a:xfrm>
          <a:custGeom>
            <a:avLst/>
            <a:gdLst/>
            <a:ahLst/>
            <a:cxnLst/>
            <a:rect l="l" t="t" r="r" b="b"/>
            <a:pathLst>
              <a:path w="573466" h="604775">
                <a:moveTo>
                  <a:pt x="0" y="0"/>
                </a:moveTo>
                <a:lnTo>
                  <a:pt x="573466" y="0"/>
                </a:lnTo>
                <a:lnTo>
                  <a:pt x="573466" y="604775"/>
                </a:lnTo>
                <a:lnTo>
                  <a:pt x="0" y="60477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2" name="Google Shape;392;p64">
            <a:extLst>
              <a:ext uri="{FF2B5EF4-FFF2-40B4-BE49-F238E27FC236}">
                <a16:creationId xmlns:a16="http://schemas.microsoft.com/office/drawing/2014/main" id="{30796F42-4B3A-3823-9B02-295011F9281B}"/>
              </a:ext>
            </a:extLst>
          </p:cNvPr>
          <p:cNvSpPr txBox="1">
            <a:spLocks/>
          </p:cNvSpPr>
          <p:nvPr/>
        </p:nvSpPr>
        <p:spPr>
          <a:xfrm>
            <a:off x="3134716" y="1039502"/>
            <a:ext cx="12867283" cy="604774"/>
          </a:xfrm>
          <a:prstGeom prst="rect">
            <a:avLst/>
          </a:prstGeom>
        </p:spPr>
        <p:txBody>
          <a:bodyPr spcFirstLastPara="1" wrap="square" lIns="91425" tIns="91425" rIns="91425" bIns="91425" anchor="ctr" anchorCtr="0">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nSpc>
                <a:spcPct val="90000"/>
              </a:lnSpc>
            </a:pPr>
            <a:endParaRPr lang="es-MX" sz="6000" dirty="0">
              <a:latin typeface="Berlin Sans FB" panose="020E0602020502020306" pitchFamily="34" charset="0"/>
            </a:endParaRPr>
          </a:p>
        </p:txBody>
      </p:sp>
      <p:sp>
        <p:nvSpPr>
          <p:cNvPr id="4" name="Google Shape;392;p64">
            <a:extLst>
              <a:ext uri="{FF2B5EF4-FFF2-40B4-BE49-F238E27FC236}">
                <a16:creationId xmlns:a16="http://schemas.microsoft.com/office/drawing/2014/main" id="{5396C517-D7BC-3EFA-07A8-23A761498EFC}"/>
              </a:ext>
            </a:extLst>
          </p:cNvPr>
          <p:cNvSpPr txBox="1">
            <a:spLocks/>
          </p:cNvSpPr>
          <p:nvPr/>
        </p:nvSpPr>
        <p:spPr>
          <a:xfrm>
            <a:off x="2895600" y="998446"/>
            <a:ext cx="8064000" cy="572700"/>
          </a:xfrm>
          <a:prstGeom prst="rect">
            <a:avLst/>
          </a:prstGeom>
        </p:spPr>
        <p:txBody>
          <a:bodyPr spcFirstLastPara="1" wrap="square" lIns="91425" tIns="91425" rIns="91425" bIns="91425" anchor="ctr" anchorCtr="0">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nSpc>
                <a:spcPct val="90000"/>
              </a:lnSpc>
            </a:pPr>
            <a:r>
              <a:rPr lang="es-MX" sz="6000" dirty="0">
                <a:latin typeface="Berlin Sans FB" panose="020E0602020502020306" pitchFamily="34" charset="0"/>
              </a:rPr>
              <a:t>Importancias</a:t>
            </a:r>
          </a:p>
        </p:txBody>
      </p:sp>
      <p:sp>
        <p:nvSpPr>
          <p:cNvPr id="7" name="Rectangle 3">
            <a:extLst>
              <a:ext uri="{FF2B5EF4-FFF2-40B4-BE49-F238E27FC236}">
                <a16:creationId xmlns:a16="http://schemas.microsoft.com/office/drawing/2014/main" id="{BCD0019F-2F34-B73A-17A1-6DA8C52CD880}"/>
              </a:ext>
            </a:extLst>
          </p:cNvPr>
          <p:cNvSpPr>
            <a:spLocks noChangeArrowheads="1"/>
          </p:cNvSpPr>
          <p:nvPr/>
        </p:nvSpPr>
        <p:spPr bwMode="auto">
          <a:xfrm>
            <a:off x="9144000" y="3722530"/>
            <a:ext cx="8942615" cy="39002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None/>
              <a:tabLst/>
            </a:pPr>
            <a:r>
              <a:rPr lang="es-ES" altLang="es-ES" sz="2400" dirty="0">
                <a:latin typeface="Berlin Sans FB" panose="020E0602020502020306" pitchFamily="34" charset="0"/>
              </a:rPr>
              <a:t>3. </a:t>
            </a:r>
            <a:r>
              <a:rPr kumimoji="0" lang="es-ES" altLang="es-ES" sz="2400" i="0" u="none" strike="noStrike" cap="none" normalizeH="0" baseline="0" dirty="0">
                <a:ln>
                  <a:noFill/>
                </a:ln>
                <a:solidFill>
                  <a:schemeClr val="tx1"/>
                </a:solidFill>
                <a:effectLst/>
                <a:latin typeface="Berlin Sans FB" panose="020E0602020502020306" pitchFamily="34" charset="0"/>
              </a:rPr>
              <a:t>Una vez descargados, cada proyecto se incorporó a la carpeta principal del proyecto padre </a:t>
            </a:r>
            <a:r>
              <a:rPr kumimoji="0" lang="es-ES" altLang="es-ES" sz="2400" i="0" u="none" strike="noStrike" cap="none" normalizeH="0" baseline="0" dirty="0" err="1">
                <a:ln>
                  <a:noFill/>
                </a:ln>
                <a:solidFill>
                  <a:schemeClr val="tx1"/>
                </a:solidFill>
                <a:effectLst/>
                <a:latin typeface="Berlin Sans FB" panose="020E0602020502020306" pitchFamily="34" charset="0"/>
              </a:rPr>
              <a:t>SpringMicroservices</a:t>
            </a:r>
            <a:r>
              <a:rPr lang="es-ES" altLang="es-ES" sz="2400" dirty="0">
                <a:latin typeface="Berlin Sans FB" panose="020E0602020502020306" pitchFamily="34" charset="0"/>
              </a:rPr>
              <a:t>.</a:t>
            </a:r>
          </a:p>
          <a:p>
            <a:pPr marL="0" marR="0" lvl="0" indent="0" algn="just" defTabSz="914400" rtl="0" eaLnBrk="0" fontAlgn="base" latinLnBrk="0" hangingPunct="0">
              <a:lnSpc>
                <a:spcPct val="150000"/>
              </a:lnSpc>
              <a:spcBef>
                <a:spcPct val="0"/>
              </a:spcBef>
              <a:spcAft>
                <a:spcPct val="0"/>
              </a:spcAft>
              <a:buClrTx/>
              <a:buSzTx/>
              <a:buFontTx/>
              <a:buNone/>
              <a:tabLst/>
            </a:pPr>
            <a:br>
              <a:rPr kumimoji="0" lang="es-ES" altLang="es-ES" sz="2400" i="0" u="none" strike="noStrike" cap="none" normalizeH="0" baseline="0" dirty="0">
                <a:ln>
                  <a:noFill/>
                </a:ln>
                <a:solidFill>
                  <a:schemeClr val="tx1"/>
                </a:solidFill>
                <a:effectLst/>
                <a:latin typeface="Berlin Sans FB" panose="020E0602020502020306" pitchFamily="34" charset="0"/>
              </a:rPr>
            </a:br>
            <a:r>
              <a:rPr kumimoji="0" lang="es-ES" altLang="es-ES" sz="2400" i="0" u="none" strike="noStrike" cap="none" normalizeH="0" baseline="0" dirty="0">
                <a:ln>
                  <a:noFill/>
                </a:ln>
                <a:solidFill>
                  <a:schemeClr val="tx1"/>
                </a:solidFill>
                <a:effectLst/>
                <a:latin typeface="Berlin Sans FB" panose="020E0602020502020306" pitchFamily="34" charset="0"/>
              </a:rPr>
              <a:t>En el archivo pom.xml del proyecto padre se agregaron los módulos hijos dentro de la etiqueta &lt;modules&gt;, lo que permitió que el proyecto reconociera los microservicios y los compilara de forma conjunta</a:t>
            </a:r>
            <a:r>
              <a:rPr kumimoji="0" lang="es-ES" altLang="es-ES" sz="1200" i="0" u="none" strike="noStrike" cap="none" normalizeH="0" baseline="0" dirty="0">
                <a:ln>
                  <a:noFill/>
                </a:ln>
                <a:solidFill>
                  <a:schemeClr val="tx1"/>
                </a:solidFill>
                <a:effectLst/>
              </a:rPr>
              <a:t>. .</a:t>
            </a:r>
            <a:endParaRPr kumimoji="0" lang="es-ES" altLang="es-ES" sz="1800" i="0" u="none" strike="noStrike" cap="none" normalizeH="0" baseline="0" dirty="0">
              <a:ln>
                <a:noFill/>
              </a:ln>
              <a:solidFill>
                <a:schemeClr val="tx1"/>
              </a:solidFill>
              <a:effectLst/>
              <a:latin typeface="Arial" panose="020B0604020202020204" pitchFamily="34" charset="0"/>
            </a:endParaRPr>
          </a:p>
        </p:txBody>
      </p:sp>
      <p:pic>
        <p:nvPicPr>
          <p:cNvPr id="14" name="Imagen 13" descr="Captura de pantalla de computadora&#10;&#10;El contenido generado por IA puede ser incorrecto.">
            <a:extLst>
              <a:ext uri="{FF2B5EF4-FFF2-40B4-BE49-F238E27FC236}">
                <a16:creationId xmlns:a16="http://schemas.microsoft.com/office/drawing/2014/main" id="{59496E19-F224-9FBE-98CD-6BDF07131074}"/>
              </a:ext>
            </a:extLst>
          </p:cNvPr>
          <p:cNvPicPr>
            <a:picLocks noChangeAspect="1"/>
          </p:cNvPicPr>
          <p:nvPr/>
        </p:nvPicPr>
        <p:blipFill>
          <a:blip r:embed="rId8"/>
          <a:srcRect l="8301" r="25503" b="-3"/>
          <a:stretch>
            <a:fillRect/>
          </a:stretch>
        </p:blipFill>
        <p:spPr>
          <a:xfrm>
            <a:off x="792339" y="2352343"/>
            <a:ext cx="7505405" cy="6377900"/>
          </a:xfrm>
          <a:prstGeom prst="rect">
            <a:avLst/>
          </a:prstGeom>
          <a:noFill/>
          <a:ln>
            <a:noFill/>
          </a:ln>
        </p:spPr>
      </p:pic>
    </p:spTree>
    <p:extLst>
      <p:ext uri="{BB962C8B-B14F-4D97-AF65-F5344CB8AC3E}">
        <p14:creationId xmlns:p14="http://schemas.microsoft.com/office/powerpoint/2010/main" val="6952899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reeform 8"/>
          <p:cNvSpPr/>
          <p:nvPr/>
        </p:nvSpPr>
        <p:spPr>
          <a:xfrm rot="2761435">
            <a:off x="7430449" y="-2389394"/>
            <a:ext cx="3718326" cy="4017838"/>
          </a:xfrm>
          <a:custGeom>
            <a:avLst/>
            <a:gdLst/>
            <a:ahLst/>
            <a:cxnLst/>
            <a:rect l="l" t="t" r="r" b="b"/>
            <a:pathLst>
              <a:path w="3718326" h="4017838">
                <a:moveTo>
                  <a:pt x="0" y="0"/>
                </a:moveTo>
                <a:lnTo>
                  <a:pt x="3718327" y="0"/>
                </a:lnTo>
                <a:lnTo>
                  <a:pt x="3718327" y="4017838"/>
                </a:lnTo>
                <a:lnTo>
                  <a:pt x="0" y="401783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9" name="Freeform 9"/>
          <p:cNvSpPr/>
          <p:nvPr/>
        </p:nvSpPr>
        <p:spPr>
          <a:xfrm rot="-2430465">
            <a:off x="285971" y="7039840"/>
            <a:ext cx="2562779" cy="3014631"/>
          </a:xfrm>
          <a:custGeom>
            <a:avLst/>
            <a:gdLst/>
            <a:ahLst/>
            <a:cxnLst/>
            <a:rect l="l" t="t" r="r" b="b"/>
            <a:pathLst>
              <a:path w="2562779" h="3014631">
                <a:moveTo>
                  <a:pt x="0" y="0"/>
                </a:moveTo>
                <a:lnTo>
                  <a:pt x="2562779" y="0"/>
                </a:lnTo>
                <a:lnTo>
                  <a:pt x="2562779" y="3014631"/>
                </a:lnTo>
                <a:lnTo>
                  <a:pt x="0" y="301463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0" name="Freeform 10"/>
          <p:cNvSpPr/>
          <p:nvPr/>
        </p:nvSpPr>
        <p:spPr>
          <a:xfrm rot="-2430465">
            <a:off x="15260927" y="298515"/>
            <a:ext cx="2465428" cy="2900117"/>
          </a:xfrm>
          <a:custGeom>
            <a:avLst/>
            <a:gdLst/>
            <a:ahLst/>
            <a:cxnLst/>
            <a:rect l="l" t="t" r="r" b="b"/>
            <a:pathLst>
              <a:path w="2465428" h="2900117">
                <a:moveTo>
                  <a:pt x="0" y="0"/>
                </a:moveTo>
                <a:lnTo>
                  <a:pt x="2465428" y="0"/>
                </a:lnTo>
                <a:lnTo>
                  <a:pt x="2465428" y="2900116"/>
                </a:lnTo>
                <a:lnTo>
                  <a:pt x="0" y="290011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1" name="Freeform 11"/>
          <p:cNvSpPr/>
          <p:nvPr/>
        </p:nvSpPr>
        <p:spPr>
          <a:xfrm rot="2761435">
            <a:off x="7377228" y="8516603"/>
            <a:ext cx="3718326" cy="4017838"/>
          </a:xfrm>
          <a:custGeom>
            <a:avLst/>
            <a:gdLst/>
            <a:ahLst/>
            <a:cxnLst/>
            <a:rect l="l" t="t" r="r" b="b"/>
            <a:pathLst>
              <a:path w="3718326" h="4017838">
                <a:moveTo>
                  <a:pt x="0" y="0"/>
                </a:moveTo>
                <a:lnTo>
                  <a:pt x="3718326" y="0"/>
                </a:lnTo>
                <a:lnTo>
                  <a:pt x="3718326" y="4017838"/>
                </a:lnTo>
                <a:lnTo>
                  <a:pt x="0" y="401783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2" name="Freeform 12"/>
          <p:cNvSpPr/>
          <p:nvPr/>
        </p:nvSpPr>
        <p:spPr>
          <a:xfrm>
            <a:off x="1894336" y="1143798"/>
            <a:ext cx="573466" cy="604775"/>
          </a:xfrm>
          <a:custGeom>
            <a:avLst/>
            <a:gdLst/>
            <a:ahLst/>
            <a:cxnLst/>
            <a:rect l="l" t="t" r="r" b="b"/>
            <a:pathLst>
              <a:path w="573466" h="604775">
                <a:moveTo>
                  <a:pt x="0" y="0"/>
                </a:moveTo>
                <a:lnTo>
                  <a:pt x="573466" y="0"/>
                </a:lnTo>
                <a:lnTo>
                  <a:pt x="573466" y="604775"/>
                </a:lnTo>
                <a:lnTo>
                  <a:pt x="0" y="60477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3" name="Freeform 13"/>
          <p:cNvSpPr/>
          <p:nvPr/>
        </p:nvSpPr>
        <p:spPr>
          <a:xfrm>
            <a:off x="893072" y="865878"/>
            <a:ext cx="573466" cy="604775"/>
          </a:xfrm>
          <a:custGeom>
            <a:avLst/>
            <a:gdLst/>
            <a:ahLst/>
            <a:cxnLst/>
            <a:rect l="l" t="t" r="r" b="b"/>
            <a:pathLst>
              <a:path w="573466" h="604775">
                <a:moveTo>
                  <a:pt x="0" y="0"/>
                </a:moveTo>
                <a:lnTo>
                  <a:pt x="573466" y="0"/>
                </a:lnTo>
                <a:lnTo>
                  <a:pt x="573466" y="604775"/>
                </a:lnTo>
                <a:lnTo>
                  <a:pt x="0" y="60477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2" name="Google Shape;392;p64">
            <a:extLst>
              <a:ext uri="{FF2B5EF4-FFF2-40B4-BE49-F238E27FC236}">
                <a16:creationId xmlns:a16="http://schemas.microsoft.com/office/drawing/2014/main" id="{30796F42-4B3A-3823-9B02-295011F9281B}"/>
              </a:ext>
            </a:extLst>
          </p:cNvPr>
          <p:cNvSpPr txBox="1">
            <a:spLocks/>
          </p:cNvSpPr>
          <p:nvPr/>
        </p:nvSpPr>
        <p:spPr>
          <a:xfrm>
            <a:off x="3134716" y="1039502"/>
            <a:ext cx="12867283" cy="604774"/>
          </a:xfrm>
          <a:prstGeom prst="rect">
            <a:avLst/>
          </a:prstGeom>
        </p:spPr>
        <p:txBody>
          <a:bodyPr spcFirstLastPara="1" wrap="square" lIns="91425" tIns="91425" rIns="91425" bIns="91425" anchor="ctr" anchorCtr="0">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nSpc>
                <a:spcPct val="90000"/>
              </a:lnSpc>
            </a:pPr>
            <a:endParaRPr lang="es-MX" sz="6000" dirty="0">
              <a:latin typeface="Berlin Sans FB" panose="020E0602020502020306" pitchFamily="34" charset="0"/>
            </a:endParaRPr>
          </a:p>
        </p:txBody>
      </p:sp>
      <p:sp>
        <p:nvSpPr>
          <p:cNvPr id="4" name="Google Shape;392;p64">
            <a:extLst>
              <a:ext uri="{FF2B5EF4-FFF2-40B4-BE49-F238E27FC236}">
                <a16:creationId xmlns:a16="http://schemas.microsoft.com/office/drawing/2014/main" id="{5396C517-D7BC-3EFA-07A8-23A761498EFC}"/>
              </a:ext>
            </a:extLst>
          </p:cNvPr>
          <p:cNvSpPr txBox="1">
            <a:spLocks/>
          </p:cNvSpPr>
          <p:nvPr/>
        </p:nvSpPr>
        <p:spPr>
          <a:xfrm>
            <a:off x="2895600" y="998446"/>
            <a:ext cx="8064000" cy="572700"/>
          </a:xfrm>
          <a:prstGeom prst="rect">
            <a:avLst/>
          </a:prstGeom>
        </p:spPr>
        <p:txBody>
          <a:bodyPr spcFirstLastPara="1" wrap="square" lIns="91425" tIns="91425" rIns="91425" bIns="91425" anchor="ctr" anchorCtr="0">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nSpc>
                <a:spcPct val="90000"/>
              </a:lnSpc>
            </a:pPr>
            <a:endParaRPr lang="es-MX" sz="6000" dirty="0">
              <a:latin typeface="Berlin Sans FB" panose="020E0602020502020306" pitchFamily="34" charset="0"/>
            </a:endParaRPr>
          </a:p>
        </p:txBody>
      </p:sp>
      <p:sp>
        <p:nvSpPr>
          <p:cNvPr id="7" name="Rectangle 3">
            <a:extLst>
              <a:ext uri="{FF2B5EF4-FFF2-40B4-BE49-F238E27FC236}">
                <a16:creationId xmlns:a16="http://schemas.microsoft.com/office/drawing/2014/main" id="{BCD0019F-2F34-B73A-17A1-6DA8C52CD880}"/>
              </a:ext>
            </a:extLst>
          </p:cNvPr>
          <p:cNvSpPr>
            <a:spLocks noChangeArrowheads="1"/>
          </p:cNvSpPr>
          <p:nvPr/>
        </p:nvSpPr>
        <p:spPr bwMode="auto">
          <a:xfrm>
            <a:off x="9144000" y="4276527"/>
            <a:ext cx="8942615" cy="27923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None/>
              <a:tabLst/>
            </a:pPr>
            <a:r>
              <a:rPr lang="es-ES" sz="2400" dirty="0">
                <a:latin typeface="Berlin Sans FB" panose="020E0602020502020306" pitchFamily="34" charset="0"/>
              </a:rPr>
              <a:t>4. En el archivo pom.xml de cada microservicio hijo (</a:t>
            </a:r>
            <a:r>
              <a:rPr lang="es-ES" sz="2400" dirty="0" err="1">
                <a:latin typeface="Berlin Sans FB" panose="020E0602020502020306" pitchFamily="34" charset="0"/>
              </a:rPr>
              <a:t>config</a:t>
            </a:r>
            <a:r>
              <a:rPr lang="es-ES" sz="2400" dirty="0">
                <a:latin typeface="Berlin Sans FB" panose="020E0602020502020306" pitchFamily="34" charset="0"/>
              </a:rPr>
              <a:t>, </a:t>
            </a:r>
            <a:r>
              <a:rPr lang="es-ES" sz="2400" dirty="0" err="1">
                <a:latin typeface="Berlin Sans FB" panose="020E0602020502020306" pitchFamily="34" charset="0"/>
              </a:rPr>
              <a:t>gateway</a:t>
            </a:r>
            <a:r>
              <a:rPr lang="es-ES" sz="2400" dirty="0">
                <a:latin typeface="Berlin Sans FB" panose="020E0602020502020306" pitchFamily="34" charset="0"/>
              </a:rPr>
              <a:t>, eureka, curso y </a:t>
            </a:r>
            <a:r>
              <a:rPr lang="es-ES" sz="2400" dirty="0" err="1">
                <a:latin typeface="Berlin Sans FB" panose="020E0602020502020306" pitchFamily="34" charset="0"/>
              </a:rPr>
              <a:t>student</a:t>
            </a:r>
            <a:r>
              <a:rPr lang="es-ES" sz="2400" dirty="0">
                <a:latin typeface="Berlin Sans FB" panose="020E0602020502020306" pitchFamily="34" charset="0"/>
              </a:rPr>
              <a:t>) se añadieron las etiquetas correspondientes para definir su relación con el proyecto padre.</a:t>
            </a:r>
            <a:br>
              <a:rPr lang="es-ES" sz="2400" dirty="0">
                <a:latin typeface="Berlin Sans FB" panose="020E0602020502020306" pitchFamily="34" charset="0"/>
              </a:rPr>
            </a:br>
            <a:r>
              <a:rPr lang="es-ES" sz="2400" dirty="0">
                <a:latin typeface="Berlin Sans FB" panose="020E0602020502020306" pitchFamily="34" charset="0"/>
              </a:rPr>
              <a:t>Esto permitió establecer la jerarquía adecuada dentro del proyecto y heredar las configuraciones comunes desde el proyecto principal.</a:t>
            </a:r>
            <a:endParaRPr kumimoji="0" lang="es-ES" altLang="es-ES" sz="2400" i="0" u="none" strike="noStrike" cap="none" normalizeH="0" baseline="0" dirty="0">
              <a:ln>
                <a:noFill/>
              </a:ln>
              <a:solidFill>
                <a:schemeClr val="tx1"/>
              </a:solidFill>
              <a:effectLst/>
              <a:latin typeface="Berlin Sans FB" panose="020E0602020502020306" pitchFamily="34" charset="0"/>
            </a:endParaRPr>
          </a:p>
        </p:txBody>
      </p:sp>
      <p:sp>
        <p:nvSpPr>
          <p:cNvPr id="3" name="Google Shape;392;p64">
            <a:extLst>
              <a:ext uri="{FF2B5EF4-FFF2-40B4-BE49-F238E27FC236}">
                <a16:creationId xmlns:a16="http://schemas.microsoft.com/office/drawing/2014/main" id="{DE52A80C-5113-EEEB-ADFD-656F1385C6FE}"/>
              </a:ext>
            </a:extLst>
          </p:cNvPr>
          <p:cNvSpPr txBox="1">
            <a:spLocks/>
          </p:cNvSpPr>
          <p:nvPr/>
        </p:nvSpPr>
        <p:spPr>
          <a:xfrm>
            <a:off x="2741553" y="1139259"/>
            <a:ext cx="11872945" cy="502627"/>
          </a:xfrm>
          <a:prstGeom prst="rect">
            <a:avLst/>
          </a:prstGeom>
        </p:spPr>
        <p:txBody>
          <a:bodyPr spcFirstLastPara="1" wrap="square" lIns="91425" tIns="91425" rIns="91425" bIns="91425" anchor="ctr" anchorCtr="0">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nSpc>
                <a:spcPct val="90000"/>
              </a:lnSpc>
            </a:pPr>
            <a:r>
              <a:rPr lang="es-MX" sz="6000" dirty="0">
                <a:latin typeface="Berlin Sans FB" panose="020E0602020502020306" pitchFamily="34" charset="0"/>
              </a:rPr>
              <a:t>Configuración de los proyectos hijos</a:t>
            </a:r>
          </a:p>
        </p:txBody>
      </p:sp>
      <p:pic>
        <p:nvPicPr>
          <p:cNvPr id="5" name="Imagen 4">
            <a:extLst>
              <a:ext uri="{FF2B5EF4-FFF2-40B4-BE49-F238E27FC236}">
                <a16:creationId xmlns:a16="http://schemas.microsoft.com/office/drawing/2014/main" id="{2DF3C0BE-FB0D-FC41-5B8C-B622C9166516}"/>
              </a:ext>
            </a:extLst>
          </p:cNvPr>
          <p:cNvPicPr>
            <a:picLocks noChangeAspect="1"/>
          </p:cNvPicPr>
          <p:nvPr/>
        </p:nvPicPr>
        <p:blipFill>
          <a:blip r:embed="rId8"/>
          <a:srcRect l="34539"/>
          <a:stretch>
            <a:fillRect/>
          </a:stretch>
        </p:blipFill>
        <p:spPr>
          <a:xfrm>
            <a:off x="703681" y="2274723"/>
            <a:ext cx="8028136" cy="6898436"/>
          </a:xfrm>
          <a:prstGeom prst="rect">
            <a:avLst/>
          </a:prstGeom>
        </p:spPr>
      </p:pic>
    </p:spTree>
    <p:extLst>
      <p:ext uri="{BB962C8B-B14F-4D97-AF65-F5344CB8AC3E}">
        <p14:creationId xmlns:p14="http://schemas.microsoft.com/office/powerpoint/2010/main" val="13246360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reeform 8"/>
          <p:cNvSpPr/>
          <p:nvPr/>
        </p:nvSpPr>
        <p:spPr>
          <a:xfrm rot="2761435">
            <a:off x="7430449" y="-2389394"/>
            <a:ext cx="3718326" cy="4017838"/>
          </a:xfrm>
          <a:custGeom>
            <a:avLst/>
            <a:gdLst/>
            <a:ahLst/>
            <a:cxnLst/>
            <a:rect l="l" t="t" r="r" b="b"/>
            <a:pathLst>
              <a:path w="3718326" h="4017838">
                <a:moveTo>
                  <a:pt x="0" y="0"/>
                </a:moveTo>
                <a:lnTo>
                  <a:pt x="3718327" y="0"/>
                </a:lnTo>
                <a:lnTo>
                  <a:pt x="3718327" y="4017838"/>
                </a:lnTo>
                <a:lnTo>
                  <a:pt x="0" y="401783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9" name="Freeform 9"/>
          <p:cNvSpPr/>
          <p:nvPr/>
        </p:nvSpPr>
        <p:spPr>
          <a:xfrm rot="-2430465">
            <a:off x="285971" y="7039840"/>
            <a:ext cx="2562779" cy="3014631"/>
          </a:xfrm>
          <a:custGeom>
            <a:avLst/>
            <a:gdLst/>
            <a:ahLst/>
            <a:cxnLst/>
            <a:rect l="l" t="t" r="r" b="b"/>
            <a:pathLst>
              <a:path w="2562779" h="3014631">
                <a:moveTo>
                  <a:pt x="0" y="0"/>
                </a:moveTo>
                <a:lnTo>
                  <a:pt x="2562779" y="0"/>
                </a:lnTo>
                <a:lnTo>
                  <a:pt x="2562779" y="3014631"/>
                </a:lnTo>
                <a:lnTo>
                  <a:pt x="0" y="301463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0" name="Freeform 10"/>
          <p:cNvSpPr/>
          <p:nvPr/>
        </p:nvSpPr>
        <p:spPr>
          <a:xfrm rot="-2430465">
            <a:off x="15260927" y="298515"/>
            <a:ext cx="2465428" cy="2900117"/>
          </a:xfrm>
          <a:custGeom>
            <a:avLst/>
            <a:gdLst/>
            <a:ahLst/>
            <a:cxnLst/>
            <a:rect l="l" t="t" r="r" b="b"/>
            <a:pathLst>
              <a:path w="2465428" h="2900117">
                <a:moveTo>
                  <a:pt x="0" y="0"/>
                </a:moveTo>
                <a:lnTo>
                  <a:pt x="2465428" y="0"/>
                </a:lnTo>
                <a:lnTo>
                  <a:pt x="2465428" y="2900116"/>
                </a:lnTo>
                <a:lnTo>
                  <a:pt x="0" y="290011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1" name="Freeform 11"/>
          <p:cNvSpPr/>
          <p:nvPr/>
        </p:nvSpPr>
        <p:spPr>
          <a:xfrm rot="2761435">
            <a:off x="7377228" y="8516603"/>
            <a:ext cx="3718326" cy="4017838"/>
          </a:xfrm>
          <a:custGeom>
            <a:avLst/>
            <a:gdLst/>
            <a:ahLst/>
            <a:cxnLst/>
            <a:rect l="l" t="t" r="r" b="b"/>
            <a:pathLst>
              <a:path w="3718326" h="4017838">
                <a:moveTo>
                  <a:pt x="0" y="0"/>
                </a:moveTo>
                <a:lnTo>
                  <a:pt x="3718326" y="0"/>
                </a:lnTo>
                <a:lnTo>
                  <a:pt x="3718326" y="4017838"/>
                </a:lnTo>
                <a:lnTo>
                  <a:pt x="0" y="401783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2" name="Freeform 12"/>
          <p:cNvSpPr/>
          <p:nvPr/>
        </p:nvSpPr>
        <p:spPr>
          <a:xfrm>
            <a:off x="1894336" y="1143798"/>
            <a:ext cx="573466" cy="604775"/>
          </a:xfrm>
          <a:custGeom>
            <a:avLst/>
            <a:gdLst/>
            <a:ahLst/>
            <a:cxnLst/>
            <a:rect l="l" t="t" r="r" b="b"/>
            <a:pathLst>
              <a:path w="573466" h="604775">
                <a:moveTo>
                  <a:pt x="0" y="0"/>
                </a:moveTo>
                <a:lnTo>
                  <a:pt x="573466" y="0"/>
                </a:lnTo>
                <a:lnTo>
                  <a:pt x="573466" y="604775"/>
                </a:lnTo>
                <a:lnTo>
                  <a:pt x="0" y="60477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3" name="Freeform 13"/>
          <p:cNvSpPr/>
          <p:nvPr/>
        </p:nvSpPr>
        <p:spPr>
          <a:xfrm>
            <a:off x="893072" y="865878"/>
            <a:ext cx="573466" cy="604775"/>
          </a:xfrm>
          <a:custGeom>
            <a:avLst/>
            <a:gdLst/>
            <a:ahLst/>
            <a:cxnLst/>
            <a:rect l="l" t="t" r="r" b="b"/>
            <a:pathLst>
              <a:path w="573466" h="604775">
                <a:moveTo>
                  <a:pt x="0" y="0"/>
                </a:moveTo>
                <a:lnTo>
                  <a:pt x="573466" y="0"/>
                </a:lnTo>
                <a:lnTo>
                  <a:pt x="573466" y="604775"/>
                </a:lnTo>
                <a:lnTo>
                  <a:pt x="0" y="60477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2" name="Google Shape;392;p64">
            <a:extLst>
              <a:ext uri="{FF2B5EF4-FFF2-40B4-BE49-F238E27FC236}">
                <a16:creationId xmlns:a16="http://schemas.microsoft.com/office/drawing/2014/main" id="{30796F42-4B3A-3823-9B02-295011F9281B}"/>
              </a:ext>
            </a:extLst>
          </p:cNvPr>
          <p:cNvSpPr txBox="1">
            <a:spLocks/>
          </p:cNvSpPr>
          <p:nvPr/>
        </p:nvSpPr>
        <p:spPr>
          <a:xfrm>
            <a:off x="3134716" y="1039502"/>
            <a:ext cx="12867283" cy="604774"/>
          </a:xfrm>
          <a:prstGeom prst="rect">
            <a:avLst/>
          </a:prstGeom>
        </p:spPr>
        <p:txBody>
          <a:bodyPr spcFirstLastPara="1" wrap="square" lIns="91425" tIns="91425" rIns="91425" bIns="91425" anchor="ctr" anchorCtr="0">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nSpc>
                <a:spcPct val="90000"/>
              </a:lnSpc>
            </a:pPr>
            <a:endParaRPr lang="es-MX" sz="6000" dirty="0">
              <a:latin typeface="Berlin Sans FB" panose="020E0602020502020306" pitchFamily="34" charset="0"/>
            </a:endParaRPr>
          </a:p>
        </p:txBody>
      </p:sp>
      <p:sp>
        <p:nvSpPr>
          <p:cNvPr id="4" name="Google Shape;392;p64">
            <a:extLst>
              <a:ext uri="{FF2B5EF4-FFF2-40B4-BE49-F238E27FC236}">
                <a16:creationId xmlns:a16="http://schemas.microsoft.com/office/drawing/2014/main" id="{5396C517-D7BC-3EFA-07A8-23A761498EFC}"/>
              </a:ext>
            </a:extLst>
          </p:cNvPr>
          <p:cNvSpPr txBox="1">
            <a:spLocks/>
          </p:cNvSpPr>
          <p:nvPr/>
        </p:nvSpPr>
        <p:spPr>
          <a:xfrm>
            <a:off x="2895600" y="998446"/>
            <a:ext cx="8064000" cy="572700"/>
          </a:xfrm>
          <a:prstGeom prst="rect">
            <a:avLst/>
          </a:prstGeom>
        </p:spPr>
        <p:txBody>
          <a:bodyPr spcFirstLastPara="1" wrap="square" lIns="91425" tIns="91425" rIns="91425" bIns="91425" anchor="ctr" anchorCtr="0">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nSpc>
                <a:spcPct val="90000"/>
              </a:lnSpc>
            </a:pPr>
            <a:endParaRPr lang="es-MX" sz="6000" dirty="0">
              <a:latin typeface="Berlin Sans FB" panose="020E0602020502020306" pitchFamily="34" charset="0"/>
            </a:endParaRPr>
          </a:p>
        </p:txBody>
      </p:sp>
      <p:sp>
        <p:nvSpPr>
          <p:cNvPr id="7" name="Rectangle 3">
            <a:extLst>
              <a:ext uri="{FF2B5EF4-FFF2-40B4-BE49-F238E27FC236}">
                <a16:creationId xmlns:a16="http://schemas.microsoft.com/office/drawing/2014/main" id="{BCD0019F-2F34-B73A-17A1-6DA8C52CD880}"/>
              </a:ext>
            </a:extLst>
          </p:cNvPr>
          <p:cNvSpPr>
            <a:spLocks noChangeArrowheads="1"/>
          </p:cNvSpPr>
          <p:nvPr/>
        </p:nvSpPr>
        <p:spPr bwMode="auto">
          <a:xfrm>
            <a:off x="1523749" y="4130733"/>
            <a:ext cx="6096251" cy="22483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None/>
              <a:tabLst/>
            </a:pPr>
            <a:r>
              <a:rPr lang="es-ES" sz="2400" dirty="0">
                <a:latin typeface="Berlin Sans FB" panose="020E0602020502020306" pitchFamily="34" charset="0"/>
              </a:rPr>
              <a:t>5. Cada microservicio contó con su propio archivo </a:t>
            </a:r>
            <a:r>
              <a:rPr lang="es-ES" sz="2400" dirty="0" err="1">
                <a:latin typeface="Berlin Sans FB" panose="020E0602020502020306" pitchFamily="34" charset="0"/>
              </a:rPr>
              <a:t>application.yml</a:t>
            </a:r>
            <a:r>
              <a:rPr lang="es-ES" sz="2400" dirty="0">
                <a:latin typeface="Berlin Sans FB" panose="020E0602020502020306" pitchFamily="34" charset="0"/>
              </a:rPr>
              <a:t>, en el cual se definieron sus propiedades específicas y puertos de ejecución</a:t>
            </a:r>
            <a:r>
              <a:rPr lang="es-ES" sz="2400" dirty="0"/>
              <a:t>.</a:t>
            </a:r>
            <a:endParaRPr kumimoji="0" lang="es-ES" altLang="es-ES" sz="2400" i="0" u="none" strike="noStrike" cap="none" normalizeH="0" baseline="0" dirty="0">
              <a:ln>
                <a:noFill/>
              </a:ln>
              <a:solidFill>
                <a:schemeClr val="tx1"/>
              </a:solidFill>
              <a:effectLst/>
              <a:latin typeface="Berlin Sans FB" panose="020E0602020502020306" pitchFamily="34" charset="0"/>
            </a:endParaRPr>
          </a:p>
        </p:txBody>
      </p:sp>
      <p:sp>
        <p:nvSpPr>
          <p:cNvPr id="3" name="Google Shape;392;p64">
            <a:extLst>
              <a:ext uri="{FF2B5EF4-FFF2-40B4-BE49-F238E27FC236}">
                <a16:creationId xmlns:a16="http://schemas.microsoft.com/office/drawing/2014/main" id="{DE52A80C-5113-EEEB-ADFD-656F1385C6FE}"/>
              </a:ext>
            </a:extLst>
          </p:cNvPr>
          <p:cNvSpPr txBox="1">
            <a:spLocks/>
          </p:cNvSpPr>
          <p:nvPr/>
        </p:nvSpPr>
        <p:spPr>
          <a:xfrm>
            <a:off x="2741553" y="1139259"/>
            <a:ext cx="11872945" cy="502627"/>
          </a:xfrm>
          <a:prstGeom prst="rect">
            <a:avLst/>
          </a:prstGeom>
        </p:spPr>
        <p:txBody>
          <a:bodyPr spcFirstLastPara="1" wrap="square" lIns="91425" tIns="91425" rIns="91425" bIns="91425" anchor="ctr" anchorCtr="0">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nSpc>
                <a:spcPct val="90000"/>
              </a:lnSpc>
            </a:pPr>
            <a:endParaRPr lang="es-MX" sz="6000" dirty="0">
              <a:latin typeface="Berlin Sans FB" panose="020E0602020502020306" pitchFamily="34" charset="0"/>
            </a:endParaRPr>
          </a:p>
        </p:txBody>
      </p:sp>
      <p:sp>
        <p:nvSpPr>
          <p:cNvPr id="6" name="Google Shape;392;p64">
            <a:extLst>
              <a:ext uri="{FF2B5EF4-FFF2-40B4-BE49-F238E27FC236}">
                <a16:creationId xmlns:a16="http://schemas.microsoft.com/office/drawing/2014/main" id="{A87FEC2D-F516-1F9B-0CCB-6794590DD137}"/>
              </a:ext>
            </a:extLst>
          </p:cNvPr>
          <p:cNvSpPr txBox="1">
            <a:spLocks/>
          </p:cNvSpPr>
          <p:nvPr/>
        </p:nvSpPr>
        <p:spPr>
          <a:xfrm>
            <a:off x="2377207" y="647700"/>
            <a:ext cx="13624792" cy="1144062"/>
          </a:xfrm>
          <a:prstGeom prst="rect">
            <a:avLst/>
          </a:prstGeom>
        </p:spPr>
        <p:txBody>
          <a:bodyPr spcFirstLastPara="1" wrap="square" lIns="91425" tIns="91425" rIns="91425" bIns="91425" anchor="ctr" anchorCtr="0">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nSpc>
                <a:spcPct val="90000"/>
              </a:lnSpc>
            </a:pPr>
            <a:r>
              <a:rPr lang="es-MX" sz="6000" dirty="0">
                <a:latin typeface="Berlin Sans FB" panose="020E0602020502020306" pitchFamily="34" charset="0"/>
              </a:rPr>
              <a:t>Configuración de los archivos </a:t>
            </a:r>
            <a:r>
              <a:rPr lang="es-MX" sz="6000" dirty="0" err="1">
                <a:latin typeface="Berlin Sans FB" panose="020E0602020502020306" pitchFamily="34" charset="0"/>
              </a:rPr>
              <a:t>application.yml</a:t>
            </a:r>
            <a:endParaRPr lang="es-MX" sz="6000" dirty="0">
              <a:latin typeface="Berlin Sans FB" panose="020E0602020502020306" pitchFamily="34" charset="0"/>
            </a:endParaRPr>
          </a:p>
        </p:txBody>
      </p:sp>
      <p:pic>
        <p:nvPicPr>
          <p:cNvPr id="14" name="Imagen 13">
            <a:extLst>
              <a:ext uri="{FF2B5EF4-FFF2-40B4-BE49-F238E27FC236}">
                <a16:creationId xmlns:a16="http://schemas.microsoft.com/office/drawing/2014/main" id="{900D839D-CD42-B516-678D-8A24352933AD}"/>
              </a:ext>
            </a:extLst>
          </p:cNvPr>
          <p:cNvPicPr>
            <a:picLocks noChangeAspect="1"/>
          </p:cNvPicPr>
          <p:nvPr/>
        </p:nvPicPr>
        <p:blipFill>
          <a:blip r:embed="rId8"/>
          <a:stretch>
            <a:fillRect/>
          </a:stretch>
        </p:blipFill>
        <p:spPr>
          <a:xfrm>
            <a:off x="8562715" y="2509355"/>
            <a:ext cx="9113967" cy="6638386"/>
          </a:xfrm>
          <a:prstGeom prst="rect">
            <a:avLst/>
          </a:prstGeom>
        </p:spPr>
      </p:pic>
    </p:spTree>
    <p:extLst>
      <p:ext uri="{BB962C8B-B14F-4D97-AF65-F5344CB8AC3E}">
        <p14:creationId xmlns:p14="http://schemas.microsoft.com/office/powerpoint/2010/main" val="12334527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reeform 8"/>
          <p:cNvSpPr/>
          <p:nvPr/>
        </p:nvSpPr>
        <p:spPr>
          <a:xfrm rot="2761435">
            <a:off x="7430449" y="-2389394"/>
            <a:ext cx="3718326" cy="4017838"/>
          </a:xfrm>
          <a:custGeom>
            <a:avLst/>
            <a:gdLst/>
            <a:ahLst/>
            <a:cxnLst/>
            <a:rect l="l" t="t" r="r" b="b"/>
            <a:pathLst>
              <a:path w="3718326" h="4017838">
                <a:moveTo>
                  <a:pt x="0" y="0"/>
                </a:moveTo>
                <a:lnTo>
                  <a:pt x="3718327" y="0"/>
                </a:lnTo>
                <a:lnTo>
                  <a:pt x="3718327" y="4017838"/>
                </a:lnTo>
                <a:lnTo>
                  <a:pt x="0" y="401783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9" name="Freeform 9"/>
          <p:cNvSpPr/>
          <p:nvPr/>
        </p:nvSpPr>
        <p:spPr>
          <a:xfrm rot="-2430465">
            <a:off x="285971" y="7039840"/>
            <a:ext cx="2562779" cy="3014631"/>
          </a:xfrm>
          <a:custGeom>
            <a:avLst/>
            <a:gdLst/>
            <a:ahLst/>
            <a:cxnLst/>
            <a:rect l="l" t="t" r="r" b="b"/>
            <a:pathLst>
              <a:path w="2562779" h="3014631">
                <a:moveTo>
                  <a:pt x="0" y="0"/>
                </a:moveTo>
                <a:lnTo>
                  <a:pt x="2562779" y="0"/>
                </a:lnTo>
                <a:lnTo>
                  <a:pt x="2562779" y="3014631"/>
                </a:lnTo>
                <a:lnTo>
                  <a:pt x="0" y="301463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0" name="Freeform 10"/>
          <p:cNvSpPr/>
          <p:nvPr/>
        </p:nvSpPr>
        <p:spPr>
          <a:xfrm rot="-2430465">
            <a:off x="15260927" y="298515"/>
            <a:ext cx="2465428" cy="2900117"/>
          </a:xfrm>
          <a:custGeom>
            <a:avLst/>
            <a:gdLst/>
            <a:ahLst/>
            <a:cxnLst/>
            <a:rect l="l" t="t" r="r" b="b"/>
            <a:pathLst>
              <a:path w="2465428" h="2900117">
                <a:moveTo>
                  <a:pt x="0" y="0"/>
                </a:moveTo>
                <a:lnTo>
                  <a:pt x="2465428" y="0"/>
                </a:lnTo>
                <a:lnTo>
                  <a:pt x="2465428" y="2900116"/>
                </a:lnTo>
                <a:lnTo>
                  <a:pt x="0" y="290011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1" name="Freeform 11"/>
          <p:cNvSpPr/>
          <p:nvPr/>
        </p:nvSpPr>
        <p:spPr>
          <a:xfrm rot="2761435">
            <a:off x="7377228" y="8516603"/>
            <a:ext cx="3718326" cy="4017838"/>
          </a:xfrm>
          <a:custGeom>
            <a:avLst/>
            <a:gdLst/>
            <a:ahLst/>
            <a:cxnLst/>
            <a:rect l="l" t="t" r="r" b="b"/>
            <a:pathLst>
              <a:path w="3718326" h="4017838">
                <a:moveTo>
                  <a:pt x="0" y="0"/>
                </a:moveTo>
                <a:lnTo>
                  <a:pt x="3718326" y="0"/>
                </a:lnTo>
                <a:lnTo>
                  <a:pt x="3718326" y="4017838"/>
                </a:lnTo>
                <a:lnTo>
                  <a:pt x="0" y="401783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 name="Google Shape;392;p64">
            <a:extLst>
              <a:ext uri="{FF2B5EF4-FFF2-40B4-BE49-F238E27FC236}">
                <a16:creationId xmlns:a16="http://schemas.microsoft.com/office/drawing/2014/main" id="{30796F42-4B3A-3823-9B02-295011F9281B}"/>
              </a:ext>
            </a:extLst>
          </p:cNvPr>
          <p:cNvSpPr txBox="1">
            <a:spLocks/>
          </p:cNvSpPr>
          <p:nvPr/>
        </p:nvSpPr>
        <p:spPr>
          <a:xfrm>
            <a:off x="3134716" y="1039502"/>
            <a:ext cx="12867283" cy="604774"/>
          </a:xfrm>
          <a:prstGeom prst="rect">
            <a:avLst/>
          </a:prstGeom>
        </p:spPr>
        <p:txBody>
          <a:bodyPr spcFirstLastPara="1" wrap="square" lIns="91425" tIns="91425" rIns="91425" bIns="91425" anchor="ctr" anchorCtr="0">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nSpc>
                <a:spcPct val="90000"/>
              </a:lnSpc>
            </a:pPr>
            <a:endParaRPr lang="es-MX" sz="6000" dirty="0">
              <a:latin typeface="Berlin Sans FB" panose="020E0602020502020306" pitchFamily="34" charset="0"/>
            </a:endParaRPr>
          </a:p>
        </p:txBody>
      </p:sp>
      <p:sp>
        <p:nvSpPr>
          <p:cNvPr id="4" name="Google Shape;392;p64">
            <a:extLst>
              <a:ext uri="{FF2B5EF4-FFF2-40B4-BE49-F238E27FC236}">
                <a16:creationId xmlns:a16="http://schemas.microsoft.com/office/drawing/2014/main" id="{5396C517-D7BC-3EFA-07A8-23A761498EFC}"/>
              </a:ext>
            </a:extLst>
          </p:cNvPr>
          <p:cNvSpPr txBox="1">
            <a:spLocks/>
          </p:cNvSpPr>
          <p:nvPr/>
        </p:nvSpPr>
        <p:spPr>
          <a:xfrm>
            <a:off x="2895600" y="998446"/>
            <a:ext cx="8064000" cy="572700"/>
          </a:xfrm>
          <a:prstGeom prst="rect">
            <a:avLst/>
          </a:prstGeom>
        </p:spPr>
        <p:txBody>
          <a:bodyPr spcFirstLastPara="1" wrap="square" lIns="91425" tIns="91425" rIns="91425" bIns="91425" anchor="ctr" anchorCtr="0">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nSpc>
                <a:spcPct val="90000"/>
              </a:lnSpc>
            </a:pPr>
            <a:endParaRPr lang="es-MX" sz="6000" dirty="0">
              <a:latin typeface="Berlin Sans FB" panose="020E0602020502020306" pitchFamily="34" charset="0"/>
            </a:endParaRPr>
          </a:p>
        </p:txBody>
      </p:sp>
      <p:sp>
        <p:nvSpPr>
          <p:cNvPr id="7" name="Rectangle 3">
            <a:extLst>
              <a:ext uri="{FF2B5EF4-FFF2-40B4-BE49-F238E27FC236}">
                <a16:creationId xmlns:a16="http://schemas.microsoft.com/office/drawing/2014/main" id="{BCD0019F-2F34-B73A-17A1-6DA8C52CD880}"/>
              </a:ext>
            </a:extLst>
          </p:cNvPr>
          <p:cNvSpPr>
            <a:spLocks noChangeArrowheads="1"/>
          </p:cNvSpPr>
          <p:nvPr/>
        </p:nvSpPr>
        <p:spPr bwMode="auto">
          <a:xfrm>
            <a:off x="1523749" y="3022737"/>
            <a:ext cx="6782051" cy="44643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None/>
              <a:tabLst/>
            </a:pPr>
            <a:r>
              <a:rPr lang="es-ES" sz="2400" dirty="0"/>
              <a:t>6. En esta diapositiva se muestra la ejecución de los contenedores Docker utilizados para las bases de datos del proyecto de microservicios.</a:t>
            </a:r>
          </a:p>
          <a:p>
            <a:pPr marL="0" marR="0" lvl="0" indent="0" algn="just" defTabSz="914400" rtl="0" eaLnBrk="0" fontAlgn="base" latinLnBrk="0" hangingPunct="0">
              <a:lnSpc>
                <a:spcPct val="150000"/>
              </a:lnSpc>
              <a:spcBef>
                <a:spcPct val="0"/>
              </a:spcBef>
              <a:spcAft>
                <a:spcPct val="0"/>
              </a:spcAft>
              <a:buClrTx/>
              <a:buSzTx/>
              <a:buFontTx/>
              <a:buNone/>
              <a:tabLst/>
            </a:pPr>
            <a:br>
              <a:rPr lang="es-ES" sz="2400" dirty="0"/>
            </a:br>
            <a:r>
              <a:rPr lang="es-ES" sz="2400" dirty="0"/>
              <a:t>Cada base de datos se desplegó en un contenedor independiente, asegurando un entorno controlado, seguro y libre de conflictos de puertos o configuraciones locales.</a:t>
            </a:r>
            <a:endParaRPr kumimoji="0" lang="es-ES" altLang="es-ES" sz="2400" i="0" u="none" strike="noStrike" cap="none" normalizeH="0" baseline="0" dirty="0">
              <a:ln>
                <a:noFill/>
              </a:ln>
              <a:solidFill>
                <a:schemeClr val="tx1"/>
              </a:solidFill>
              <a:effectLst/>
              <a:latin typeface="Berlin Sans FB" panose="020E0602020502020306" pitchFamily="34" charset="0"/>
            </a:endParaRPr>
          </a:p>
        </p:txBody>
      </p:sp>
      <p:sp>
        <p:nvSpPr>
          <p:cNvPr id="3" name="Google Shape;392;p64">
            <a:extLst>
              <a:ext uri="{FF2B5EF4-FFF2-40B4-BE49-F238E27FC236}">
                <a16:creationId xmlns:a16="http://schemas.microsoft.com/office/drawing/2014/main" id="{DE52A80C-5113-EEEB-ADFD-656F1385C6FE}"/>
              </a:ext>
            </a:extLst>
          </p:cNvPr>
          <p:cNvSpPr txBox="1">
            <a:spLocks/>
          </p:cNvSpPr>
          <p:nvPr/>
        </p:nvSpPr>
        <p:spPr>
          <a:xfrm>
            <a:off x="2741553" y="1139259"/>
            <a:ext cx="11872945" cy="502627"/>
          </a:xfrm>
          <a:prstGeom prst="rect">
            <a:avLst/>
          </a:prstGeom>
        </p:spPr>
        <p:txBody>
          <a:bodyPr spcFirstLastPara="1" wrap="square" lIns="91425" tIns="91425" rIns="91425" bIns="91425" anchor="ctr" anchorCtr="0">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nSpc>
                <a:spcPct val="90000"/>
              </a:lnSpc>
            </a:pPr>
            <a:endParaRPr lang="es-MX" sz="6000" dirty="0">
              <a:latin typeface="Berlin Sans FB" panose="020E0602020502020306" pitchFamily="34" charset="0"/>
            </a:endParaRPr>
          </a:p>
        </p:txBody>
      </p:sp>
      <p:sp>
        <p:nvSpPr>
          <p:cNvPr id="5" name="Google Shape;392;p64">
            <a:extLst>
              <a:ext uri="{FF2B5EF4-FFF2-40B4-BE49-F238E27FC236}">
                <a16:creationId xmlns:a16="http://schemas.microsoft.com/office/drawing/2014/main" id="{BB353F34-9222-7B7B-F747-C9A2882CBD5D}"/>
              </a:ext>
            </a:extLst>
          </p:cNvPr>
          <p:cNvSpPr txBox="1">
            <a:spLocks/>
          </p:cNvSpPr>
          <p:nvPr/>
        </p:nvSpPr>
        <p:spPr>
          <a:xfrm>
            <a:off x="1494404" y="883639"/>
            <a:ext cx="14999237" cy="458250"/>
          </a:xfrm>
          <a:prstGeom prst="rect">
            <a:avLst/>
          </a:prstGeom>
        </p:spPr>
        <p:txBody>
          <a:bodyPr spcFirstLastPara="1" wrap="square" lIns="91425" tIns="91425" rIns="91425" bIns="91425" anchor="ctr" anchorCtr="0">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nSpc>
                <a:spcPct val="90000"/>
              </a:lnSpc>
            </a:pPr>
            <a:r>
              <a:rPr lang="es-MX" sz="6000" dirty="0">
                <a:latin typeface="Berlin Sans FB" panose="020E0602020502020306" pitchFamily="34" charset="0"/>
              </a:rPr>
              <a:t>Configuración de los archivos </a:t>
            </a:r>
            <a:r>
              <a:rPr lang="es-MX" sz="6000" dirty="0" err="1">
                <a:latin typeface="Berlin Sans FB" panose="020E0602020502020306" pitchFamily="34" charset="0"/>
              </a:rPr>
              <a:t>application.yml</a:t>
            </a:r>
            <a:endParaRPr lang="es-MX" sz="6000" dirty="0">
              <a:latin typeface="Berlin Sans FB" panose="020E0602020502020306" pitchFamily="34" charset="0"/>
            </a:endParaRPr>
          </a:p>
        </p:txBody>
      </p:sp>
      <p:pic>
        <p:nvPicPr>
          <p:cNvPr id="15" name="Imagen 14">
            <a:extLst>
              <a:ext uri="{FF2B5EF4-FFF2-40B4-BE49-F238E27FC236}">
                <a16:creationId xmlns:a16="http://schemas.microsoft.com/office/drawing/2014/main" id="{6C0CEF7E-8DE1-E7B1-EE42-96630202AAB9}"/>
              </a:ext>
            </a:extLst>
          </p:cNvPr>
          <p:cNvPicPr>
            <a:picLocks noChangeAspect="1"/>
          </p:cNvPicPr>
          <p:nvPr/>
        </p:nvPicPr>
        <p:blipFill>
          <a:blip r:embed="rId6"/>
          <a:stretch>
            <a:fillRect/>
          </a:stretch>
        </p:blipFill>
        <p:spPr>
          <a:xfrm>
            <a:off x="8742565" y="3022737"/>
            <a:ext cx="8851373" cy="4978895"/>
          </a:xfrm>
          <a:prstGeom prst="rect">
            <a:avLst/>
          </a:prstGeom>
          <a:noFill/>
          <a:ln>
            <a:noFill/>
          </a:ln>
        </p:spPr>
      </p:pic>
    </p:spTree>
    <p:extLst>
      <p:ext uri="{BB962C8B-B14F-4D97-AF65-F5344CB8AC3E}">
        <p14:creationId xmlns:p14="http://schemas.microsoft.com/office/powerpoint/2010/main" val="11445522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reeform 8"/>
          <p:cNvSpPr/>
          <p:nvPr/>
        </p:nvSpPr>
        <p:spPr>
          <a:xfrm rot="2761435">
            <a:off x="7430449" y="-2389394"/>
            <a:ext cx="3718326" cy="4017838"/>
          </a:xfrm>
          <a:custGeom>
            <a:avLst/>
            <a:gdLst/>
            <a:ahLst/>
            <a:cxnLst/>
            <a:rect l="l" t="t" r="r" b="b"/>
            <a:pathLst>
              <a:path w="3718326" h="4017838">
                <a:moveTo>
                  <a:pt x="0" y="0"/>
                </a:moveTo>
                <a:lnTo>
                  <a:pt x="3718327" y="0"/>
                </a:lnTo>
                <a:lnTo>
                  <a:pt x="3718327" y="4017838"/>
                </a:lnTo>
                <a:lnTo>
                  <a:pt x="0" y="401783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9" name="Freeform 9"/>
          <p:cNvSpPr/>
          <p:nvPr/>
        </p:nvSpPr>
        <p:spPr>
          <a:xfrm rot="-2430465">
            <a:off x="285971" y="7039840"/>
            <a:ext cx="2562779" cy="3014631"/>
          </a:xfrm>
          <a:custGeom>
            <a:avLst/>
            <a:gdLst/>
            <a:ahLst/>
            <a:cxnLst/>
            <a:rect l="l" t="t" r="r" b="b"/>
            <a:pathLst>
              <a:path w="2562779" h="3014631">
                <a:moveTo>
                  <a:pt x="0" y="0"/>
                </a:moveTo>
                <a:lnTo>
                  <a:pt x="2562779" y="0"/>
                </a:lnTo>
                <a:lnTo>
                  <a:pt x="2562779" y="3014631"/>
                </a:lnTo>
                <a:lnTo>
                  <a:pt x="0" y="301463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0" name="Freeform 10"/>
          <p:cNvSpPr/>
          <p:nvPr/>
        </p:nvSpPr>
        <p:spPr>
          <a:xfrm rot="-2430465">
            <a:off x="15260927" y="298515"/>
            <a:ext cx="2465428" cy="2900117"/>
          </a:xfrm>
          <a:custGeom>
            <a:avLst/>
            <a:gdLst/>
            <a:ahLst/>
            <a:cxnLst/>
            <a:rect l="l" t="t" r="r" b="b"/>
            <a:pathLst>
              <a:path w="2465428" h="2900117">
                <a:moveTo>
                  <a:pt x="0" y="0"/>
                </a:moveTo>
                <a:lnTo>
                  <a:pt x="2465428" y="0"/>
                </a:lnTo>
                <a:lnTo>
                  <a:pt x="2465428" y="2900116"/>
                </a:lnTo>
                <a:lnTo>
                  <a:pt x="0" y="290011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1" name="Freeform 11"/>
          <p:cNvSpPr/>
          <p:nvPr/>
        </p:nvSpPr>
        <p:spPr>
          <a:xfrm rot="2761435">
            <a:off x="7377228" y="8516603"/>
            <a:ext cx="3718326" cy="4017838"/>
          </a:xfrm>
          <a:custGeom>
            <a:avLst/>
            <a:gdLst/>
            <a:ahLst/>
            <a:cxnLst/>
            <a:rect l="l" t="t" r="r" b="b"/>
            <a:pathLst>
              <a:path w="3718326" h="4017838">
                <a:moveTo>
                  <a:pt x="0" y="0"/>
                </a:moveTo>
                <a:lnTo>
                  <a:pt x="3718326" y="0"/>
                </a:lnTo>
                <a:lnTo>
                  <a:pt x="3718326" y="4017838"/>
                </a:lnTo>
                <a:lnTo>
                  <a:pt x="0" y="401783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 name="Google Shape;392;p64">
            <a:extLst>
              <a:ext uri="{FF2B5EF4-FFF2-40B4-BE49-F238E27FC236}">
                <a16:creationId xmlns:a16="http://schemas.microsoft.com/office/drawing/2014/main" id="{30796F42-4B3A-3823-9B02-295011F9281B}"/>
              </a:ext>
            </a:extLst>
          </p:cNvPr>
          <p:cNvSpPr txBox="1">
            <a:spLocks/>
          </p:cNvSpPr>
          <p:nvPr/>
        </p:nvSpPr>
        <p:spPr>
          <a:xfrm>
            <a:off x="3134716" y="1039502"/>
            <a:ext cx="12867283" cy="604774"/>
          </a:xfrm>
          <a:prstGeom prst="rect">
            <a:avLst/>
          </a:prstGeom>
        </p:spPr>
        <p:txBody>
          <a:bodyPr spcFirstLastPara="1" wrap="square" lIns="91425" tIns="91425" rIns="91425" bIns="91425" anchor="ctr" anchorCtr="0">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nSpc>
                <a:spcPct val="90000"/>
              </a:lnSpc>
            </a:pPr>
            <a:endParaRPr lang="es-MX" sz="6000" dirty="0">
              <a:latin typeface="Berlin Sans FB" panose="020E0602020502020306" pitchFamily="34" charset="0"/>
            </a:endParaRPr>
          </a:p>
        </p:txBody>
      </p:sp>
      <p:sp>
        <p:nvSpPr>
          <p:cNvPr id="4" name="Google Shape;392;p64">
            <a:extLst>
              <a:ext uri="{FF2B5EF4-FFF2-40B4-BE49-F238E27FC236}">
                <a16:creationId xmlns:a16="http://schemas.microsoft.com/office/drawing/2014/main" id="{5396C517-D7BC-3EFA-07A8-23A761498EFC}"/>
              </a:ext>
            </a:extLst>
          </p:cNvPr>
          <p:cNvSpPr txBox="1">
            <a:spLocks/>
          </p:cNvSpPr>
          <p:nvPr/>
        </p:nvSpPr>
        <p:spPr>
          <a:xfrm>
            <a:off x="2895600" y="998446"/>
            <a:ext cx="8064000" cy="572700"/>
          </a:xfrm>
          <a:prstGeom prst="rect">
            <a:avLst/>
          </a:prstGeom>
        </p:spPr>
        <p:txBody>
          <a:bodyPr spcFirstLastPara="1" wrap="square" lIns="91425" tIns="91425" rIns="91425" bIns="91425" anchor="ctr" anchorCtr="0">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nSpc>
                <a:spcPct val="90000"/>
              </a:lnSpc>
            </a:pPr>
            <a:endParaRPr lang="es-MX" sz="6000" dirty="0">
              <a:latin typeface="Berlin Sans FB" panose="020E0602020502020306" pitchFamily="34" charset="0"/>
            </a:endParaRPr>
          </a:p>
        </p:txBody>
      </p:sp>
      <p:sp>
        <p:nvSpPr>
          <p:cNvPr id="7" name="Rectangle 3">
            <a:extLst>
              <a:ext uri="{FF2B5EF4-FFF2-40B4-BE49-F238E27FC236}">
                <a16:creationId xmlns:a16="http://schemas.microsoft.com/office/drawing/2014/main" id="{BCD0019F-2F34-B73A-17A1-6DA8C52CD880}"/>
              </a:ext>
            </a:extLst>
          </p:cNvPr>
          <p:cNvSpPr>
            <a:spLocks noChangeArrowheads="1"/>
          </p:cNvSpPr>
          <p:nvPr/>
        </p:nvSpPr>
        <p:spPr bwMode="auto">
          <a:xfrm>
            <a:off x="9568357" y="3651790"/>
            <a:ext cx="6782051" cy="3356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None/>
              <a:tabLst/>
            </a:pPr>
            <a:r>
              <a:rPr lang="es-ES" sz="2400" dirty="0"/>
              <a:t>7. En esta diapositiva se muestra la conexión exitosa a las bases de datos de los microservicios </a:t>
            </a:r>
            <a:r>
              <a:rPr lang="es-ES" sz="2400" dirty="0" err="1"/>
              <a:t>Students</a:t>
            </a:r>
            <a:r>
              <a:rPr lang="es-ES" sz="2400" dirty="0"/>
              <a:t> y Curso mediante la herramienta </a:t>
            </a:r>
            <a:r>
              <a:rPr lang="es-ES" sz="2400" dirty="0" err="1"/>
              <a:t>DBeaver</a:t>
            </a:r>
            <a:r>
              <a:rPr lang="es-ES" sz="2400" dirty="0"/>
              <a:t>.</a:t>
            </a:r>
            <a:br>
              <a:rPr lang="es-ES" sz="2400" dirty="0"/>
            </a:br>
            <a:r>
              <a:rPr lang="es-ES" sz="2400" dirty="0"/>
              <a:t>Se verificó la correcta creación de las bases de datos y sus tablas, en MySQL para </a:t>
            </a:r>
            <a:r>
              <a:rPr lang="es-ES" sz="2400" dirty="0" err="1"/>
              <a:t>Students</a:t>
            </a:r>
            <a:r>
              <a:rPr lang="es-ES" sz="2400" dirty="0"/>
              <a:t> y en PostgreSQL para Curso.</a:t>
            </a:r>
            <a:endParaRPr kumimoji="0" lang="es-ES" altLang="es-ES" sz="2400" i="0" u="none" strike="noStrike" cap="none" normalizeH="0" baseline="0" dirty="0">
              <a:ln>
                <a:noFill/>
              </a:ln>
              <a:solidFill>
                <a:schemeClr val="tx1"/>
              </a:solidFill>
              <a:effectLst/>
              <a:latin typeface="Berlin Sans FB" panose="020E0602020502020306" pitchFamily="34" charset="0"/>
            </a:endParaRPr>
          </a:p>
        </p:txBody>
      </p:sp>
      <p:sp>
        <p:nvSpPr>
          <p:cNvPr id="3" name="Google Shape;392;p64">
            <a:extLst>
              <a:ext uri="{FF2B5EF4-FFF2-40B4-BE49-F238E27FC236}">
                <a16:creationId xmlns:a16="http://schemas.microsoft.com/office/drawing/2014/main" id="{DE52A80C-5113-EEEB-ADFD-656F1385C6FE}"/>
              </a:ext>
            </a:extLst>
          </p:cNvPr>
          <p:cNvSpPr txBox="1">
            <a:spLocks/>
          </p:cNvSpPr>
          <p:nvPr/>
        </p:nvSpPr>
        <p:spPr>
          <a:xfrm>
            <a:off x="2741553" y="1139259"/>
            <a:ext cx="11872945" cy="502627"/>
          </a:xfrm>
          <a:prstGeom prst="rect">
            <a:avLst/>
          </a:prstGeom>
        </p:spPr>
        <p:txBody>
          <a:bodyPr spcFirstLastPara="1" wrap="square" lIns="91425" tIns="91425" rIns="91425" bIns="91425" anchor="ctr" anchorCtr="0">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nSpc>
                <a:spcPct val="90000"/>
              </a:lnSpc>
            </a:pPr>
            <a:endParaRPr lang="es-MX" sz="6000" dirty="0">
              <a:latin typeface="Berlin Sans FB" panose="020E0602020502020306" pitchFamily="34" charset="0"/>
            </a:endParaRPr>
          </a:p>
        </p:txBody>
      </p:sp>
      <p:sp>
        <p:nvSpPr>
          <p:cNvPr id="5" name="Google Shape;392;p64">
            <a:extLst>
              <a:ext uri="{FF2B5EF4-FFF2-40B4-BE49-F238E27FC236}">
                <a16:creationId xmlns:a16="http://schemas.microsoft.com/office/drawing/2014/main" id="{BB353F34-9222-7B7B-F747-C9A2882CBD5D}"/>
              </a:ext>
            </a:extLst>
          </p:cNvPr>
          <p:cNvSpPr txBox="1">
            <a:spLocks/>
          </p:cNvSpPr>
          <p:nvPr/>
        </p:nvSpPr>
        <p:spPr>
          <a:xfrm>
            <a:off x="1494404" y="883639"/>
            <a:ext cx="14999237" cy="458250"/>
          </a:xfrm>
          <a:prstGeom prst="rect">
            <a:avLst/>
          </a:prstGeom>
        </p:spPr>
        <p:txBody>
          <a:bodyPr spcFirstLastPara="1" wrap="square" lIns="91425" tIns="91425" rIns="91425" bIns="91425" anchor="ctr" anchorCtr="0">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nSpc>
                <a:spcPct val="90000"/>
              </a:lnSpc>
            </a:pPr>
            <a:r>
              <a:rPr lang="es-MX" sz="6000" dirty="0">
                <a:latin typeface="Berlin Sans FB" panose="020E0602020502020306" pitchFamily="34" charset="0"/>
              </a:rPr>
              <a:t>Configuración de los archivos </a:t>
            </a:r>
            <a:r>
              <a:rPr lang="es-MX" sz="6000" dirty="0" err="1">
                <a:latin typeface="Berlin Sans FB" panose="020E0602020502020306" pitchFamily="34" charset="0"/>
              </a:rPr>
              <a:t>application.yml</a:t>
            </a:r>
            <a:endParaRPr lang="es-MX" sz="6000" dirty="0">
              <a:latin typeface="Berlin Sans FB" panose="020E0602020502020306" pitchFamily="34" charset="0"/>
            </a:endParaRPr>
          </a:p>
        </p:txBody>
      </p:sp>
      <p:pic>
        <p:nvPicPr>
          <p:cNvPr id="16" name="Imagen 15">
            <a:extLst>
              <a:ext uri="{FF2B5EF4-FFF2-40B4-BE49-F238E27FC236}">
                <a16:creationId xmlns:a16="http://schemas.microsoft.com/office/drawing/2014/main" id="{2ED92D1B-4F81-E8B0-9031-81E47DF63CD3}"/>
              </a:ext>
            </a:extLst>
          </p:cNvPr>
          <p:cNvPicPr>
            <a:picLocks noChangeAspect="1"/>
          </p:cNvPicPr>
          <p:nvPr/>
        </p:nvPicPr>
        <p:blipFill>
          <a:blip r:embed="rId6"/>
          <a:srcRect r="3" b="15025"/>
          <a:stretch>
            <a:fillRect/>
          </a:stretch>
        </p:blipFill>
        <p:spPr>
          <a:xfrm>
            <a:off x="3463437" y="1923790"/>
            <a:ext cx="4946394" cy="7005534"/>
          </a:xfrm>
          <a:prstGeom prst="rect">
            <a:avLst/>
          </a:prstGeom>
          <a:noFill/>
          <a:ln>
            <a:noFill/>
          </a:ln>
        </p:spPr>
      </p:pic>
    </p:spTree>
    <p:extLst>
      <p:ext uri="{BB962C8B-B14F-4D97-AF65-F5344CB8AC3E}">
        <p14:creationId xmlns:p14="http://schemas.microsoft.com/office/powerpoint/2010/main" val="9942231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reeform 8"/>
          <p:cNvSpPr/>
          <p:nvPr/>
        </p:nvSpPr>
        <p:spPr>
          <a:xfrm rot="2761435">
            <a:off x="7430449" y="-2389394"/>
            <a:ext cx="3718326" cy="4017838"/>
          </a:xfrm>
          <a:custGeom>
            <a:avLst/>
            <a:gdLst/>
            <a:ahLst/>
            <a:cxnLst/>
            <a:rect l="l" t="t" r="r" b="b"/>
            <a:pathLst>
              <a:path w="3718326" h="4017838">
                <a:moveTo>
                  <a:pt x="0" y="0"/>
                </a:moveTo>
                <a:lnTo>
                  <a:pt x="3718327" y="0"/>
                </a:lnTo>
                <a:lnTo>
                  <a:pt x="3718327" y="4017838"/>
                </a:lnTo>
                <a:lnTo>
                  <a:pt x="0" y="401783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9" name="Freeform 9"/>
          <p:cNvSpPr/>
          <p:nvPr/>
        </p:nvSpPr>
        <p:spPr>
          <a:xfrm rot="-2430465">
            <a:off x="285971" y="7039840"/>
            <a:ext cx="2562779" cy="3014631"/>
          </a:xfrm>
          <a:custGeom>
            <a:avLst/>
            <a:gdLst/>
            <a:ahLst/>
            <a:cxnLst/>
            <a:rect l="l" t="t" r="r" b="b"/>
            <a:pathLst>
              <a:path w="2562779" h="3014631">
                <a:moveTo>
                  <a:pt x="0" y="0"/>
                </a:moveTo>
                <a:lnTo>
                  <a:pt x="2562779" y="0"/>
                </a:lnTo>
                <a:lnTo>
                  <a:pt x="2562779" y="3014631"/>
                </a:lnTo>
                <a:lnTo>
                  <a:pt x="0" y="301463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0" name="Freeform 10"/>
          <p:cNvSpPr/>
          <p:nvPr/>
        </p:nvSpPr>
        <p:spPr>
          <a:xfrm rot="-2430465">
            <a:off x="15260927" y="298515"/>
            <a:ext cx="2465428" cy="2900117"/>
          </a:xfrm>
          <a:custGeom>
            <a:avLst/>
            <a:gdLst/>
            <a:ahLst/>
            <a:cxnLst/>
            <a:rect l="l" t="t" r="r" b="b"/>
            <a:pathLst>
              <a:path w="2465428" h="2900117">
                <a:moveTo>
                  <a:pt x="0" y="0"/>
                </a:moveTo>
                <a:lnTo>
                  <a:pt x="2465428" y="0"/>
                </a:lnTo>
                <a:lnTo>
                  <a:pt x="2465428" y="2900116"/>
                </a:lnTo>
                <a:lnTo>
                  <a:pt x="0" y="290011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1" name="Freeform 11"/>
          <p:cNvSpPr/>
          <p:nvPr/>
        </p:nvSpPr>
        <p:spPr>
          <a:xfrm rot="2761435">
            <a:off x="7377228" y="8516603"/>
            <a:ext cx="3718326" cy="4017838"/>
          </a:xfrm>
          <a:custGeom>
            <a:avLst/>
            <a:gdLst/>
            <a:ahLst/>
            <a:cxnLst/>
            <a:rect l="l" t="t" r="r" b="b"/>
            <a:pathLst>
              <a:path w="3718326" h="4017838">
                <a:moveTo>
                  <a:pt x="0" y="0"/>
                </a:moveTo>
                <a:lnTo>
                  <a:pt x="3718326" y="0"/>
                </a:lnTo>
                <a:lnTo>
                  <a:pt x="3718326" y="4017838"/>
                </a:lnTo>
                <a:lnTo>
                  <a:pt x="0" y="401783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 name="Google Shape;392;p64">
            <a:extLst>
              <a:ext uri="{FF2B5EF4-FFF2-40B4-BE49-F238E27FC236}">
                <a16:creationId xmlns:a16="http://schemas.microsoft.com/office/drawing/2014/main" id="{30796F42-4B3A-3823-9B02-295011F9281B}"/>
              </a:ext>
            </a:extLst>
          </p:cNvPr>
          <p:cNvSpPr txBox="1">
            <a:spLocks/>
          </p:cNvSpPr>
          <p:nvPr/>
        </p:nvSpPr>
        <p:spPr>
          <a:xfrm>
            <a:off x="3134716" y="1039502"/>
            <a:ext cx="12867283" cy="604774"/>
          </a:xfrm>
          <a:prstGeom prst="rect">
            <a:avLst/>
          </a:prstGeom>
        </p:spPr>
        <p:txBody>
          <a:bodyPr spcFirstLastPara="1" wrap="square" lIns="91425" tIns="91425" rIns="91425" bIns="91425" anchor="ctr" anchorCtr="0">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nSpc>
                <a:spcPct val="90000"/>
              </a:lnSpc>
            </a:pPr>
            <a:endParaRPr lang="es-MX" sz="6000" dirty="0">
              <a:latin typeface="Berlin Sans FB" panose="020E0602020502020306" pitchFamily="34" charset="0"/>
            </a:endParaRPr>
          </a:p>
        </p:txBody>
      </p:sp>
      <p:sp>
        <p:nvSpPr>
          <p:cNvPr id="4" name="Google Shape;392;p64">
            <a:extLst>
              <a:ext uri="{FF2B5EF4-FFF2-40B4-BE49-F238E27FC236}">
                <a16:creationId xmlns:a16="http://schemas.microsoft.com/office/drawing/2014/main" id="{5396C517-D7BC-3EFA-07A8-23A761498EFC}"/>
              </a:ext>
            </a:extLst>
          </p:cNvPr>
          <p:cNvSpPr txBox="1">
            <a:spLocks/>
          </p:cNvSpPr>
          <p:nvPr/>
        </p:nvSpPr>
        <p:spPr>
          <a:xfrm>
            <a:off x="2895600" y="998446"/>
            <a:ext cx="8064000" cy="572700"/>
          </a:xfrm>
          <a:prstGeom prst="rect">
            <a:avLst/>
          </a:prstGeom>
        </p:spPr>
        <p:txBody>
          <a:bodyPr spcFirstLastPara="1" wrap="square" lIns="91425" tIns="91425" rIns="91425" bIns="91425" anchor="ctr" anchorCtr="0">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nSpc>
                <a:spcPct val="90000"/>
              </a:lnSpc>
            </a:pPr>
            <a:endParaRPr lang="es-MX" sz="6000" dirty="0">
              <a:latin typeface="Berlin Sans FB" panose="020E0602020502020306" pitchFamily="34" charset="0"/>
            </a:endParaRPr>
          </a:p>
        </p:txBody>
      </p:sp>
      <p:sp>
        <p:nvSpPr>
          <p:cNvPr id="7" name="Rectangle 3">
            <a:extLst>
              <a:ext uri="{FF2B5EF4-FFF2-40B4-BE49-F238E27FC236}">
                <a16:creationId xmlns:a16="http://schemas.microsoft.com/office/drawing/2014/main" id="{BCD0019F-2F34-B73A-17A1-6DA8C52CD880}"/>
              </a:ext>
            </a:extLst>
          </p:cNvPr>
          <p:cNvSpPr>
            <a:spLocks noChangeArrowheads="1"/>
          </p:cNvSpPr>
          <p:nvPr/>
        </p:nvSpPr>
        <p:spPr bwMode="auto">
          <a:xfrm>
            <a:off x="9568357" y="2510357"/>
            <a:ext cx="7881443" cy="56392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algn="just">
              <a:lnSpc>
                <a:spcPct val="150000"/>
              </a:lnSpc>
              <a:spcAft>
                <a:spcPts val="600"/>
              </a:spcAft>
              <a:buClr>
                <a:srgbClr val="000000"/>
              </a:buClr>
              <a:buFont typeface="Arial"/>
              <a:buNone/>
            </a:pPr>
            <a:r>
              <a:rPr lang="es-MX" sz="2400" dirty="0">
                <a:latin typeface="Berlin Sans FB" panose="020E0602020502020306" pitchFamily="34" charset="0"/>
              </a:rPr>
              <a:t>8. Se codificaron los microservicios “Curso” y “</a:t>
            </a:r>
            <a:r>
              <a:rPr lang="es-MX" sz="2400" dirty="0" err="1">
                <a:latin typeface="Berlin Sans FB" panose="020E0602020502020306" pitchFamily="34" charset="0"/>
              </a:rPr>
              <a:t>Students</a:t>
            </a:r>
            <a:r>
              <a:rPr lang="es-MX" sz="2400" dirty="0">
                <a:latin typeface="Berlin Sans FB" panose="020E0602020502020306" pitchFamily="34" charset="0"/>
              </a:rPr>
              <a:t>” de forma independiente, cada uno con su estructura interna:</a:t>
            </a:r>
          </a:p>
          <a:p>
            <a:pPr algn="just">
              <a:lnSpc>
                <a:spcPct val="150000"/>
              </a:lnSpc>
            </a:pPr>
            <a:r>
              <a:rPr lang="es-MX" sz="2400" b="1" dirty="0" err="1">
                <a:latin typeface="Berlin Sans FB" panose="020E0602020502020306" pitchFamily="34" charset="0"/>
              </a:rPr>
              <a:t>Controller</a:t>
            </a:r>
            <a:r>
              <a:rPr lang="es-MX" sz="2400" dirty="0">
                <a:latin typeface="Berlin Sans FB" panose="020E0602020502020306" pitchFamily="34" charset="0"/>
              </a:rPr>
              <a:t>: manejo de las peticiones REST.</a:t>
            </a:r>
          </a:p>
          <a:p>
            <a:pPr algn="just">
              <a:lnSpc>
                <a:spcPct val="150000"/>
              </a:lnSpc>
            </a:pPr>
            <a:r>
              <a:rPr lang="es-MX" sz="2400" b="1" dirty="0" err="1">
                <a:latin typeface="Berlin Sans FB" panose="020E0602020502020306" pitchFamily="34" charset="0"/>
              </a:rPr>
              <a:t>Service</a:t>
            </a:r>
            <a:r>
              <a:rPr lang="es-MX" sz="2400" dirty="0">
                <a:latin typeface="Berlin Sans FB" panose="020E0602020502020306" pitchFamily="34" charset="0"/>
              </a:rPr>
              <a:t>: lógica de negocio.</a:t>
            </a:r>
          </a:p>
          <a:p>
            <a:pPr algn="just">
              <a:lnSpc>
                <a:spcPct val="150000"/>
              </a:lnSpc>
            </a:pPr>
            <a:r>
              <a:rPr lang="es-MX" sz="2400" b="1" dirty="0" err="1">
                <a:latin typeface="Berlin Sans FB" panose="020E0602020502020306" pitchFamily="34" charset="0"/>
              </a:rPr>
              <a:t>Repository</a:t>
            </a:r>
            <a:r>
              <a:rPr lang="es-MX" sz="2400" dirty="0">
                <a:latin typeface="Berlin Sans FB" panose="020E0602020502020306" pitchFamily="34" charset="0"/>
              </a:rPr>
              <a:t>: conexión a la base de datos mediante JPA.</a:t>
            </a:r>
          </a:p>
          <a:p>
            <a:pPr algn="just">
              <a:lnSpc>
                <a:spcPct val="150000"/>
              </a:lnSpc>
            </a:pPr>
            <a:r>
              <a:rPr lang="es-MX" sz="2400" b="1" dirty="0" err="1">
                <a:latin typeface="Berlin Sans FB" panose="020E0602020502020306" pitchFamily="34" charset="0"/>
              </a:rPr>
              <a:t>Entity</a:t>
            </a:r>
            <a:r>
              <a:rPr lang="es-MX" sz="2400" dirty="0">
                <a:latin typeface="Berlin Sans FB" panose="020E0602020502020306" pitchFamily="34" charset="0"/>
              </a:rPr>
              <a:t>: definición de las clases modelo.</a:t>
            </a:r>
          </a:p>
          <a:p>
            <a:pPr algn="just">
              <a:lnSpc>
                <a:spcPct val="150000"/>
              </a:lnSpc>
            </a:pPr>
            <a:r>
              <a:rPr lang="es-MX" sz="2400" dirty="0">
                <a:latin typeface="Berlin Sans FB" panose="020E0602020502020306" pitchFamily="34" charset="0"/>
              </a:rPr>
              <a:t>Ambos microservicios se registraron en el servidor Eureka y se configuraron para que pudieran ser accedidos a través del Gateway.</a:t>
            </a:r>
          </a:p>
          <a:p>
            <a:pPr marL="0" marR="0" lvl="0" indent="0" algn="just" defTabSz="914400" rtl="0" eaLnBrk="0" fontAlgn="base" latinLnBrk="0" hangingPunct="0">
              <a:lnSpc>
                <a:spcPct val="150000"/>
              </a:lnSpc>
              <a:spcBef>
                <a:spcPct val="0"/>
              </a:spcBef>
              <a:spcAft>
                <a:spcPct val="0"/>
              </a:spcAft>
              <a:buClrTx/>
              <a:buSzTx/>
              <a:buFontTx/>
              <a:buNone/>
              <a:tabLst/>
            </a:pPr>
            <a:endParaRPr kumimoji="0" lang="es-ES" altLang="es-ES" sz="2400" i="0" u="none" strike="noStrike" cap="none" normalizeH="0" baseline="0" dirty="0">
              <a:ln>
                <a:noFill/>
              </a:ln>
              <a:solidFill>
                <a:schemeClr val="tx1"/>
              </a:solidFill>
              <a:effectLst/>
              <a:latin typeface="Berlin Sans FB" panose="020E0602020502020306" pitchFamily="34" charset="0"/>
            </a:endParaRPr>
          </a:p>
        </p:txBody>
      </p:sp>
      <p:sp>
        <p:nvSpPr>
          <p:cNvPr id="3" name="Google Shape;392;p64">
            <a:extLst>
              <a:ext uri="{FF2B5EF4-FFF2-40B4-BE49-F238E27FC236}">
                <a16:creationId xmlns:a16="http://schemas.microsoft.com/office/drawing/2014/main" id="{DE52A80C-5113-EEEB-ADFD-656F1385C6FE}"/>
              </a:ext>
            </a:extLst>
          </p:cNvPr>
          <p:cNvSpPr txBox="1">
            <a:spLocks/>
          </p:cNvSpPr>
          <p:nvPr/>
        </p:nvSpPr>
        <p:spPr>
          <a:xfrm>
            <a:off x="2741553" y="1139259"/>
            <a:ext cx="11872945" cy="502627"/>
          </a:xfrm>
          <a:prstGeom prst="rect">
            <a:avLst/>
          </a:prstGeom>
        </p:spPr>
        <p:txBody>
          <a:bodyPr spcFirstLastPara="1" wrap="square" lIns="91425" tIns="91425" rIns="91425" bIns="91425" anchor="ctr" anchorCtr="0">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nSpc>
                <a:spcPct val="90000"/>
              </a:lnSpc>
            </a:pPr>
            <a:endParaRPr lang="es-MX" sz="6000" dirty="0">
              <a:latin typeface="Berlin Sans FB" panose="020E0602020502020306" pitchFamily="34" charset="0"/>
            </a:endParaRPr>
          </a:p>
        </p:txBody>
      </p:sp>
      <p:sp>
        <p:nvSpPr>
          <p:cNvPr id="5" name="Google Shape;392;p64">
            <a:extLst>
              <a:ext uri="{FF2B5EF4-FFF2-40B4-BE49-F238E27FC236}">
                <a16:creationId xmlns:a16="http://schemas.microsoft.com/office/drawing/2014/main" id="{BB353F34-9222-7B7B-F747-C9A2882CBD5D}"/>
              </a:ext>
            </a:extLst>
          </p:cNvPr>
          <p:cNvSpPr txBox="1">
            <a:spLocks/>
          </p:cNvSpPr>
          <p:nvPr/>
        </p:nvSpPr>
        <p:spPr>
          <a:xfrm>
            <a:off x="1494404" y="883639"/>
            <a:ext cx="14999237" cy="458250"/>
          </a:xfrm>
          <a:prstGeom prst="rect">
            <a:avLst/>
          </a:prstGeom>
        </p:spPr>
        <p:txBody>
          <a:bodyPr spcFirstLastPara="1" wrap="square" lIns="91425" tIns="91425" rIns="91425" bIns="91425" anchor="ctr" anchorCtr="0">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nSpc>
                <a:spcPct val="90000"/>
              </a:lnSpc>
            </a:pPr>
            <a:r>
              <a:rPr lang="es-MX" sz="6000" dirty="0">
                <a:latin typeface="Berlin Sans FB" panose="020E0602020502020306" pitchFamily="34" charset="0"/>
              </a:rPr>
              <a:t>Desarrollo del </a:t>
            </a:r>
            <a:r>
              <a:rPr lang="es-MX" sz="6000" dirty="0" err="1">
                <a:latin typeface="Berlin Sans FB" panose="020E0602020502020306" pitchFamily="34" charset="0"/>
              </a:rPr>
              <a:t>Backend</a:t>
            </a:r>
            <a:endParaRPr lang="es-MX" sz="6000" dirty="0">
              <a:latin typeface="Berlin Sans FB" panose="020E0602020502020306" pitchFamily="34" charset="0"/>
            </a:endParaRPr>
          </a:p>
        </p:txBody>
      </p:sp>
      <p:pic>
        <p:nvPicPr>
          <p:cNvPr id="6" name="Imagen 5">
            <a:extLst>
              <a:ext uri="{FF2B5EF4-FFF2-40B4-BE49-F238E27FC236}">
                <a16:creationId xmlns:a16="http://schemas.microsoft.com/office/drawing/2014/main" id="{8C37113C-6338-AFED-873B-CB1AD39CF7A5}"/>
              </a:ext>
            </a:extLst>
          </p:cNvPr>
          <p:cNvPicPr>
            <a:picLocks noChangeAspect="1"/>
          </p:cNvPicPr>
          <p:nvPr/>
        </p:nvPicPr>
        <p:blipFill>
          <a:blip r:embed="rId6"/>
          <a:stretch>
            <a:fillRect/>
          </a:stretch>
        </p:blipFill>
        <p:spPr>
          <a:xfrm>
            <a:off x="5379805" y="2032469"/>
            <a:ext cx="3700757" cy="6087037"/>
          </a:xfrm>
          <a:prstGeom prst="rect">
            <a:avLst/>
          </a:prstGeom>
        </p:spPr>
      </p:pic>
      <p:pic>
        <p:nvPicPr>
          <p:cNvPr id="12" name="Imagen 11">
            <a:extLst>
              <a:ext uri="{FF2B5EF4-FFF2-40B4-BE49-F238E27FC236}">
                <a16:creationId xmlns:a16="http://schemas.microsoft.com/office/drawing/2014/main" id="{AA657112-AE2E-6797-52DD-EF7B5866B25D}"/>
              </a:ext>
            </a:extLst>
          </p:cNvPr>
          <p:cNvPicPr>
            <a:picLocks noChangeAspect="1"/>
          </p:cNvPicPr>
          <p:nvPr/>
        </p:nvPicPr>
        <p:blipFill>
          <a:blip r:embed="rId7"/>
          <a:stretch>
            <a:fillRect/>
          </a:stretch>
        </p:blipFill>
        <p:spPr>
          <a:xfrm>
            <a:off x="1175855" y="2008224"/>
            <a:ext cx="3716155" cy="6087035"/>
          </a:xfrm>
          <a:prstGeom prst="rect">
            <a:avLst/>
          </a:prstGeom>
        </p:spPr>
      </p:pic>
    </p:spTree>
    <p:extLst>
      <p:ext uri="{BB962C8B-B14F-4D97-AF65-F5344CB8AC3E}">
        <p14:creationId xmlns:p14="http://schemas.microsoft.com/office/powerpoint/2010/main" val="16131442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reeform 8"/>
          <p:cNvSpPr/>
          <p:nvPr/>
        </p:nvSpPr>
        <p:spPr>
          <a:xfrm rot="2761435">
            <a:off x="7430449" y="-2389394"/>
            <a:ext cx="3718326" cy="4017838"/>
          </a:xfrm>
          <a:custGeom>
            <a:avLst/>
            <a:gdLst/>
            <a:ahLst/>
            <a:cxnLst/>
            <a:rect l="l" t="t" r="r" b="b"/>
            <a:pathLst>
              <a:path w="3718326" h="4017838">
                <a:moveTo>
                  <a:pt x="0" y="0"/>
                </a:moveTo>
                <a:lnTo>
                  <a:pt x="3718327" y="0"/>
                </a:lnTo>
                <a:lnTo>
                  <a:pt x="3718327" y="4017838"/>
                </a:lnTo>
                <a:lnTo>
                  <a:pt x="0" y="401783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9" name="Freeform 9"/>
          <p:cNvSpPr/>
          <p:nvPr/>
        </p:nvSpPr>
        <p:spPr>
          <a:xfrm rot="-2430465">
            <a:off x="285971" y="7039840"/>
            <a:ext cx="2562779" cy="3014631"/>
          </a:xfrm>
          <a:custGeom>
            <a:avLst/>
            <a:gdLst/>
            <a:ahLst/>
            <a:cxnLst/>
            <a:rect l="l" t="t" r="r" b="b"/>
            <a:pathLst>
              <a:path w="2562779" h="3014631">
                <a:moveTo>
                  <a:pt x="0" y="0"/>
                </a:moveTo>
                <a:lnTo>
                  <a:pt x="2562779" y="0"/>
                </a:lnTo>
                <a:lnTo>
                  <a:pt x="2562779" y="3014631"/>
                </a:lnTo>
                <a:lnTo>
                  <a:pt x="0" y="301463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0" name="Freeform 10"/>
          <p:cNvSpPr/>
          <p:nvPr/>
        </p:nvSpPr>
        <p:spPr>
          <a:xfrm rot="-2430465">
            <a:off x="15260927" y="298515"/>
            <a:ext cx="2465428" cy="2900117"/>
          </a:xfrm>
          <a:custGeom>
            <a:avLst/>
            <a:gdLst/>
            <a:ahLst/>
            <a:cxnLst/>
            <a:rect l="l" t="t" r="r" b="b"/>
            <a:pathLst>
              <a:path w="2465428" h="2900117">
                <a:moveTo>
                  <a:pt x="0" y="0"/>
                </a:moveTo>
                <a:lnTo>
                  <a:pt x="2465428" y="0"/>
                </a:lnTo>
                <a:lnTo>
                  <a:pt x="2465428" y="2900116"/>
                </a:lnTo>
                <a:lnTo>
                  <a:pt x="0" y="290011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1" name="Freeform 11"/>
          <p:cNvSpPr/>
          <p:nvPr/>
        </p:nvSpPr>
        <p:spPr>
          <a:xfrm rot="2761435">
            <a:off x="7377228" y="8516603"/>
            <a:ext cx="3718326" cy="4017838"/>
          </a:xfrm>
          <a:custGeom>
            <a:avLst/>
            <a:gdLst/>
            <a:ahLst/>
            <a:cxnLst/>
            <a:rect l="l" t="t" r="r" b="b"/>
            <a:pathLst>
              <a:path w="3718326" h="4017838">
                <a:moveTo>
                  <a:pt x="0" y="0"/>
                </a:moveTo>
                <a:lnTo>
                  <a:pt x="3718326" y="0"/>
                </a:lnTo>
                <a:lnTo>
                  <a:pt x="3718326" y="4017838"/>
                </a:lnTo>
                <a:lnTo>
                  <a:pt x="0" y="401783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 name="Google Shape;392;p64">
            <a:extLst>
              <a:ext uri="{FF2B5EF4-FFF2-40B4-BE49-F238E27FC236}">
                <a16:creationId xmlns:a16="http://schemas.microsoft.com/office/drawing/2014/main" id="{30796F42-4B3A-3823-9B02-295011F9281B}"/>
              </a:ext>
            </a:extLst>
          </p:cNvPr>
          <p:cNvSpPr txBox="1">
            <a:spLocks/>
          </p:cNvSpPr>
          <p:nvPr/>
        </p:nvSpPr>
        <p:spPr>
          <a:xfrm>
            <a:off x="3134716" y="1039502"/>
            <a:ext cx="12867283" cy="604774"/>
          </a:xfrm>
          <a:prstGeom prst="rect">
            <a:avLst/>
          </a:prstGeom>
        </p:spPr>
        <p:txBody>
          <a:bodyPr spcFirstLastPara="1" wrap="square" lIns="91425" tIns="91425" rIns="91425" bIns="91425" anchor="ctr" anchorCtr="0">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nSpc>
                <a:spcPct val="90000"/>
              </a:lnSpc>
            </a:pPr>
            <a:endParaRPr lang="es-MX" sz="6000" dirty="0">
              <a:latin typeface="Berlin Sans FB" panose="020E0602020502020306" pitchFamily="34" charset="0"/>
            </a:endParaRPr>
          </a:p>
        </p:txBody>
      </p:sp>
      <p:sp>
        <p:nvSpPr>
          <p:cNvPr id="4" name="Google Shape;392;p64">
            <a:extLst>
              <a:ext uri="{FF2B5EF4-FFF2-40B4-BE49-F238E27FC236}">
                <a16:creationId xmlns:a16="http://schemas.microsoft.com/office/drawing/2014/main" id="{5396C517-D7BC-3EFA-07A8-23A761498EFC}"/>
              </a:ext>
            </a:extLst>
          </p:cNvPr>
          <p:cNvSpPr txBox="1">
            <a:spLocks/>
          </p:cNvSpPr>
          <p:nvPr/>
        </p:nvSpPr>
        <p:spPr>
          <a:xfrm>
            <a:off x="2895600" y="998446"/>
            <a:ext cx="8064000" cy="572700"/>
          </a:xfrm>
          <a:prstGeom prst="rect">
            <a:avLst/>
          </a:prstGeom>
        </p:spPr>
        <p:txBody>
          <a:bodyPr spcFirstLastPara="1" wrap="square" lIns="91425" tIns="91425" rIns="91425" bIns="91425" anchor="ctr" anchorCtr="0">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nSpc>
                <a:spcPct val="90000"/>
              </a:lnSpc>
            </a:pPr>
            <a:endParaRPr lang="es-MX" sz="6000" dirty="0">
              <a:latin typeface="Berlin Sans FB" panose="020E0602020502020306" pitchFamily="34" charset="0"/>
            </a:endParaRPr>
          </a:p>
        </p:txBody>
      </p:sp>
      <p:sp>
        <p:nvSpPr>
          <p:cNvPr id="7" name="Rectangle 3">
            <a:extLst>
              <a:ext uri="{FF2B5EF4-FFF2-40B4-BE49-F238E27FC236}">
                <a16:creationId xmlns:a16="http://schemas.microsoft.com/office/drawing/2014/main" id="{BCD0019F-2F34-B73A-17A1-6DA8C52CD880}"/>
              </a:ext>
            </a:extLst>
          </p:cNvPr>
          <p:cNvSpPr>
            <a:spLocks noChangeArrowheads="1"/>
          </p:cNvSpPr>
          <p:nvPr/>
        </p:nvSpPr>
        <p:spPr bwMode="auto">
          <a:xfrm>
            <a:off x="796582" y="2675108"/>
            <a:ext cx="7881443" cy="5008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lnSpc>
                <a:spcPct val="150000"/>
              </a:lnSpc>
            </a:pPr>
            <a:r>
              <a:rPr lang="es-ES" sz="2400" dirty="0">
                <a:latin typeface="Berlin Sans FB" panose="020E0602020502020306" pitchFamily="34" charset="0"/>
              </a:rPr>
              <a:t>9. Para la integración del </a:t>
            </a:r>
            <a:r>
              <a:rPr lang="es-ES" sz="2400" dirty="0" err="1">
                <a:latin typeface="Berlin Sans FB" panose="020E0602020502020306" pitchFamily="34" charset="0"/>
              </a:rPr>
              <a:t>frontend</a:t>
            </a:r>
            <a:r>
              <a:rPr lang="es-ES" sz="2400" dirty="0">
                <a:latin typeface="Berlin Sans FB" panose="020E0602020502020306" pitchFamily="34" charset="0"/>
              </a:rPr>
              <a:t>, se utilizó Angular para consumir los microservicios a través del Gateway.</a:t>
            </a:r>
            <a:br>
              <a:rPr lang="es-ES" sz="2400" dirty="0">
                <a:latin typeface="Berlin Sans FB" panose="020E0602020502020306" pitchFamily="34" charset="0"/>
              </a:rPr>
            </a:br>
            <a:r>
              <a:rPr lang="es-ES" sz="2400" dirty="0">
                <a:latin typeface="Berlin Sans FB" panose="020E0602020502020306" pitchFamily="34" charset="0"/>
              </a:rPr>
              <a:t>Los pasos realizados fueron:</a:t>
            </a:r>
          </a:p>
          <a:p>
            <a:pPr algn="just">
              <a:lnSpc>
                <a:spcPct val="150000"/>
              </a:lnSpc>
              <a:buFont typeface="+mj-lt"/>
              <a:buAutoNum type="arabicPeriod"/>
            </a:pPr>
            <a:r>
              <a:rPr lang="es-ES" sz="2400" dirty="0">
                <a:latin typeface="Berlin Sans FB" panose="020E0602020502020306" pitchFamily="34" charset="0"/>
              </a:rPr>
              <a:t>Creación de un nuevo proyecto Angular.</a:t>
            </a:r>
          </a:p>
          <a:p>
            <a:pPr algn="just">
              <a:lnSpc>
                <a:spcPct val="150000"/>
              </a:lnSpc>
              <a:buFont typeface="+mj-lt"/>
              <a:buAutoNum type="arabicPeriod"/>
            </a:pPr>
            <a:r>
              <a:rPr lang="es-ES" sz="2400" dirty="0">
                <a:latin typeface="Berlin Sans FB" panose="020E0602020502020306" pitchFamily="34" charset="0"/>
              </a:rPr>
              <a:t>Instalación de Axios o </a:t>
            </a:r>
            <a:r>
              <a:rPr lang="es-ES" sz="2400" dirty="0" err="1">
                <a:latin typeface="Berlin Sans FB" panose="020E0602020502020306" pitchFamily="34" charset="0"/>
              </a:rPr>
              <a:t>HttpClient</a:t>
            </a:r>
            <a:r>
              <a:rPr lang="es-ES" sz="2400" dirty="0">
                <a:latin typeface="Berlin Sans FB" panose="020E0602020502020306" pitchFamily="34" charset="0"/>
              </a:rPr>
              <a:t> para gestionar las peticiones HTTP.</a:t>
            </a:r>
          </a:p>
          <a:p>
            <a:pPr algn="just">
              <a:lnSpc>
                <a:spcPct val="150000"/>
              </a:lnSpc>
              <a:buFont typeface="+mj-lt"/>
              <a:buAutoNum type="arabicPeriod"/>
            </a:pPr>
            <a:r>
              <a:rPr lang="es-ES" sz="2400" dirty="0">
                <a:latin typeface="Berlin Sans FB" panose="020E0602020502020306" pitchFamily="34" charset="0"/>
              </a:rPr>
              <a:t>Creación de los componentes y servicios necesarios para la interacción con el </a:t>
            </a:r>
            <a:r>
              <a:rPr lang="es-ES" sz="2400" dirty="0" err="1">
                <a:latin typeface="Berlin Sans FB" panose="020E0602020502020306" pitchFamily="34" charset="0"/>
              </a:rPr>
              <a:t>backend</a:t>
            </a:r>
            <a:r>
              <a:rPr lang="es-ES" sz="2400" dirty="0">
                <a:latin typeface="Berlin Sans FB" panose="020E0602020502020306" pitchFamily="34" charset="0"/>
              </a:rPr>
              <a:t>.</a:t>
            </a:r>
          </a:p>
          <a:p>
            <a:pPr marL="0" marR="0" lvl="0" indent="0" algn="just" defTabSz="914400" rtl="0" eaLnBrk="0" fontAlgn="base" latinLnBrk="0" hangingPunct="0">
              <a:lnSpc>
                <a:spcPct val="150000"/>
              </a:lnSpc>
              <a:spcBef>
                <a:spcPct val="0"/>
              </a:spcBef>
              <a:spcAft>
                <a:spcPct val="0"/>
              </a:spcAft>
              <a:buClrTx/>
              <a:buSzTx/>
              <a:buFontTx/>
              <a:buNone/>
              <a:tabLst/>
            </a:pPr>
            <a:endParaRPr kumimoji="0" lang="es-ES" altLang="es-ES" sz="2400" i="0" u="none" strike="noStrike" cap="none" normalizeH="0" baseline="0" dirty="0">
              <a:ln>
                <a:noFill/>
              </a:ln>
              <a:solidFill>
                <a:schemeClr val="tx1"/>
              </a:solidFill>
              <a:effectLst/>
              <a:latin typeface="Berlin Sans FB" panose="020E0602020502020306" pitchFamily="34" charset="0"/>
            </a:endParaRPr>
          </a:p>
        </p:txBody>
      </p:sp>
      <p:sp>
        <p:nvSpPr>
          <p:cNvPr id="3" name="Google Shape;392;p64">
            <a:extLst>
              <a:ext uri="{FF2B5EF4-FFF2-40B4-BE49-F238E27FC236}">
                <a16:creationId xmlns:a16="http://schemas.microsoft.com/office/drawing/2014/main" id="{DE52A80C-5113-EEEB-ADFD-656F1385C6FE}"/>
              </a:ext>
            </a:extLst>
          </p:cNvPr>
          <p:cNvSpPr txBox="1">
            <a:spLocks/>
          </p:cNvSpPr>
          <p:nvPr/>
        </p:nvSpPr>
        <p:spPr>
          <a:xfrm>
            <a:off x="2741553" y="1139259"/>
            <a:ext cx="11872945" cy="502627"/>
          </a:xfrm>
          <a:prstGeom prst="rect">
            <a:avLst/>
          </a:prstGeom>
        </p:spPr>
        <p:txBody>
          <a:bodyPr spcFirstLastPara="1" wrap="square" lIns="91425" tIns="91425" rIns="91425" bIns="91425" anchor="ctr" anchorCtr="0">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nSpc>
                <a:spcPct val="90000"/>
              </a:lnSpc>
            </a:pPr>
            <a:endParaRPr lang="es-MX" sz="6000" dirty="0">
              <a:latin typeface="Berlin Sans FB" panose="020E0602020502020306" pitchFamily="34" charset="0"/>
            </a:endParaRPr>
          </a:p>
        </p:txBody>
      </p:sp>
      <p:sp>
        <p:nvSpPr>
          <p:cNvPr id="5" name="Google Shape;392;p64">
            <a:extLst>
              <a:ext uri="{FF2B5EF4-FFF2-40B4-BE49-F238E27FC236}">
                <a16:creationId xmlns:a16="http://schemas.microsoft.com/office/drawing/2014/main" id="{BB353F34-9222-7B7B-F747-C9A2882CBD5D}"/>
              </a:ext>
            </a:extLst>
          </p:cNvPr>
          <p:cNvSpPr txBox="1">
            <a:spLocks/>
          </p:cNvSpPr>
          <p:nvPr/>
        </p:nvSpPr>
        <p:spPr>
          <a:xfrm>
            <a:off x="1494404" y="883639"/>
            <a:ext cx="14999237" cy="458250"/>
          </a:xfrm>
          <a:prstGeom prst="rect">
            <a:avLst/>
          </a:prstGeom>
        </p:spPr>
        <p:txBody>
          <a:bodyPr spcFirstLastPara="1" wrap="square" lIns="91425" tIns="91425" rIns="91425" bIns="91425" anchor="ctr" anchorCtr="0">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nSpc>
                <a:spcPct val="90000"/>
              </a:lnSpc>
            </a:pPr>
            <a:r>
              <a:rPr lang="es-MX" sz="6000" dirty="0">
                <a:latin typeface="Berlin Sans FB" panose="020E0602020502020306" pitchFamily="34" charset="0"/>
              </a:rPr>
              <a:t>Consumo desde Angular</a:t>
            </a:r>
          </a:p>
        </p:txBody>
      </p:sp>
      <p:pic>
        <p:nvPicPr>
          <p:cNvPr id="13" name="Imagen 12" descr="Interfaz de usuario gráfica, Texto, Aplicación&#10;&#10;El contenido generado por IA puede ser incorrecto.">
            <a:extLst>
              <a:ext uri="{FF2B5EF4-FFF2-40B4-BE49-F238E27FC236}">
                <a16:creationId xmlns:a16="http://schemas.microsoft.com/office/drawing/2014/main" id="{F457A520-6F8B-64FF-D22D-B0B1C515EC45}"/>
              </a:ext>
            </a:extLst>
          </p:cNvPr>
          <p:cNvPicPr>
            <a:picLocks noChangeAspect="1"/>
          </p:cNvPicPr>
          <p:nvPr/>
        </p:nvPicPr>
        <p:blipFill>
          <a:blip r:embed="rId6"/>
          <a:srcRect l="2710" r="31094" b="-3"/>
          <a:stretch>
            <a:fillRect/>
          </a:stretch>
        </p:blipFill>
        <p:spPr>
          <a:xfrm>
            <a:off x="9860589" y="2352343"/>
            <a:ext cx="7168956" cy="6091995"/>
          </a:xfrm>
          <a:prstGeom prst="rect">
            <a:avLst/>
          </a:prstGeom>
          <a:noFill/>
          <a:ln>
            <a:noFill/>
          </a:ln>
        </p:spPr>
      </p:pic>
    </p:spTree>
    <p:extLst>
      <p:ext uri="{BB962C8B-B14F-4D97-AF65-F5344CB8AC3E}">
        <p14:creationId xmlns:p14="http://schemas.microsoft.com/office/powerpoint/2010/main" val="28284992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reeform 8"/>
          <p:cNvSpPr/>
          <p:nvPr/>
        </p:nvSpPr>
        <p:spPr>
          <a:xfrm rot="2761435">
            <a:off x="7430449" y="-2389394"/>
            <a:ext cx="3718326" cy="4017838"/>
          </a:xfrm>
          <a:custGeom>
            <a:avLst/>
            <a:gdLst/>
            <a:ahLst/>
            <a:cxnLst/>
            <a:rect l="l" t="t" r="r" b="b"/>
            <a:pathLst>
              <a:path w="3718326" h="4017838">
                <a:moveTo>
                  <a:pt x="0" y="0"/>
                </a:moveTo>
                <a:lnTo>
                  <a:pt x="3718327" y="0"/>
                </a:lnTo>
                <a:lnTo>
                  <a:pt x="3718327" y="4017838"/>
                </a:lnTo>
                <a:lnTo>
                  <a:pt x="0" y="401783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9" name="Freeform 9"/>
          <p:cNvSpPr/>
          <p:nvPr/>
        </p:nvSpPr>
        <p:spPr>
          <a:xfrm rot="-2430465">
            <a:off x="285971" y="7039840"/>
            <a:ext cx="2562779" cy="3014631"/>
          </a:xfrm>
          <a:custGeom>
            <a:avLst/>
            <a:gdLst/>
            <a:ahLst/>
            <a:cxnLst/>
            <a:rect l="l" t="t" r="r" b="b"/>
            <a:pathLst>
              <a:path w="2562779" h="3014631">
                <a:moveTo>
                  <a:pt x="0" y="0"/>
                </a:moveTo>
                <a:lnTo>
                  <a:pt x="2562779" y="0"/>
                </a:lnTo>
                <a:lnTo>
                  <a:pt x="2562779" y="3014631"/>
                </a:lnTo>
                <a:lnTo>
                  <a:pt x="0" y="301463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0" name="Freeform 10"/>
          <p:cNvSpPr/>
          <p:nvPr/>
        </p:nvSpPr>
        <p:spPr>
          <a:xfrm rot="-2430465">
            <a:off x="15260927" y="298515"/>
            <a:ext cx="2465428" cy="2900117"/>
          </a:xfrm>
          <a:custGeom>
            <a:avLst/>
            <a:gdLst/>
            <a:ahLst/>
            <a:cxnLst/>
            <a:rect l="l" t="t" r="r" b="b"/>
            <a:pathLst>
              <a:path w="2465428" h="2900117">
                <a:moveTo>
                  <a:pt x="0" y="0"/>
                </a:moveTo>
                <a:lnTo>
                  <a:pt x="2465428" y="0"/>
                </a:lnTo>
                <a:lnTo>
                  <a:pt x="2465428" y="2900116"/>
                </a:lnTo>
                <a:lnTo>
                  <a:pt x="0" y="290011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1" name="Freeform 11"/>
          <p:cNvSpPr/>
          <p:nvPr/>
        </p:nvSpPr>
        <p:spPr>
          <a:xfrm rot="2761435">
            <a:off x="7377228" y="8516603"/>
            <a:ext cx="3718326" cy="4017838"/>
          </a:xfrm>
          <a:custGeom>
            <a:avLst/>
            <a:gdLst/>
            <a:ahLst/>
            <a:cxnLst/>
            <a:rect l="l" t="t" r="r" b="b"/>
            <a:pathLst>
              <a:path w="3718326" h="4017838">
                <a:moveTo>
                  <a:pt x="0" y="0"/>
                </a:moveTo>
                <a:lnTo>
                  <a:pt x="3718326" y="0"/>
                </a:lnTo>
                <a:lnTo>
                  <a:pt x="3718326" y="4017838"/>
                </a:lnTo>
                <a:lnTo>
                  <a:pt x="0" y="401783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 name="Google Shape;392;p64">
            <a:extLst>
              <a:ext uri="{FF2B5EF4-FFF2-40B4-BE49-F238E27FC236}">
                <a16:creationId xmlns:a16="http://schemas.microsoft.com/office/drawing/2014/main" id="{30796F42-4B3A-3823-9B02-295011F9281B}"/>
              </a:ext>
            </a:extLst>
          </p:cNvPr>
          <p:cNvSpPr txBox="1">
            <a:spLocks/>
          </p:cNvSpPr>
          <p:nvPr/>
        </p:nvSpPr>
        <p:spPr>
          <a:xfrm>
            <a:off x="3134716" y="1039502"/>
            <a:ext cx="12867283" cy="604774"/>
          </a:xfrm>
          <a:prstGeom prst="rect">
            <a:avLst/>
          </a:prstGeom>
        </p:spPr>
        <p:txBody>
          <a:bodyPr spcFirstLastPara="1" wrap="square" lIns="91425" tIns="91425" rIns="91425" bIns="91425" anchor="ctr" anchorCtr="0">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nSpc>
                <a:spcPct val="90000"/>
              </a:lnSpc>
            </a:pPr>
            <a:endParaRPr lang="es-MX" sz="6000" dirty="0">
              <a:latin typeface="Berlin Sans FB" panose="020E0602020502020306" pitchFamily="34" charset="0"/>
            </a:endParaRPr>
          </a:p>
        </p:txBody>
      </p:sp>
      <p:sp>
        <p:nvSpPr>
          <p:cNvPr id="4" name="Google Shape;392;p64">
            <a:extLst>
              <a:ext uri="{FF2B5EF4-FFF2-40B4-BE49-F238E27FC236}">
                <a16:creationId xmlns:a16="http://schemas.microsoft.com/office/drawing/2014/main" id="{5396C517-D7BC-3EFA-07A8-23A761498EFC}"/>
              </a:ext>
            </a:extLst>
          </p:cNvPr>
          <p:cNvSpPr txBox="1">
            <a:spLocks/>
          </p:cNvSpPr>
          <p:nvPr/>
        </p:nvSpPr>
        <p:spPr>
          <a:xfrm>
            <a:off x="2895600" y="998446"/>
            <a:ext cx="8064000" cy="572700"/>
          </a:xfrm>
          <a:prstGeom prst="rect">
            <a:avLst/>
          </a:prstGeom>
        </p:spPr>
        <p:txBody>
          <a:bodyPr spcFirstLastPara="1" wrap="square" lIns="91425" tIns="91425" rIns="91425" bIns="91425" anchor="ctr" anchorCtr="0">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nSpc>
                <a:spcPct val="90000"/>
              </a:lnSpc>
            </a:pPr>
            <a:endParaRPr lang="es-MX" sz="6000" dirty="0">
              <a:latin typeface="Berlin Sans FB" panose="020E0602020502020306" pitchFamily="34" charset="0"/>
            </a:endParaRPr>
          </a:p>
        </p:txBody>
      </p:sp>
      <p:sp>
        <p:nvSpPr>
          <p:cNvPr id="7" name="Rectangle 3">
            <a:extLst>
              <a:ext uri="{FF2B5EF4-FFF2-40B4-BE49-F238E27FC236}">
                <a16:creationId xmlns:a16="http://schemas.microsoft.com/office/drawing/2014/main" id="{BCD0019F-2F34-B73A-17A1-6DA8C52CD880}"/>
              </a:ext>
            </a:extLst>
          </p:cNvPr>
          <p:cNvSpPr>
            <a:spLocks noChangeArrowheads="1"/>
          </p:cNvSpPr>
          <p:nvPr/>
        </p:nvSpPr>
        <p:spPr bwMode="auto">
          <a:xfrm>
            <a:off x="796582" y="3005968"/>
            <a:ext cx="7881443" cy="4346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algn="just">
              <a:spcAft>
                <a:spcPts val="600"/>
              </a:spcAft>
              <a:buClr>
                <a:srgbClr val="000000"/>
              </a:buClr>
              <a:buFont typeface="Arial"/>
            </a:pPr>
            <a:r>
              <a:rPr kumimoji="0" lang="es-ES" altLang="es-ES" sz="2400" i="0" u="none" strike="noStrike" cap="none" normalizeH="0" baseline="0" dirty="0">
                <a:ln>
                  <a:noFill/>
                </a:ln>
                <a:solidFill>
                  <a:schemeClr val="tx1"/>
                </a:solidFill>
                <a:effectLst/>
                <a:latin typeface="Berlin Sans FB" panose="020E0602020502020306" pitchFamily="34" charset="0"/>
              </a:rPr>
              <a:t>10. </a:t>
            </a:r>
            <a:r>
              <a:rPr lang="es-MX" sz="2400" dirty="0">
                <a:latin typeface="Berlin Sans FB" panose="020E0602020502020306" pitchFamily="34" charset="0"/>
              </a:rPr>
              <a:t>El proyecto Angular se organizó de la siguiente manera:</a:t>
            </a:r>
          </a:p>
          <a:p>
            <a:pPr marL="342900" indent="-342900" algn="just">
              <a:buFont typeface="Arial" panose="020B0604020202020204" pitchFamily="34" charset="0"/>
              <a:buChar char="•"/>
            </a:pPr>
            <a:r>
              <a:rPr lang="es-MX" sz="2400" dirty="0" err="1">
                <a:latin typeface="Berlin Sans FB" panose="020E0602020502020306" pitchFamily="34" charset="0"/>
              </a:rPr>
              <a:t>src</a:t>
            </a:r>
            <a:r>
              <a:rPr lang="es-MX" sz="2400" dirty="0">
                <a:latin typeface="Berlin Sans FB" panose="020E0602020502020306" pitchFamily="34" charset="0"/>
              </a:rPr>
              <a:t>/app/</a:t>
            </a:r>
            <a:r>
              <a:rPr lang="es-MX" sz="2400" dirty="0" err="1">
                <a:latin typeface="Berlin Sans FB" panose="020E0602020502020306" pitchFamily="34" charset="0"/>
              </a:rPr>
              <a:t>components</a:t>
            </a:r>
            <a:r>
              <a:rPr lang="es-MX" sz="2400" dirty="0">
                <a:latin typeface="Berlin Sans FB" panose="020E0602020502020306" pitchFamily="34" charset="0"/>
              </a:rPr>
              <a:t>/cursos/</a:t>
            </a:r>
          </a:p>
          <a:p>
            <a:pPr marL="342900" indent="-342900" algn="just">
              <a:buFont typeface="Arial" panose="020B0604020202020204" pitchFamily="34" charset="0"/>
              <a:buChar char="•"/>
            </a:pPr>
            <a:r>
              <a:rPr lang="es-MX" sz="2400" dirty="0">
                <a:latin typeface="Berlin Sans FB" panose="020E0602020502020306" pitchFamily="34" charset="0"/>
              </a:rPr>
              <a:t>curso-</a:t>
            </a:r>
            <a:r>
              <a:rPr lang="es-MX" sz="2400" dirty="0" err="1">
                <a:latin typeface="Berlin Sans FB" panose="020E0602020502020306" pitchFamily="34" charset="0"/>
              </a:rPr>
              <a:t>list.component.ts</a:t>
            </a:r>
            <a:endParaRPr lang="es-MX" sz="2400" dirty="0">
              <a:latin typeface="Berlin Sans FB" panose="020E0602020502020306" pitchFamily="34" charset="0"/>
            </a:endParaRPr>
          </a:p>
          <a:p>
            <a:pPr marL="342900" indent="-342900" algn="just">
              <a:buFont typeface="Arial" panose="020B0604020202020204" pitchFamily="34" charset="0"/>
              <a:buChar char="•"/>
            </a:pPr>
            <a:r>
              <a:rPr lang="es-MX" sz="2400" dirty="0">
                <a:latin typeface="Berlin Sans FB" panose="020E0602020502020306" pitchFamily="34" charset="0"/>
              </a:rPr>
              <a:t>curso-</a:t>
            </a:r>
            <a:r>
              <a:rPr lang="es-MX" sz="2400" dirty="0" err="1">
                <a:latin typeface="Berlin Sans FB" panose="020E0602020502020306" pitchFamily="34" charset="0"/>
              </a:rPr>
              <a:t>form.component.ts</a:t>
            </a:r>
            <a:endParaRPr lang="es-MX" sz="2400" dirty="0">
              <a:latin typeface="Berlin Sans FB" panose="020E0602020502020306" pitchFamily="34" charset="0"/>
            </a:endParaRPr>
          </a:p>
          <a:p>
            <a:pPr marL="342900" indent="-342900" algn="just">
              <a:buFont typeface="Arial" panose="020B0604020202020204" pitchFamily="34" charset="0"/>
              <a:buChar char="•"/>
            </a:pPr>
            <a:r>
              <a:rPr lang="es-MX" sz="2400" dirty="0" err="1">
                <a:latin typeface="Berlin Sans FB" panose="020E0602020502020306" pitchFamily="34" charset="0"/>
              </a:rPr>
              <a:t>src</a:t>
            </a:r>
            <a:r>
              <a:rPr lang="es-MX" sz="2400" dirty="0">
                <a:latin typeface="Berlin Sans FB" panose="020E0602020502020306" pitchFamily="34" charset="0"/>
              </a:rPr>
              <a:t>/app/</a:t>
            </a:r>
            <a:r>
              <a:rPr lang="es-MX" sz="2400" dirty="0" err="1">
                <a:latin typeface="Berlin Sans FB" panose="020E0602020502020306" pitchFamily="34" charset="0"/>
              </a:rPr>
              <a:t>components</a:t>
            </a:r>
            <a:r>
              <a:rPr lang="es-MX" sz="2400" dirty="0">
                <a:latin typeface="Berlin Sans FB" panose="020E0602020502020306" pitchFamily="34" charset="0"/>
              </a:rPr>
              <a:t>/estudiantes/</a:t>
            </a:r>
          </a:p>
          <a:p>
            <a:pPr marL="342900" indent="-342900" algn="just">
              <a:buFont typeface="Arial" panose="020B0604020202020204" pitchFamily="34" charset="0"/>
              <a:buChar char="•"/>
            </a:pPr>
            <a:r>
              <a:rPr lang="es-MX" sz="2400" dirty="0" err="1">
                <a:latin typeface="Berlin Sans FB" panose="020E0602020502020306" pitchFamily="34" charset="0"/>
              </a:rPr>
              <a:t>student-list.component.ts</a:t>
            </a:r>
            <a:endParaRPr lang="es-MX" sz="2400" dirty="0">
              <a:latin typeface="Berlin Sans FB" panose="020E0602020502020306" pitchFamily="34" charset="0"/>
            </a:endParaRPr>
          </a:p>
          <a:p>
            <a:pPr marL="342900" indent="-342900" algn="just">
              <a:buFont typeface="Arial" panose="020B0604020202020204" pitchFamily="34" charset="0"/>
              <a:buChar char="•"/>
            </a:pPr>
            <a:r>
              <a:rPr lang="es-MX" sz="2400" dirty="0" err="1">
                <a:latin typeface="Berlin Sans FB" panose="020E0602020502020306" pitchFamily="34" charset="0"/>
              </a:rPr>
              <a:t>student-form.component.ts</a:t>
            </a:r>
            <a:endParaRPr lang="es-MX" sz="2400" dirty="0">
              <a:latin typeface="Berlin Sans FB" panose="020E0602020502020306" pitchFamily="34" charset="0"/>
            </a:endParaRPr>
          </a:p>
          <a:p>
            <a:pPr marL="342900" indent="-342900" algn="just">
              <a:buFont typeface="Arial" panose="020B0604020202020204" pitchFamily="34" charset="0"/>
              <a:buChar char="•"/>
            </a:pPr>
            <a:r>
              <a:rPr lang="es-MX" sz="2400" dirty="0" err="1">
                <a:latin typeface="Berlin Sans FB" panose="020E0602020502020306" pitchFamily="34" charset="0"/>
              </a:rPr>
              <a:t>src</a:t>
            </a:r>
            <a:r>
              <a:rPr lang="es-MX" sz="2400" dirty="0">
                <a:latin typeface="Berlin Sans FB" panose="020E0602020502020306" pitchFamily="34" charset="0"/>
              </a:rPr>
              <a:t>/app/</a:t>
            </a:r>
            <a:r>
              <a:rPr lang="es-MX" sz="2400" dirty="0" err="1">
                <a:latin typeface="Berlin Sans FB" panose="020E0602020502020306" pitchFamily="34" charset="0"/>
              </a:rPr>
              <a:t>services</a:t>
            </a:r>
            <a:r>
              <a:rPr lang="es-MX" sz="2400" dirty="0">
                <a:latin typeface="Berlin Sans FB" panose="020E0602020502020306" pitchFamily="34" charset="0"/>
              </a:rPr>
              <a:t>/</a:t>
            </a:r>
          </a:p>
          <a:p>
            <a:pPr marL="342900" indent="-342900" algn="just">
              <a:buFont typeface="Arial" panose="020B0604020202020204" pitchFamily="34" charset="0"/>
              <a:buChar char="•"/>
            </a:pPr>
            <a:r>
              <a:rPr lang="es-MX" sz="2400" dirty="0" err="1">
                <a:latin typeface="Berlin Sans FB" panose="020E0602020502020306" pitchFamily="34" charset="0"/>
              </a:rPr>
              <a:t>curso.service.ts</a:t>
            </a:r>
            <a:endParaRPr lang="es-MX" sz="2400" dirty="0">
              <a:latin typeface="Berlin Sans FB" panose="020E0602020502020306" pitchFamily="34" charset="0"/>
            </a:endParaRPr>
          </a:p>
          <a:p>
            <a:pPr marL="342900" indent="-342900" algn="just">
              <a:buFont typeface="Arial" panose="020B0604020202020204" pitchFamily="34" charset="0"/>
              <a:buChar char="•"/>
            </a:pPr>
            <a:r>
              <a:rPr lang="es-MX" sz="2400" dirty="0" err="1">
                <a:latin typeface="Berlin Sans FB" panose="020E0602020502020306" pitchFamily="34" charset="0"/>
              </a:rPr>
              <a:t>student.service.ts</a:t>
            </a:r>
            <a:endParaRPr lang="es-MX" sz="2400" dirty="0">
              <a:latin typeface="Berlin Sans FB" panose="020E0602020502020306" pitchFamily="34" charset="0"/>
            </a:endParaRPr>
          </a:p>
          <a:p>
            <a:pPr algn="just">
              <a:lnSpc>
                <a:spcPct val="150000"/>
              </a:lnSpc>
            </a:pPr>
            <a:endParaRPr kumimoji="0" lang="es-ES" altLang="es-ES" sz="2400" i="0" u="none" strike="noStrike" cap="none" normalizeH="0" baseline="0" dirty="0">
              <a:ln>
                <a:noFill/>
              </a:ln>
              <a:solidFill>
                <a:schemeClr val="tx1"/>
              </a:solidFill>
              <a:effectLst/>
              <a:latin typeface="Berlin Sans FB" panose="020E0602020502020306" pitchFamily="34" charset="0"/>
            </a:endParaRPr>
          </a:p>
        </p:txBody>
      </p:sp>
      <p:sp>
        <p:nvSpPr>
          <p:cNvPr id="3" name="Google Shape;392;p64">
            <a:extLst>
              <a:ext uri="{FF2B5EF4-FFF2-40B4-BE49-F238E27FC236}">
                <a16:creationId xmlns:a16="http://schemas.microsoft.com/office/drawing/2014/main" id="{DE52A80C-5113-EEEB-ADFD-656F1385C6FE}"/>
              </a:ext>
            </a:extLst>
          </p:cNvPr>
          <p:cNvSpPr txBox="1">
            <a:spLocks/>
          </p:cNvSpPr>
          <p:nvPr/>
        </p:nvSpPr>
        <p:spPr>
          <a:xfrm>
            <a:off x="2741553" y="1139259"/>
            <a:ext cx="11872945" cy="502627"/>
          </a:xfrm>
          <a:prstGeom prst="rect">
            <a:avLst/>
          </a:prstGeom>
        </p:spPr>
        <p:txBody>
          <a:bodyPr spcFirstLastPara="1" wrap="square" lIns="91425" tIns="91425" rIns="91425" bIns="91425" anchor="ctr" anchorCtr="0">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nSpc>
                <a:spcPct val="90000"/>
              </a:lnSpc>
            </a:pPr>
            <a:endParaRPr lang="es-MX" sz="6000" dirty="0">
              <a:latin typeface="Berlin Sans FB" panose="020E0602020502020306" pitchFamily="34" charset="0"/>
            </a:endParaRPr>
          </a:p>
        </p:txBody>
      </p:sp>
      <p:sp>
        <p:nvSpPr>
          <p:cNvPr id="5" name="Google Shape;392;p64">
            <a:extLst>
              <a:ext uri="{FF2B5EF4-FFF2-40B4-BE49-F238E27FC236}">
                <a16:creationId xmlns:a16="http://schemas.microsoft.com/office/drawing/2014/main" id="{BB353F34-9222-7B7B-F747-C9A2882CBD5D}"/>
              </a:ext>
            </a:extLst>
          </p:cNvPr>
          <p:cNvSpPr txBox="1">
            <a:spLocks/>
          </p:cNvSpPr>
          <p:nvPr/>
        </p:nvSpPr>
        <p:spPr>
          <a:xfrm>
            <a:off x="1494404" y="883639"/>
            <a:ext cx="14999237" cy="458250"/>
          </a:xfrm>
          <a:prstGeom prst="rect">
            <a:avLst/>
          </a:prstGeom>
        </p:spPr>
        <p:txBody>
          <a:bodyPr spcFirstLastPara="1" wrap="square" lIns="91425" tIns="91425" rIns="91425" bIns="91425" anchor="ctr" anchorCtr="0">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nSpc>
                <a:spcPct val="90000"/>
              </a:lnSpc>
            </a:pPr>
            <a:r>
              <a:rPr lang="es-MX" sz="6000" dirty="0">
                <a:latin typeface="Berlin Sans FB" panose="020E0602020502020306" pitchFamily="34" charset="0"/>
              </a:rPr>
              <a:t>Estructura del proyecto</a:t>
            </a:r>
          </a:p>
        </p:txBody>
      </p:sp>
      <p:pic>
        <p:nvPicPr>
          <p:cNvPr id="6" name="Imagen 5" descr="Interfaz de usuario gráfica, Texto, Aplicación&#10;&#10;El contenido generado por IA puede ser incorrecto.">
            <a:extLst>
              <a:ext uri="{FF2B5EF4-FFF2-40B4-BE49-F238E27FC236}">
                <a16:creationId xmlns:a16="http://schemas.microsoft.com/office/drawing/2014/main" id="{BB4533BF-F4FF-DF50-DE1A-AE26449CDCDA}"/>
              </a:ext>
            </a:extLst>
          </p:cNvPr>
          <p:cNvPicPr>
            <a:picLocks noChangeAspect="1"/>
          </p:cNvPicPr>
          <p:nvPr/>
        </p:nvPicPr>
        <p:blipFill>
          <a:blip r:embed="rId6"/>
          <a:stretch>
            <a:fillRect/>
          </a:stretch>
        </p:blipFill>
        <p:spPr>
          <a:xfrm>
            <a:off x="8678025" y="3305965"/>
            <a:ext cx="9385902" cy="5279570"/>
          </a:xfrm>
          <a:prstGeom prst="rect">
            <a:avLst/>
          </a:prstGeom>
        </p:spPr>
      </p:pic>
    </p:spTree>
    <p:extLst>
      <p:ext uri="{BB962C8B-B14F-4D97-AF65-F5344CB8AC3E}">
        <p14:creationId xmlns:p14="http://schemas.microsoft.com/office/powerpoint/2010/main" val="10173093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reeform 8"/>
          <p:cNvSpPr/>
          <p:nvPr/>
        </p:nvSpPr>
        <p:spPr>
          <a:xfrm rot="2761435">
            <a:off x="7430449" y="-2389394"/>
            <a:ext cx="3718326" cy="4017838"/>
          </a:xfrm>
          <a:custGeom>
            <a:avLst/>
            <a:gdLst/>
            <a:ahLst/>
            <a:cxnLst/>
            <a:rect l="l" t="t" r="r" b="b"/>
            <a:pathLst>
              <a:path w="3718326" h="4017838">
                <a:moveTo>
                  <a:pt x="0" y="0"/>
                </a:moveTo>
                <a:lnTo>
                  <a:pt x="3718327" y="0"/>
                </a:lnTo>
                <a:lnTo>
                  <a:pt x="3718327" y="4017838"/>
                </a:lnTo>
                <a:lnTo>
                  <a:pt x="0" y="401783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9" name="Freeform 9"/>
          <p:cNvSpPr/>
          <p:nvPr/>
        </p:nvSpPr>
        <p:spPr>
          <a:xfrm rot="-2430465">
            <a:off x="285971" y="7039840"/>
            <a:ext cx="2562779" cy="3014631"/>
          </a:xfrm>
          <a:custGeom>
            <a:avLst/>
            <a:gdLst/>
            <a:ahLst/>
            <a:cxnLst/>
            <a:rect l="l" t="t" r="r" b="b"/>
            <a:pathLst>
              <a:path w="2562779" h="3014631">
                <a:moveTo>
                  <a:pt x="0" y="0"/>
                </a:moveTo>
                <a:lnTo>
                  <a:pt x="2562779" y="0"/>
                </a:lnTo>
                <a:lnTo>
                  <a:pt x="2562779" y="3014631"/>
                </a:lnTo>
                <a:lnTo>
                  <a:pt x="0" y="301463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0" name="Freeform 10"/>
          <p:cNvSpPr/>
          <p:nvPr/>
        </p:nvSpPr>
        <p:spPr>
          <a:xfrm rot="-2430465">
            <a:off x="15260927" y="298515"/>
            <a:ext cx="2465428" cy="2900117"/>
          </a:xfrm>
          <a:custGeom>
            <a:avLst/>
            <a:gdLst/>
            <a:ahLst/>
            <a:cxnLst/>
            <a:rect l="l" t="t" r="r" b="b"/>
            <a:pathLst>
              <a:path w="2465428" h="2900117">
                <a:moveTo>
                  <a:pt x="0" y="0"/>
                </a:moveTo>
                <a:lnTo>
                  <a:pt x="2465428" y="0"/>
                </a:lnTo>
                <a:lnTo>
                  <a:pt x="2465428" y="2900116"/>
                </a:lnTo>
                <a:lnTo>
                  <a:pt x="0" y="290011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1" name="Freeform 11"/>
          <p:cNvSpPr/>
          <p:nvPr/>
        </p:nvSpPr>
        <p:spPr>
          <a:xfrm rot="2761435">
            <a:off x="7377228" y="8516603"/>
            <a:ext cx="3718326" cy="4017838"/>
          </a:xfrm>
          <a:custGeom>
            <a:avLst/>
            <a:gdLst/>
            <a:ahLst/>
            <a:cxnLst/>
            <a:rect l="l" t="t" r="r" b="b"/>
            <a:pathLst>
              <a:path w="3718326" h="4017838">
                <a:moveTo>
                  <a:pt x="0" y="0"/>
                </a:moveTo>
                <a:lnTo>
                  <a:pt x="3718326" y="0"/>
                </a:lnTo>
                <a:lnTo>
                  <a:pt x="3718326" y="4017838"/>
                </a:lnTo>
                <a:lnTo>
                  <a:pt x="0" y="401783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 name="Google Shape;392;p64">
            <a:extLst>
              <a:ext uri="{FF2B5EF4-FFF2-40B4-BE49-F238E27FC236}">
                <a16:creationId xmlns:a16="http://schemas.microsoft.com/office/drawing/2014/main" id="{30796F42-4B3A-3823-9B02-295011F9281B}"/>
              </a:ext>
            </a:extLst>
          </p:cNvPr>
          <p:cNvSpPr txBox="1">
            <a:spLocks/>
          </p:cNvSpPr>
          <p:nvPr/>
        </p:nvSpPr>
        <p:spPr>
          <a:xfrm>
            <a:off x="3134716" y="1039502"/>
            <a:ext cx="12867283" cy="604774"/>
          </a:xfrm>
          <a:prstGeom prst="rect">
            <a:avLst/>
          </a:prstGeom>
        </p:spPr>
        <p:txBody>
          <a:bodyPr spcFirstLastPara="1" wrap="square" lIns="91425" tIns="91425" rIns="91425" bIns="91425" anchor="ctr" anchorCtr="0">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nSpc>
                <a:spcPct val="90000"/>
              </a:lnSpc>
            </a:pPr>
            <a:endParaRPr lang="es-MX" sz="6000" dirty="0">
              <a:latin typeface="Berlin Sans FB" panose="020E0602020502020306" pitchFamily="34" charset="0"/>
            </a:endParaRPr>
          </a:p>
        </p:txBody>
      </p:sp>
      <p:sp>
        <p:nvSpPr>
          <p:cNvPr id="4" name="Google Shape;392;p64">
            <a:extLst>
              <a:ext uri="{FF2B5EF4-FFF2-40B4-BE49-F238E27FC236}">
                <a16:creationId xmlns:a16="http://schemas.microsoft.com/office/drawing/2014/main" id="{5396C517-D7BC-3EFA-07A8-23A761498EFC}"/>
              </a:ext>
            </a:extLst>
          </p:cNvPr>
          <p:cNvSpPr txBox="1">
            <a:spLocks/>
          </p:cNvSpPr>
          <p:nvPr/>
        </p:nvSpPr>
        <p:spPr>
          <a:xfrm>
            <a:off x="2895600" y="998446"/>
            <a:ext cx="8064000" cy="572700"/>
          </a:xfrm>
          <a:prstGeom prst="rect">
            <a:avLst/>
          </a:prstGeom>
        </p:spPr>
        <p:txBody>
          <a:bodyPr spcFirstLastPara="1" wrap="square" lIns="91425" tIns="91425" rIns="91425" bIns="91425" anchor="ctr" anchorCtr="0">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nSpc>
                <a:spcPct val="90000"/>
              </a:lnSpc>
            </a:pPr>
            <a:endParaRPr lang="es-MX" sz="6000" dirty="0">
              <a:latin typeface="Berlin Sans FB" panose="020E0602020502020306" pitchFamily="34" charset="0"/>
            </a:endParaRPr>
          </a:p>
        </p:txBody>
      </p:sp>
      <p:sp>
        <p:nvSpPr>
          <p:cNvPr id="7" name="Rectangle 3">
            <a:extLst>
              <a:ext uri="{FF2B5EF4-FFF2-40B4-BE49-F238E27FC236}">
                <a16:creationId xmlns:a16="http://schemas.microsoft.com/office/drawing/2014/main" id="{BCD0019F-2F34-B73A-17A1-6DA8C52CD880}"/>
              </a:ext>
            </a:extLst>
          </p:cNvPr>
          <p:cNvSpPr>
            <a:spLocks noChangeArrowheads="1"/>
          </p:cNvSpPr>
          <p:nvPr/>
        </p:nvSpPr>
        <p:spPr bwMode="auto">
          <a:xfrm>
            <a:off x="796582" y="4706434"/>
            <a:ext cx="7881443" cy="9456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endParaRPr lang="es-MX" sz="2400" dirty="0">
              <a:latin typeface="Berlin Sans FB" panose="020E0602020502020306" pitchFamily="34" charset="0"/>
            </a:endParaRPr>
          </a:p>
          <a:p>
            <a:pPr algn="just">
              <a:lnSpc>
                <a:spcPct val="150000"/>
              </a:lnSpc>
            </a:pPr>
            <a:endParaRPr kumimoji="0" lang="es-ES" altLang="es-ES" sz="2400" i="0" u="none" strike="noStrike" cap="none" normalizeH="0" baseline="0" dirty="0">
              <a:ln>
                <a:noFill/>
              </a:ln>
              <a:solidFill>
                <a:schemeClr val="tx1"/>
              </a:solidFill>
              <a:effectLst/>
              <a:latin typeface="Berlin Sans FB" panose="020E0602020502020306" pitchFamily="34" charset="0"/>
            </a:endParaRPr>
          </a:p>
        </p:txBody>
      </p:sp>
      <p:sp>
        <p:nvSpPr>
          <p:cNvPr id="3" name="Google Shape;392;p64">
            <a:extLst>
              <a:ext uri="{FF2B5EF4-FFF2-40B4-BE49-F238E27FC236}">
                <a16:creationId xmlns:a16="http://schemas.microsoft.com/office/drawing/2014/main" id="{DE52A80C-5113-EEEB-ADFD-656F1385C6FE}"/>
              </a:ext>
            </a:extLst>
          </p:cNvPr>
          <p:cNvSpPr txBox="1">
            <a:spLocks/>
          </p:cNvSpPr>
          <p:nvPr/>
        </p:nvSpPr>
        <p:spPr>
          <a:xfrm>
            <a:off x="2741553" y="1139259"/>
            <a:ext cx="11872945" cy="502627"/>
          </a:xfrm>
          <a:prstGeom prst="rect">
            <a:avLst/>
          </a:prstGeom>
        </p:spPr>
        <p:txBody>
          <a:bodyPr spcFirstLastPara="1" wrap="square" lIns="91425" tIns="91425" rIns="91425" bIns="91425" anchor="ctr" anchorCtr="0">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nSpc>
                <a:spcPct val="90000"/>
              </a:lnSpc>
            </a:pPr>
            <a:endParaRPr lang="es-MX" sz="6000" dirty="0">
              <a:latin typeface="Berlin Sans FB" panose="020E0602020502020306" pitchFamily="34" charset="0"/>
            </a:endParaRPr>
          </a:p>
        </p:txBody>
      </p:sp>
      <p:sp>
        <p:nvSpPr>
          <p:cNvPr id="5" name="Google Shape;392;p64">
            <a:extLst>
              <a:ext uri="{FF2B5EF4-FFF2-40B4-BE49-F238E27FC236}">
                <a16:creationId xmlns:a16="http://schemas.microsoft.com/office/drawing/2014/main" id="{BB353F34-9222-7B7B-F747-C9A2882CBD5D}"/>
              </a:ext>
            </a:extLst>
          </p:cNvPr>
          <p:cNvSpPr txBox="1">
            <a:spLocks/>
          </p:cNvSpPr>
          <p:nvPr/>
        </p:nvSpPr>
        <p:spPr>
          <a:xfrm>
            <a:off x="1494404" y="883639"/>
            <a:ext cx="14999237" cy="458250"/>
          </a:xfrm>
          <a:prstGeom prst="rect">
            <a:avLst/>
          </a:prstGeom>
        </p:spPr>
        <p:txBody>
          <a:bodyPr spcFirstLastPara="1" wrap="square" lIns="91425" tIns="91425" rIns="91425" bIns="91425" anchor="ctr" anchorCtr="0">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nSpc>
                <a:spcPct val="90000"/>
              </a:lnSpc>
            </a:pPr>
            <a:r>
              <a:rPr lang="es-MX" sz="6000" dirty="0">
                <a:latin typeface="Berlin Sans FB" panose="020E0602020502020306" pitchFamily="34" charset="0"/>
              </a:rPr>
              <a:t>Conexión con los microservicios</a:t>
            </a:r>
          </a:p>
        </p:txBody>
      </p:sp>
      <p:sp>
        <p:nvSpPr>
          <p:cNvPr id="13" name="CuadroTexto 12">
            <a:extLst>
              <a:ext uri="{FF2B5EF4-FFF2-40B4-BE49-F238E27FC236}">
                <a16:creationId xmlns:a16="http://schemas.microsoft.com/office/drawing/2014/main" id="{0EA371C5-C569-CE3A-06BD-E23F9A3D1A41}"/>
              </a:ext>
            </a:extLst>
          </p:cNvPr>
          <p:cNvSpPr txBox="1"/>
          <p:nvPr/>
        </p:nvSpPr>
        <p:spPr>
          <a:xfrm>
            <a:off x="1136376" y="3355184"/>
            <a:ext cx="7348346" cy="3346301"/>
          </a:xfrm>
          <a:prstGeom prst="rect">
            <a:avLst/>
          </a:prstGeom>
          <a:noFill/>
        </p:spPr>
        <p:txBody>
          <a:bodyPr wrap="square">
            <a:spAutoFit/>
          </a:bodyPr>
          <a:lstStyle/>
          <a:p>
            <a:pPr algn="just">
              <a:lnSpc>
                <a:spcPct val="150000"/>
              </a:lnSpc>
            </a:pPr>
            <a:r>
              <a:rPr lang="es-ES" sz="2400" dirty="0">
                <a:latin typeface="Berlin Sans FB" panose="020E0602020502020306" pitchFamily="34" charset="0"/>
              </a:rPr>
              <a:t>11.  La comunicación con los microservicios se realizó mediante </a:t>
            </a:r>
            <a:r>
              <a:rPr lang="es-ES" sz="2400" dirty="0" err="1">
                <a:latin typeface="Berlin Sans FB" panose="020E0602020502020306" pitchFamily="34" charset="0"/>
              </a:rPr>
              <a:t>HttpClient</a:t>
            </a:r>
            <a:r>
              <a:rPr lang="es-ES" sz="2400" dirty="0">
                <a:latin typeface="Berlin Sans FB" panose="020E0602020502020306" pitchFamily="34" charset="0"/>
              </a:rPr>
              <a:t> desde los servicios de Angular.</a:t>
            </a:r>
            <a:br>
              <a:rPr lang="es-ES" sz="2400" dirty="0">
                <a:latin typeface="Berlin Sans FB" panose="020E0602020502020306" pitchFamily="34" charset="0"/>
              </a:rPr>
            </a:br>
            <a:r>
              <a:rPr lang="es-ES" sz="2400" dirty="0">
                <a:latin typeface="Berlin Sans FB" panose="020E0602020502020306" pitchFamily="34" charset="0"/>
              </a:rPr>
              <a:t>Por ejemplo, se implementó un método para listar cursos.</a:t>
            </a:r>
            <a:br>
              <a:rPr lang="es-ES" sz="2400" dirty="0">
                <a:latin typeface="Berlin Sans FB" panose="020E0602020502020306" pitchFamily="34" charset="0"/>
              </a:rPr>
            </a:br>
            <a:r>
              <a:rPr lang="es-ES" sz="2400" dirty="0">
                <a:latin typeface="Berlin Sans FB" panose="020E0602020502020306" pitchFamily="34" charset="0"/>
              </a:rPr>
              <a:t>Cada servicio también incluye los métodos </a:t>
            </a:r>
            <a:r>
              <a:rPr lang="es-ES" sz="2400" dirty="0" err="1">
                <a:latin typeface="Berlin Sans FB" panose="020E0602020502020306" pitchFamily="34" charset="0"/>
              </a:rPr>
              <a:t>create</a:t>
            </a:r>
            <a:r>
              <a:rPr lang="es-ES" sz="2400" dirty="0">
                <a:latin typeface="Berlin Sans FB" panose="020E0602020502020306" pitchFamily="34" charset="0"/>
              </a:rPr>
              <a:t>, </a:t>
            </a:r>
            <a:r>
              <a:rPr lang="es-ES" sz="2400" dirty="0" err="1">
                <a:latin typeface="Berlin Sans FB" panose="020E0602020502020306" pitchFamily="34" charset="0"/>
              </a:rPr>
              <a:t>update</a:t>
            </a:r>
            <a:r>
              <a:rPr lang="es-ES" sz="2400" dirty="0">
                <a:latin typeface="Berlin Sans FB" panose="020E0602020502020306" pitchFamily="34" charset="0"/>
              </a:rPr>
              <a:t> y </a:t>
            </a:r>
            <a:r>
              <a:rPr lang="es-ES" sz="2400" dirty="0" err="1">
                <a:latin typeface="Berlin Sans FB" panose="020E0602020502020306" pitchFamily="34" charset="0"/>
              </a:rPr>
              <a:t>delete</a:t>
            </a:r>
            <a:r>
              <a:rPr lang="es-ES" sz="2400" dirty="0">
                <a:latin typeface="Berlin Sans FB" panose="020E0602020502020306" pitchFamily="34" charset="0"/>
              </a:rPr>
              <a:t>, completando así las operaciones CRUD.</a:t>
            </a:r>
          </a:p>
        </p:txBody>
      </p:sp>
      <p:pic>
        <p:nvPicPr>
          <p:cNvPr id="14" name="Imagen 13">
            <a:extLst>
              <a:ext uri="{FF2B5EF4-FFF2-40B4-BE49-F238E27FC236}">
                <a16:creationId xmlns:a16="http://schemas.microsoft.com/office/drawing/2014/main" id="{69EEDFD0-A70C-ACBC-16AF-EA5DF3486BCD}"/>
              </a:ext>
            </a:extLst>
          </p:cNvPr>
          <p:cNvPicPr>
            <a:picLocks noChangeAspect="1"/>
          </p:cNvPicPr>
          <p:nvPr/>
        </p:nvPicPr>
        <p:blipFill>
          <a:blip r:embed="rId6"/>
          <a:stretch>
            <a:fillRect/>
          </a:stretch>
        </p:blipFill>
        <p:spPr>
          <a:xfrm>
            <a:off x="9048396" y="2947645"/>
            <a:ext cx="8613439" cy="4845059"/>
          </a:xfrm>
          <a:prstGeom prst="rect">
            <a:avLst/>
          </a:prstGeom>
        </p:spPr>
      </p:pic>
    </p:spTree>
    <p:extLst>
      <p:ext uri="{BB962C8B-B14F-4D97-AF65-F5344CB8AC3E}">
        <p14:creationId xmlns:p14="http://schemas.microsoft.com/office/powerpoint/2010/main" val="12886849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reeform 8"/>
          <p:cNvSpPr/>
          <p:nvPr/>
        </p:nvSpPr>
        <p:spPr>
          <a:xfrm rot="2761435">
            <a:off x="7430449" y="-2389394"/>
            <a:ext cx="3718326" cy="4017838"/>
          </a:xfrm>
          <a:custGeom>
            <a:avLst/>
            <a:gdLst/>
            <a:ahLst/>
            <a:cxnLst/>
            <a:rect l="l" t="t" r="r" b="b"/>
            <a:pathLst>
              <a:path w="3718326" h="4017838">
                <a:moveTo>
                  <a:pt x="0" y="0"/>
                </a:moveTo>
                <a:lnTo>
                  <a:pt x="3718327" y="0"/>
                </a:lnTo>
                <a:lnTo>
                  <a:pt x="3718327" y="4017838"/>
                </a:lnTo>
                <a:lnTo>
                  <a:pt x="0" y="401783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9" name="Freeform 9"/>
          <p:cNvSpPr/>
          <p:nvPr/>
        </p:nvSpPr>
        <p:spPr>
          <a:xfrm rot="-2430465">
            <a:off x="285971" y="7039840"/>
            <a:ext cx="2562779" cy="3014631"/>
          </a:xfrm>
          <a:custGeom>
            <a:avLst/>
            <a:gdLst/>
            <a:ahLst/>
            <a:cxnLst/>
            <a:rect l="l" t="t" r="r" b="b"/>
            <a:pathLst>
              <a:path w="2562779" h="3014631">
                <a:moveTo>
                  <a:pt x="0" y="0"/>
                </a:moveTo>
                <a:lnTo>
                  <a:pt x="2562779" y="0"/>
                </a:lnTo>
                <a:lnTo>
                  <a:pt x="2562779" y="3014631"/>
                </a:lnTo>
                <a:lnTo>
                  <a:pt x="0" y="301463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0" name="Freeform 10"/>
          <p:cNvSpPr/>
          <p:nvPr/>
        </p:nvSpPr>
        <p:spPr>
          <a:xfrm rot="-2430465">
            <a:off x="15260927" y="298515"/>
            <a:ext cx="2465428" cy="2900117"/>
          </a:xfrm>
          <a:custGeom>
            <a:avLst/>
            <a:gdLst/>
            <a:ahLst/>
            <a:cxnLst/>
            <a:rect l="l" t="t" r="r" b="b"/>
            <a:pathLst>
              <a:path w="2465428" h="2900117">
                <a:moveTo>
                  <a:pt x="0" y="0"/>
                </a:moveTo>
                <a:lnTo>
                  <a:pt x="2465428" y="0"/>
                </a:lnTo>
                <a:lnTo>
                  <a:pt x="2465428" y="2900116"/>
                </a:lnTo>
                <a:lnTo>
                  <a:pt x="0" y="290011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1" name="Freeform 11"/>
          <p:cNvSpPr/>
          <p:nvPr/>
        </p:nvSpPr>
        <p:spPr>
          <a:xfrm rot="2761435">
            <a:off x="7377228" y="8516603"/>
            <a:ext cx="3718326" cy="4017838"/>
          </a:xfrm>
          <a:custGeom>
            <a:avLst/>
            <a:gdLst/>
            <a:ahLst/>
            <a:cxnLst/>
            <a:rect l="l" t="t" r="r" b="b"/>
            <a:pathLst>
              <a:path w="3718326" h="4017838">
                <a:moveTo>
                  <a:pt x="0" y="0"/>
                </a:moveTo>
                <a:lnTo>
                  <a:pt x="3718326" y="0"/>
                </a:lnTo>
                <a:lnTo>
                  <a:pt x="3718326" y="4017838"/>
                </a:lnTo>
                <a:lnTo>
                  <a:pt x="0" y="401783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2" name="Google Shape;392;p64">
            <a:extLst>
              <a:ext uri="{FF2B5EF4-FFF2-40B4-BE49-F238E27FC236}">
                <a16:creationId xmlns:a16="http://schemas.microsoft.com/office/drawing/2014/main" id="{30796F42-4B3A-3823-9B02-295011F9281B}"/>
              </a:ext>
            </a:extLst>
          </p:cNvPr>
          <p:cNvSpPr txBox="1">
            <a:spLocks/>
          </p:cNvSpPr>
          <p:nvPr/>
        </p:nvSpPr>
        <p:spPr>
          <a:xfrm>
            <a:off x="3134716" y="1039502"/>
            <a:ext cx="12867283" cy="604774"/>
          </a:xfrm>
          <a:prstGeom prst="rect">
            <a:avLst/>
          </a:prstGeom>
        </p:spPr>
        <p:txBody>
          <a:bodyPr spcFirstLastPara="1" wrap="square" lIns="91425" tIns="91425" rIns="91425" bIns="91425" anchor="ctr" anchorCtr="0">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nSpc>
                <a:spcPct val="90000"/>
              </a:lnSpc>
            </a:pPr>
            <a:endParaRPr lang="es-MX" sz="6000" dirty="0">
              <a:latin typeface="Berlin Sans FB" panose="020E0602020502020306" pitchFamily="34" charset="0"/>
            </a:endParaRPr>
          </a:p>
        </p:txBody>
      </p:sp>
      <p:sp>
        <p:nvSpPr>
          <p:cNvPr id="4" name="Google Shape;392;p64">
            <a:extLst>
              <a:ext uri="{FF2B5EF4-FFF2-40B4-BE49-F238E27FC236}">
                <a16:creationId xmlns:a16="http://schemas.microsoft.com/office/drawing/2014/main" id="{5396C517-D7BC-3EFA-07A8-23A761498EFC}"/>
              </a:ext>
            </a:extLst>
          </p:cNvPr>
          <p:cNvSpPr txBox="1">
            <a:spLocks/>
          </p:cNvSpPr>
          <p:nvPr/>
        </p:nvSpPr>
        <p:spPr>
          <a:xfrm>
            <a:off x="2895600" y="998446"/>
            <a:ext cx="8064000" cy="572700"/>
          </a:xfrm>
          <a:prstGeom prst="rect">
            <a:avLst/>
          </a:prstGeom>
        </p:spPr>
        <p:txBody>
          <a:bodyPr spcFirstLastPara="1" wrap="square" lIns="91425" tIns="91425" rIns="91425" bIns="91425" anchor="ctr" anchorCtr="0">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nSpc>
                <a:spcPct val="90000"/>
              </a:lnSpc>
            </a:pPr>
            <a:endParaRPr lang="es-MX" sz="6000" dirty="0">
              <a:latin typeface="Berlin Sans FB" panose="020E0602020502020306" pitchFamily="34" charset="0"/>
            </a:endParaRPr>
          </a:p>
        </p:txBody>
      </p:sp>
      <p:sp>
        <p:nvSpPr>
          <p:cNvPr id="7" name="Rectangle 3">
            <a:extLst>
              <a:ext uri="{FF2B5EF4-FFF2-40B4-BE49-F238E27FC236}">
                <a16:creationId xmlns:a16="http://schemas.microsoft.com/office/drawing/2014/main" id="{BCD0019F-2F34-B73A-17A1-6DA8C52CD880}"/>
              </a:ext>
            </a:extLst>
          </p:cNvPr>
          <p:cNvSpPr>
            <a:spLocks noChangeArrowheads="1"/>
          </p:cNvSpPr>
          <p:nvPr/>
        </p:nvSpPr>
        <p:spPr bwMode="auto">
          <a:xfrm>
            <a:off x="796582" y="4706434"/>
            <a:ext cx="7881443" cy="9456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endParaRPr lang="es-MX" sz="2400" dirty="0">
              <a:latin typeface="Berlin Sans FB" panose="020E0602020502020306" pitchFamily="34" charset="0"/>
            </a:endParaRPr>
          </a:p>
          <a:p>
            <a:pPr algn="just">
              <a:lnSpc>
                <a:spcPct val="150000"/>
              </a:lnSpc>
            </a:pPr>
            <a:endParaRPr kumimoji="0" lang="es-ES" altLang="es-ES" sz="2400" i="0" u="none" strike="noStrike" cap="none" normalizeH="0" baseline="0" dirty="0">
              <a:ln>
                <a:noFill/>
              </a:ln>
              <a:solidFill>
                <a:schemeClr val="tx1"/>
              </a:solidFill>
              <a:effectLst/>
              <a:latin typeface="Berlin Sans FB" panose="020E0602020502020306" pitchFamily="34" charset="0"/>
            </a:endParaRPr>
          </a:p>
        </p:txBody>
      </p:sp>
      <p:sp>
        <p:nvSpPr>
          <p:cNvPr id="3" name="Google Shape;392;p64">
            <a:extLst>
              <a:ext uri="{FF2B5EF4-FFF2-40B4-BE49-F238E27FC236}">
                <a16:creationId xmlns:a16="http://schemas.microsoft.com/office/drawing/2014/main" id="{DE52A80C-5113-EEEB-ADFD-656F1385C6FE}"/>
              </a:ext>
            </a:extLst>
          </p:cNvPr>
          <p:cNvSpPr txBox="1">
            <a:spLocks/>
          </p:cNvSpPr>
          <p:nvPr/>
        </p:nvSpPr>
        <p:spPr>
          <a:xfrm>
            <a:off x="2741553" y="1139259"/>
            <a:ext cx="11872945" cy="502627"/>
          </a:xfrm>
          <a:prstGeom prst="rect">
            <a:avLst/>
          </a:prstGeom>
        </p:spPr>
        <p:txBody>
          <a:bodyPr spcFirstLastPara="1" wrap="square" lIns="91425" tIns="91425" rIns="91425" bIns="91425" anchor="ctr" anchorCtr="0">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nSpc>
                <a:spcPct val="90000"/>
              </a:lnSpc>
            </a:pPr>
            <a:endParaRPr lang="es-MX" sz="6000" dirty="0">
              <a:latin typeface="Berlin Sans FB" panose="020E0602020502020306" pitchFamily="34" charset="0"/>
            </a:endParaRPr>
          </a:p>
        </p:txBody>
      </p:sp>
      <p:sp>
        <p:nvSpPr>
          <p:cNvPr id="5" name="Google Shape;392;p64">
            <a:extLst>
              <a:ext uri="{FF2B5EF4-FFF2-40B4-BE49-F238E27FC236}">
                <a16:creationId xmlns:a16="http://schemas.microsoft.com/office/drawing/2014/main" id="{BB353F34-9222-7B7B-F747-C9A2882CBD5D}"/>
              </a:ext>
            </a:extLst>
          </p:cNvPr>
          <p:cNvSpPr txBox="1">
            <a:spLocks/>
          </p:cNvSpPr>
          <p:nvPr/>
        </p:nvSpPr>
        <p:spPr>
          <a:xfrm>
            <a:off x="1494404" y="883639"/>
            <a:ext cx="14999237" cy="458250"/>
          </a:xfrm>
          <a:prstGeom prst="rect">
            <a:avLst/>
          </a:prstGeom>
        </p:spPr>
        <p:txBody>
          <a:bodyPr spcFirstLastPara="1" wrap="square" lIns="91425" tIns="91425" rIns="91425" bIns="91425" anchor="ctr" anchorCtr="0">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nSpc>
                <a:spcPct val="90000"/>
              </a:lnSpc>
            </a:pPr>
            <a:r>
              <a:rPr lang="es-MX" sz="6000" dirty="0">
                <a:latin typeface="Berlin Sans FB" panose="020E0602020502020306" pitchFamily="34" charset="0"/>
              </a:rPr>
              <a:t>Interfaz gráfica</a:t>
            </a:r>
          </a:p>
        </p:txBody>
      </p:sp>
      <p:sp>
        <p:nvSpPr>
          <p:cNvPr id="13" name="CuadroTexto 12">
            <a:extLst>
              <a:ext uri="{FF2B5EF4-FFF2-40B4-BE49-F238E27FC236}">
                <a16:creationId xmlns:a16="http://schemas.microsoft.com/office/drawing/2014/main" id="{0EA371C5-C569-CE3A-06BD-E23F9A3D1A41}"/>
              </a:ext>
            </a:extLst>
          </p:cNvPr>
          <p:cNvSpPr txBox="1"/>
          <p:nvPr/>
        </p:nvSpPr>
        <p:spPr>
          <a:xfrm>
            <a:off x="355437" y="2607963"/>
            <a:ext cx="9144000" cy="2248372"/>
          </a:xfrm>
          <a:prstGeom prst="rect">
            <a:avLst/>
          </a:prstGeom>
          <a:noFill/>
        </p:spPr>
        <p:txBody>
          <a:bodyPr wrap="square">
            <a:spAutoFit/>
          </a:bodyPr>
          <a:lstStyle/>
          <a:p>
            <a:pPr algn="just">
              <a:lnSpc>
                <a:spcPct val="150000"/>
              </a:lnSpc>
            </a:pPr>
            <a:r>
              <a:rPr lang="es-ES" sz="2400" dirty="0"/>
              <a:t>Los registros se presentaron en tablas estilizadas con Bootstrap.</a:t>
            </a:r>
            <a:br>
              <a:rPr lang="es-ES" sz="2400" dirty="0"/>
            </a:br>
            <a:r>
              <a:rPr lang="es-ES" sz="2400" dirty="0"/>
              <a:t>Se incluyó un botón “Agregar”, que abre una ventana modal con los campos necesarios para registrar un nuevo elemento.</a:t>
            </a:r>
            <a:br>
              <a:rPr lang="es-ES" sz="2400" dirty="0"/>
            </a:br>
            <a:r>
              <a:rPr lang="es-ES" sz="2400" dirty="0"/>
              <a:t>Cada fila de la tabla dispone de botones para Editar y Eliminar registros.</a:t>
            </a:r>
            <a:endParaRPr lang="es-ES" sz="2400" dirty="0">
              <a:latin typeface="Berlin Sans FB" panose="020E0602020502020306" pitchFamily="34" charset="0"/>
            </a:endParaRPr>
          </a:p>
        </p:txBody>
      </p:sp>
      <p:pic>
        <p:nvPicPr>
          <p:cNvPr id="6" name="Imagen 5">
            <a:extLst>
              <a:ext uri="{FF2B5EF4-FFF2-40B4-BE49-F238E27FC236}">
                <a16:creationId xmlns:a16="http://schemas.microsoft.com/office/drawing/2014/main" id="{8B77DE3C-D82B-A64A-C5EC-FDEFC6E9B3F5}"/>
              </a:ext>
            </a:extLst>
          </p:cNvPr>
          <p:cNvPicPr>
            <a:picLocks noChangeAspect="1"/>
          </p:cNvPicPr>
          <p:nvPr/>
        </p:nvPicPr>
        <p:blipFill>
          <a:blip r:embed="rId7"/>
          <a:srcRect r="33804" b="-3"/>
          <a:stretch>
            <a:fillRect/>
          </a:stretch>
        </p:blipFill>
        <p:spPr>
          <a:xfrm>
            <a:off x="9950553" y="1839998"/>
            <a:ext cx="8191707" cy="6961102"/>
          </a:xfrm>
          <a:prstGeom prst="rect">
            <a:avLst/>
          </a:prstGeom>
          <a:noFill/>
          <a:ln>
            <a:noFill/>
          </a:ln>
        </p:spPr>
      </p:pic>
    </p:spTree>
    <p:extLst>
      <p:ext uri="{BB962C8B-B14F-4D97-AF65-F5344CB8AC3E}">
        <p14:creationId xmlns:p14="http://schemas.microsoft.com/office/powerpoint/2010/main" val="36465168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reeform 8"/>
          <p:cNvSpPr/>
          <p:nvPr/>
        </p:nvSpPr>
        <p:spPr>
          <a:xfrm rot="2761435">
            <a:off x="7430449" y="-2389394"/>
            <a:ext cx="3718326" cy="4017838"/>
          </a:xfrm>
          <a:custGeom>
            <a:avLst/>
            <a:gdLst/>
            <a:ahLst/>
            <a:cxnLst/>
            <a:rect l="l" t="t" r="r" b="b"/>
            <a:pathLst>
              <a:path w="3718326" h="4017838">
                <a:moveTo>
                  <a:pt x="0" y="0"/>
                </a:moveTo>
                <a:lnTo>
                  <a:pt x="3718327" y="0"/>
                </a:lnTo>
                <a:lnTo>
                  <a:pt x="3718327" y="4017838"/>
                </a:lnTo>
                <a:lnTo>
                  <a:pt x="0" y="401783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9" name="Freeform 9"/>
          <p:cNvSpPr/>
          <p:nvPr/>
        </p:nvSpPr>
        <p:spPr>
          <a:xfrm rot="-2430465">
            <a:off x="285971" y="7039840"/>
            <a:ext cx="2562779" cy="3014631"/>
          </a:xfrm>
          <a:custGeom>
            <a:avLst/>
            <a:gdLst/>
            <a:ahLst/>
            <a:cxnLst/>
            <a:rect l="l" t="t" r="r" b="b"/>
            <a:pathLst>
              <a:path w="2562779" h="3014631">
                <a:moveTo>
                  <a:pt x="0" y="0"/>
                </a:moveTo>
                <a:lnTo>
                  <a:pt x="2562779" y="0"/>
                </a:lnTo>
                <a:lnTo>
                  <a:pt x="2562779" y="3014631"/>
                </a:lnTo>
                <a:lnTo>
                  <a:pt x="0" y="301463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0" name="Freeform 10"/>
          <p:cNvSpPr/>
          <p:nvPr/>
        </p:nvSpPr>
        <p:spPr>
          <a:xfrm rot="-2430465">
            <a:off x="15260927" y="298515"/>
            <a:ext cx="2465428" cy="2900117"/>
          </a:xfrm>
          <a:custGeom>
            <a:avLst/>
            <a:gdLst/>
            <a:ahLst/>
            <a:cxnLst/>
            <a:rect l="l" t="t" r="r" b="b"/>
            <a:pathLst>
              <a:path w="2465428" h="2900117">
                <a:moveTo>
                  <a:pt x="0" y="0"/>
                </a:moveTo>
                <a:lnTo>
                  <a:pt x="2465428" y="0"/>
                </a:lnTo>
                <a:lnTo>
                  <a:pt x="2465428" y="2900116"/>
                </a:lnTo>
                <a:lnTo>
                  <a:pt x="0" y="290011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1" name="Freeform 11"/>
          <p:cNvSpPr/>
          <p:nvPr/>
        </p:nvSpPr>
        <p:spPr>
          <a:xfrm rot="2761435">
            <a:off x="7377228" y="8516603"/>
            <a:ext cx="3718326" cy="4017838"/>
          </a:xfrm>
          <a:custGeom>
            <a:avLst/>
            <a:gdLst/>
            <a:ahLst/>
            <a:cxnLst/>
            <a:rect l="l" t="t" r="r" b="b"/>
            <a:pathLst>
              <a:path w="3718326" h="4017838">
                <a:moveTo>
                  <a:pt x="0" y="0"/>
                </a:moveTo>
                <a:lnTo>
                  <a:pt x="3718326" y="0"/>
                </a:lnTo>
                <a:lnTo>
                  <a:pt x="3718326" y="4017838"/>
                </a:lnTo>
                <a:lnTo>
                  <a:pt x="0" y="401783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2" name="Google Shape;392;p64">
            <a:extLst>
              <a:ext uri="{FF2B5EF4-FFF2-40B4-BE49-F238E27FC236}">
                <a16:creationId xmlns:a16="http://schemas.microsoft.com/office/drawing/2014/main" id="{30796F42-4B3A-3823-9B02-295011F9281B}"/>
              </a:ext>
            </a:extLst>
          </p:cNvPr>
          <p:cNvSpPr txBox="1">
            <a:spLocks/>
          </p:cNvSpPr>
          <p:nvPr/>
        </p:nvSpPr>
        <p:spPr>
          <a:xfrm>
            <a:off x="3134716" y="1039502"/>
            <a:ext cx="12867283" cy="604774"/>
          </a:xfrm>
          <a:prstGeom prst="rect">
            <a:avLst/>
          </a:prstGeom>
        </p:spPr>
        <p:txBody>
          <a:bodyPr spcFirstLastPara="1" wrap="square" lIns="91425" tIns="91425" rIns="91425" bIns="91425" anchor="ctr" anchorCtr="0">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nSpc>
                <a:spcPct val="90000"/>
              </a:lnSpc>
            </a:pPr>
            <a:endParaRPr lang="es-MX" sz="6000" dirty="0">
              <a:latin typeface="Berlin Sans FB" panose="020E0602020502020306" pitchFamily="34" charset="0"/>
            </a:endParaRPr>
          </a:p>
        </p:txBody>
      </p:sp>
      <p:sp>
        <p:nvSpPr>
          <p:cNvPr id="4" name="Google Shape;392;p64">
            <a:extLst>
              <a:ext uri="{FF2B5EF4-FFF2-40B4-BE49-F238E27FC236}">
                <a16:creationId xmlns:a16="http://schemas.microsoft.com/office/drawing/2014/main" id="{5396C517-D7BC-3EFA-07A8-23A761498EFC}"/>
              </a:ext>
            </a:extLst>
          </p:cNvPr>
          <p:cNvSpPr txBox="1">
            <a:spLocks/>
          </p:cNvSpPr>
          <p:nvPr/>
        </p:nvSpPr>
        <p:spPr>
          <a:xfrm>
            <a:off x="2895600" y="998446"/>
            <a:ext cx="8064000" cy="572700"/>
          </a:xfrm>
          <a:prstGeom prst="rect">
            <a:avLst/>
          </a:prstGeom>
        </p:spPr>
        <p:txBody>
          <a:bodyPr spcFirstLastPara="1" wrap="square" lIns="91425" tIns="91425" rIns="91425" bIns="91425" anchor="ctr" anchorCtr="0">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nSpc>
                <a:spcPct val="90000"/>
              </a:lnSpc>
            </a:pPr>
            <a:endParaRPr lang="es-MX" sz="6000" dirty="0">
              <a:latin typeface="Berlin Sans FB" panose="020E0602020502020306" pitchFamily="34" charset="0"/>
            </a:endParaRPr>
          </a:p>
        </p:txBody>
      </p:sp>
      <p:sp>
        <p:nvSpPr>
          <p:cNvPr id="7" name="Rectangle 3">
            <a:extLst>
              <a:ext uri="{FF2B5EF4-FFF2-40B4-BE49-F238E27FC236}">
                <a16:creationId xmlns:a16="http://schemas.microsoft.com/office/drawing/2014/main" id="{BCD0019F-2F34-B73A-17A1-6DA8C52CD880}"/>
              </a:ext>
            </a:extLst>
          </p:cNvPr>
          <p:cNvSpPr>
            <a:spLocks noChangeArrowheads="1"/>
          </p:cNvSpPr>
          <p:nvPr/>
        </p:nvSpPr>
        <p:spPr bwMode="auto">
          <a:xfrm>
            <a:off x="796582" y="4706434"/>
            <a:ext cx="7881443" cy="9456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endParaRPr lang="es-MX" sz="2400" dirty="0">
              <a:latin typeface="Berlin Sans FB" panose="020E0602020502020306" pitchFamily="34" charset="0"/>
            </a:endParaRPr>
          </a:p>
          <a:p>
            <a:pPr algn="just">
              <a:lnSpc>
                <a:spcPct val="150000"/>
              </a:lnSpc>
            </a:pPr>
            <a:endParaRPr kumimoji="0" lang="es-ES" altLang="es-ES" sz="2400" i="0" u="none" strike="noStrike" cap="none" normalizeH="0" baseline="0" dirty="0">
              <a:ln>
                <a:noFill/>
              </a:ln>
              <a:solidFill>
                <a:schemeClr val="tx1"/>
              </a:solidFill>
              <a:effectLst/>
              <a:latin typeface="Berlin Sans FB" panose="020E0602020502020306" pitchFamily="34" charset="0"/>
            </a:endParaRPr>
          </a:p>
        </p:txBody>
      </p:sp>
      <p:sp>
        <p:nvSpPr>
          <p:cNvPr id="3" name="Google Shape;392;p64">
            <a:extLst>
              <a:ext uri="{FF2B5EF4-FFF2-40B4-BE49-F238E27FC236}">
                <a16:creationId xmlns:a16="http://schemas.microsoft.com/office/drawing/2014/main" id="{DE52A80C-5113-EEEB-ADFD-656F1385C6FE}"/>
              </a:ext>
            </a:extLst>
          </p:cNvPr>
          <p:cNvSpPr txBox="1">
            <a:spLocks/>
          </p:cNvSpPr>
          <p:nvPr/>
        </p:nvSpPr>
        <p:spPr>
          <a:xfrm>
            <a:off x="2741553" y="1139259"/>
            <a:ext cx="11872945" cy="502627"/>
          </a:xfrm>
          <a:prstGeom prst="rect">
            <a:avLst/>
          </a:prstGeom>
        </p:spPr>
        <p:txBody>
          <a:bodyPr spcFirstLastPara="1" wrap="square" lIns="91425" tIns="91425" rIns="91425" bIns="91425" anchor="ctr" anchorCtr="0">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nSpc>
                <a:spcPct val="90000"/>
              </a:lnSpc>
            </a:pPr>
            <a:endParaRPr lang="es-MX" sz="6000" dirty="0">
              <a:latin typeface="Berlin Sans FB" panose="020E0602020502020306" pitchFamily="34" charset="0"/>
            </a:endParaRPr>
          </a:p>
        </p:txBody>
      </p:sp>
      <p:sp>
        <p:nvSpPr>
          <p:cNvPr id="5" name="Google Shape;392;p64">
            <a:extLst>
              <a:ext uri="{FF2B5EF4-FFF2-40B4-BE49-F238E27FC236}">
                <a16:creationId xmlns:a16="http://schemas.microsoft.com/office/drawing/2014/main" id="{BB353F34-9222-7B7B-F747-C9A2882CBD5D}"/>
              </a:ext>
            </a:extLst>
          </p:cNvPr>
          <p:cNvSpPr txBox="1">
            <a:spLocks/>
          </p:cNvSpPr>
          <p:nvPr/>
        </p:nvSpPr>
        <p:spPr>
          <a:xfrm>
            <a:off x="1494404" y="883639"/>
            <a:ext cx="14999237" cy="458250"/>
          </a:xfrm>
          <a:prstGeom prst="rect">
            <a:avLst/>
          </a:prstGeom>
        </p:spPr>
        <p:txBody>
          <a:bodyPr spcFirstLastPara="1" wrap="square" lIns="91425" tIns="91425" rIns="91425" bIns="91425" anchor="ctr" anchorCtr="0">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nSpc>
                <a:spcPct val="90000"/>
              </a:lnSpc>
            </a:pPr>
            <a:r>
              <a:rPr lang="es-MX" sz="6000" dirty="0">
                <a:latin typeface="Berlin Sans FB" panose="020E0602020502020306" pitchFamily="34" charset="0"/>
              </a:rPr>
              <a:t>Resultados </a:t>
            </a:r>
          </a:p>
        </p:txBody>
      </p:sp>
      <p:sp>
        <p:nvSpPr>
          <p:cNvPr id="13" name="CuadroTexto 12">
            <a:extLst>
              <a:ext uri="{FF2B5EF4-FFF2-40B4-BE49-F238E27FC236}">
                <a16:creationId xmlns:a16="http://schemas.microsoft.com/office/drawing/2014/main" id="{0EA371C5-C569-CE3A-06BD-E23F9A3D1A41}"/>
              </a:ext>
            </a:extLst>
          </p:cNvPr>
          <p:cNvSpPr txBox="1"/>
          <p:nvPr/>
        </p:nvSpPr>
        <p:spPr>
          <a:xfrm>
            <a:off x="355437" y="2607963"/>
            <a:ext cx="9144000" cy="4454296"/>
          </a:xfrm>
          <a:prstGeom prst="rect">
            <a:avLst/>
          </a:prstGeom>
          <a:noFill/>
        </p:spPr>
        <p:txBody>
          <a:bodyPr wrap="square">
            <a:spAutoFit/>
          </a:bodyPr>
          <a:lstStyle/>
          <a:p>
            <a:pPr algn="just">
              <a:lnSpc>
                <a:spcPct val="150000"/>
              </a:lnSpc>
            </a:pPr>
            <a:r>
              <a:rPr lang="es-ES" sz="2400" dirty="0">
                <a:latin typeface="Berlin Sans FB" panose="020E0602020502020306" pitchFamily="34" charset="0"/>
              </a:rPr>
              <a:t>Se logró establecer una conexión exitosa entre el </a:t>
            </a:r>
            <a:r>
              <a:rPr lang="es-ES" sz="2400" dirty="0" err="1">
                <a:latin typeface="Berlin Sans FB" panose="020E0602020502020306" pitchFamily="34" charset="0"/>
              </a:rPr>
              <a:t>frontend</a:t>
            </a:r>
            <a:r>
              <a:rPr lang="es-ES" sz="2400" dirty="0">
                <a:latin typeface="Berlin Sans FB" panose="020E0602020502020306" pitchFamily="34" charset="0"/>
              </a:rPr>
              <a:t> en Angular y los microservicios en Spring </a:t>
            </a:r>
            <a:r>
              <a:rPr lang="es-ES" sz="2400" dirty="0" err="1">
                <a:latin typeface="Berlin Sans FB" panose="020E0602020502020306" pitchFamily="34" charset="0"/>
              </a:rPr>
              <a:t>Boot</a:t>
            </a:r>
            <a:r>
              <a:rPr lang="es-ES" sz="2400" dirty="0">
                <a:latin typeface="Berlin Sans FB" panose="020E0602020502020306" pitchFamily="34" charset="0"/>
              </a:rPr>
              <a:t>.</a:t>
            </a:r>
            <a:br>
              <a:rPr lang="es-ES" sz="2400" dirty="0">
                <a:latin typeface="Berlin Sans FB" panose="020E0602020502020306" pitchFamily="34" charset="0"/>
              </a:rPr>
            </a:br>
            <a:r>
              <a:rPr lang="es-ES" sz="2400" dirty="0">
                <a:latin typeface="Berlin Sans FB" panose="020E0602020502020306" pitchFamily="34" charset="0"/>
              </a:rPr>
              <a:t>Los datos de cursos y estudiantes se muestran correctamente en las tablas.</a:t>
            </a:r>
            <a:br>
              <a:rPr lang="es-ES" sz="2400" dirty="0">
                <a:latin typeface="Berlin Sans FB" panose="020E0602020502020306" pitchFamily="34" charset="0"/>
              </a:rPr>
            </a:br>
            <a:r>
              <a:rPr lang="es-ES" sz="2400" dirty="0">
                <a:latin typeface="Berlin Sans FB" panose="020E0602020502020306" pitchFamily="34" charset="0"/>
              </a:rPr>
              <a:t>Se implementaron modales funcionales para agregar y editar registros.</a:t>
            </a:r>
            <a:br>
              <a:rPr lang="es-ES" sz="2400" dirty="0">
                <a:latin typeface="Berlin Sans FB" panose="020E0602020502020306" pitchFamily="34" charset="0"/>
              </a:rPr>
            </a:br>
            <a:r>
              <a:rPr lang="es-ES" sz="2400" dirty="0">
                <a:latin typeface="Berlin Sans FB" panose="020E0602020502020306" pitchFamily="34" charset="0"/>
              </a:rPr>
              <a:t>La aplicación permite buscar y eliminar registros con confirmación.</a:t>
            </a:r>
            <a:br>
              <a:rPr lang="es-ES" sz="2400" dirty="0">
                <a:latin typeface="Berlin Sans FB" panose="020E0602020502020306" pitchFamily="34" charset="0"/>
              </a:rPr>
            </a:br>
            <a:r>
              <a:rPr lang="es-ES" sz="2400" dirty="0">
                <a:latin typeface="Berlin Sans FB" panose="020E0602020502020306" pitchFamily="34" charset="0"/>
              </a:rPr>
              <a:t>Se verificó el correcto funcionamiento de los métodos CRUD en ambos microservicios.</a:t>
            </a:r>
          </a:p>
        </p:txBody>
      </p:sp>
      <p:pic>
        <p:nvPicPr>
          <p:cNvPr id="12" name="Imagen 11">
            <a:extLst>
              <a:ext uri="{FF2B5EF4-FFF2-40B4-BE49-F238E27FC236}">
                <a16:creationId xmlns:a16="http://schemas.microsoft.com/office/drawing/2014/main" id="{EB4E865D-A231-3447-1DA3-4FD185D8F638}"/>
              </a:ext>
            </a:extLst>
          </p:cNvPr>
          <p:cNvPicPr>
            <a:picLocks noChangeAspect="1"/>
          </p:cNvPicPr>
          <p:nvPr/>
        </p:nvPicPr>
        <p:blipFill>
          <a:blip r:embed="rId7"/>
          <a:stretch>
            <a:fillRect/>
          </a:stretch>
        </p:blipFill>
        <p:spPr>
          <a:xfrm>
            <a:off x="9492510" y="4773585"/>
            <a:ext cx="8230717" cy="4629776"/>
          </a:xfrm>
          <a:prstGeom prst="rect">
            <a:avLst/>
          </a:prstGeom>
          <a:noFill/>
          <a:ln>
            <a:noFill/>
          </a:ln>
        </p:spPr>
      </p:pic>
    </p:spTree>
    <p:extLst>
      <p:ext uri="{BB962C8B-B14F-4D97-AF65-F5344CB8AC3E}">
        <p14:creationId xmlns:p14="http://schemas.microsoft.com/office/powerpoint/2010/main" val="4895966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reeform 8"/>
          <p:cNvSpPr/>
          <p:nvPr/>
        </p:nvSpPr>
        <p:spPr>
          <a:xfrm rot="2761435">
            <a:off x="7430449" y="-2389394"/>
            <a:ext cx="3718326" cy="4017838"/>
          </a:xfrm>
          <a:custGeom>
            <a:avLst/>
            <a:gdLst/>
            <a:ahLst/>
            <a:cxnLst/>
            <a:rect l="l" t="t" r="r" b="b"/>
            <a:pathLst>
              <a:path w="3718326" h="4017838">
                <a:moveTo>
                  <a:pt x="0" y="0"/>
                </a:moveTo>
                <a:lnTo>
                  <a:pt x="3718327" y="0"/>
                </a:lnTo>
                <a:lnTo>
                  <a:pt x="3718327" y="4017838"/>
                </a:lnTo>
                <a:lnTo>
                  <a:pt x="0" y="401783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9" name="Freeform 9"/>
          <p:cNvSpPr/>
          <p:nvPr/>
        </p:nvSpPr>
        <p:spPr>
          <a:xfrm rot="-2430465">
            <a:off x="285971" y="7039840"/>
            <a:ext cx="2562779" cy="3014631"/>
          </a:xfrm>
          <a:custGeom>
            <a:avLst/>
            <a:gdLst/>
            <a:ahLst/>
            <a:cxnLst/>
            <a:rect l="l" t="t" r="r" b="b"/>
            <a:pathLst>
              <a:path w="2562779" h="3014631">
                <a:moveTo>
                  <a:pt x="0" y="0"/>
                </a:moveTo>
                <a:lnTo>
                  <a:pt x="2562779" y="0"/>
                </a:lnTo>
                <a:lnTo>
                  <a:pt x="2562779" y="3014631"/>
                </a:lnTo>
                <a:lnTo>
                  <a:pt x="0" y="301463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0" name="Freeform 10"/>
          <p:cNvSpPr/>
          <p:nvPr/>
        </p:nvSpPr>
        <p:spPr>
          <a:xfrm rot="-2430465">
            <a:off x="15260927" y="298515"/>
            <a:ext cx="2465428" cy="2900117"/>
          </a:xfrm>
          <a:custGeom>
            <a:avLst/>
            <a:gdLst/>
            <a:ahLst/>
            <a:cxnLst/>
            <a:rect l="l" t="t" r="r" b="b"/>
            <a:pathLst>
              <a:path w="2465428" h="2900117">
                <a:moveTo>
                  <a:pt x="0" y="0"/>
                </a:moveTo>
                <a:lnTo>
                  <a:pt x="2465428" y="0"/>
                </a:lnTo>
                <a:lnTo>
                  <a:pt x="2465428" y="2900116"/>
                </a:lnTo>
                <a:lnTo>
                  <a:pt x="0" y="290011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1" name="Freeform 11"/>
          <p:cNvSpPr/>
          <p:nvPr/>
        </p:nvSpPr>
        <p:spPr>
          <a:xfrm rot="2761435">
            <a:off x="7377228" y="8516603"/>
            <a:ext cx="3718326" cy="4017838"/>
          </a:xfrm>
          <a:custGeom>
            <a:avLst/>
            <a:gdLst/>
            <a:ahLst/>
            <a:cxnLst/>
            <a:rect l="l" t="t" r="r" b="b"/>
            <a:pathLst>
              <a:path w="3718326" h="4017838">
                <a:moveTo>
                  <a:pt x="0" y="0"/>
                </a:moveTo>
                <a:lnTo>
                  <a:pt x="3718326" y="0"/>
                </a:lnTo>
                <a:lnTo>
                  <a:pt x="3718326" y="4017838"/>
                </a:lnTo>
                <a:lnTo>
                  <a:pt x="0" y="401783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2" name="Google Shape;392;p64">
            <a:extLst>
              <a:ext uri="{FF2B5EF4-FFF2-40B4-BE49-F238E27FC236}">
                <a16:creationId xmlns:a16="http://schemas.microsoft.com/office/drawing/2014/main" id="{30796F42-4B3A-3823-9B02-295011F9281B}"/>
              </a:ext>
            </a:extLst>
          </p:cNvPr>
          <p:cNvSpPr txBox="1">
            <a:spLocks/>
          </p:cNvSpPr>
          <p:nvPr/>
        </p:nvSpPr>
        <p:spPr>
          <a:xfrm>
            <a:off x="3134716" y="1039502"/>
            <a:ext cx="12867283" cy="604774"/>
          </a:xfrm>
          <a:prstGeom prst="rect">
            <a:avLst/>
          </a:prstGeom>
        </p:spPr>
        <p:txBody>
          <a:bodyPr spcFirstLastPara="1" wrap="square" lIns="91425" tIns="91425" rIns="91425" bIns="91425" anchor="ctr" anchorCtr="0">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nSpc>
                <a:spcPct val="90000"/>
              </a:lnSpc>
            </a:pPr>
            <a:endParaRPr lang="es-MX" sz="6000" dirty="0">
              <a:latin typeface="Berlin Sans FB" panose="020E0602020502020306" pitchFamily="34" charset="0"/>
            </a:endParaRPr>
          </a:p>
        </p:txBody>
      </p:sp>
      <p:sp>
        <p:nvSpPr>
          <p:cNvPr id="4" name="Google Shape;392;p64">
            <a:extLst>
              <a:ext uri="{FF2B5EF4-FFF2-40B4-BE49-F238E27FC236}">
                <a16:creationId xmlns:a16="http://schemas.microsoft.com/office/drawing/2014/main" id="{5396C517-D7BC-3EFA-07A8-23A761498EFC}"/>
              </a:ext>
            </a:extLst>
          </p:cNvPr>
          <p:cNvSpPr txBox="1">
            <a:spLocks/>
          </p:cNvSpPr>
          <p:nvPr/>
        </p:nvSpPr>
        <p:spPr>
          <a:xfrm>
            <a:off x="2895600" y="998446"/>
            <a:ext cx="8064000" cy="572700"/>
          </a:xfrm>
          <a:prstGeom prst="rect">
            <a:avLst/>
          </a:prstGeom>
        </p:spPr>
        <p:txBody>
          <a:bodyPr spcFirstLastPara="1" wrap="square" lIns="91425" tIns="91425" rIns="91425" bIns="91425" anchor="ctr" anchorCtr="0">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nSpc>
                <a:spcPct val="90000"/>
              </a:lnSpc>
            </a:pPr>
            <a:endParaRPr lang="es-MX" sz="6000" dirty="0">
              <a:latin typeface="Berlin Sans FB" panose="020E0602020502020306" pitchFamily="34" charset="0"/>
            </a:endParaRPr>
          </a:p>
        </p:txBody>
      </p:sp>
      <p:sp>
        <p:nvSpPr>
          <p:cNvPr id="7" name="Rectangle 3">
            <a:extLst>
              <a:ext uri="{FF2B5EF4-FFF2-40B4-BE49-F238E27FC236}">
                <a16:creationId xmlns:a16="http://schemas.microsoft.com/office/drawing/2014/main" id="{BCD0019F-2F34-B73A-17A1-6DA8C52CD880}"/>
              </a:ext>
            </a:extLst>
          </p:cNvPr>
          <p:cNvSpPr>
            <a:spLocks noChangeArrowheads="1"/>
          </p:cNvSpPr>
          <p:nvPr/>
        </p:nvSpPr>
        <p:spPr bwMode="auto">
          <a:xfrm>
            <a:off x="796582" y="4706434"/>
            <a:ext cx="7881443" cy="9456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endParaRPr lang="es-MX" sz="2400" dirty="0">
              <a:latin typeface="Berlin Sans FB" panose="020E0602020502020306" pitchFamily="34" charset="0"/>
            </a:endParaRPr>
          </a:p>
          <a:p>
            <a:pPr algn="just">
              <a:lnSpc>
                <a:spcPct val="150000"/>
              </a:lnSpc>
            </a:pPr>
            <a:endParaRPr kumimoji="0" lang="es-ES" altLang="es-ES" sz="2400" i="0" u="none" strike="noStrike" cap="none" normalizeH="0" baseline="0" dirty="0">
              <a:ln>
                <a:noFill/>
              </a:ln>
              <a:solidFill>
                <a:schemeClr val="tx1"/>
              </a:solidFill>
              <a:effectLst/>
              <a:latin typeface="Berlin Sans FB" panose="020E0602020502020306" pitchFamily="34" charset="0"/>
            </a:endParaRPr>
          </a:p>
        </p:txBody>
      </p:sp>
      <p:sp>
        <p:nvSpPr>
          <p:cNvPr id="3" name="Google Shape;392;p64">
            <a:extLst>
              <a:ext uri="{FF2B5EF4-FFF2-40B4-BE49-F238E27FC236}">
                <a16:creationId xmlns:a16="http://schemas.microsoft.com/office/drawing/2014/main" id="{DE52A80C-5113-EEEB-ADFD-656F1385C6FE}"/>
              </a:ext>
            </a:extLst>
          </p:cNvPr>
          <p:cNvSpPr txBox="1">
            <a:spLocks/>
          </p:cNvSpPr>
          <p:nvPr/>
        </p:nvSpPr>
        <p:spPr>
          <a:xfrm>
            <a:off x="2741553" y="1139259"/>
            <a:ext cx="11872945" cy="502627"/>
          </a:xfrm>
          <a:prstGeom prst="rect">
            <a:avLst/>
          </a:prstGeom>
        </p:spPr>
        <p:txBody>
          <a:bodyPr spcFirstLastPara="1" wrap="square" lIns="91425" tIns="91425" rIns="91425" bIns="91425" anchor="ctr" anchorCtr="0">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nSpc>
                <a:spcPct val="90000"/>
              </a:lnSpc>
            </a:pPr>
            <a:endParaRPr lang="es-MX" sz="6000" dirty="0">
              <a:latin typeface="Berlin Sans FB" panose="020E0602020502020306" pitchFamily="34" charset="0"/>
            </a:endParaRPr>
          </a:p>
        </p:txBody>
      </p:sp>
      <p:sp>
        <p:nvSpPr>
          <p:cNvPr id="5" name="Google Shape;392;p64">
            <a:extLst>
              <a:ext uri="{FF2B5EF4-FFF2-40B4-BE49-F238E27FC236}">
                <a16:creationId xmlns:a16="http://schemas.microsoft.com/office/drawing/2014/main" id="{BB353F34-9222-7B7B-F747-C9A2882CBD5D}"/>
              </a:ext>
            </a:extLst>
          </p:cNvPr>
          <p:cNvSpPr txBox="1">
            <a:spLocks/>
          </p:cNvSpPr>
          <p:nvPr/>
        </p:nvSpPr>
        <p:spPr>
          <a:xfrm>
            <a:off x="1494404" y="883639"/>
            <a:ext cx="14999237" cy="458250"/>
          </a:xfrm>
          <a:prstGeom prst="rect">
            <a:avLst/>
          </a:prstGeom>
        </p:spPr>
        <p:txBody>
          <a:bodyPr spcFirstLastPara="1" wrap="square" lIns="91425" tIns="91425" rIns="91425" bIns="91425" anchor="ctr" anchorCtr="0">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nSpc>
                <a:spcPct val="90000"/>
              </a:lnSpc>
            </a:pPr>
            <a:r>
              <a:rPr lang="es-MX" sz="6000" dirty="0">
                <a:latin typeface="Berlin Sans FB" panose="020E0602020502020306" pitchFamily="34" charset="0"/>
              </a:rPr>
              <a:t>Link del </a:t>
            </a:r>
            <a:r>
              <a:rPr lang="es-MX" sz="6000" dirty="0" err="1">
                <a:latin typeface="Berlin Sans FB" panose="020E0602020502020306" pitchFamily="34" charset="0"/>
              </a:rPr>
              <a:t>codigo</a:t>
            </a:r>
            <a:endParaRPr lang="es-MX" sz="6000" dirty="0">
              <a:latin typeface="Berlin Sans FB" panose="020E0602020502020306" pitchFamily="34" charset="0"/>
            </a:endParaRPr>
          </a:p>
        </p:txBody>
      </p:sp>
      <p:sp>
        <p:nvSpPr>
          <p:cNvPr id="13" name="CuadroTexto 12">
            <a:extLst>
              <a:ext uri="{FF2B5EF4-FFF2-40B4-BE49-F238E27FC236}">
                <a16:creationId xmlns:a16="http://schemas.microsoft.com/office/drawing/2014/main" id="{0EA371C5-C569-CE3A-06BD-E23F9A3D1A41}"/>
              </a:ext>
            </a:extLst>
          </p:cNvPr>
          <p:cNvSpPr txBox="1"/>
          <p:nvPr/>
        </p:nvSpPr>
        <p:spPr>
          <a:xfrm>
            <a:off x="355437" y="2607963"/>
            <a:ext cx="9144000" cy="576312"/>
          </a:xfrm>
          <a:prstGeom prst="rect">
            <a:avLst/>
          </a:prstGeom>
          <a:noFill/>
        </p:spPr>
        <p:txBody>
          <a:bodyPr wrap="square">
            <a:spAutoFit/>
          </a:bodyPr>
          <a:lstStyle/>
          <a:p>
            <a:pPr algn="just">
              <a:lnSpc>
                <a:spcPct val="150000"/>
              </a:lnSpc>
            </a:pPr>
            <a:r>
              <a:rPr lang="es-ES" sz="2400" dirty="0">
                <a:latin typeface="Berlin Sans FB" panose="020E0602020502020306" pitchFamily="34" charset="0"/>
              </a:rPr>
              <a:t>.</a:t>
            </a:r>
          </a:p>
        </p:txBody>
      </p:sp>
    </p:spTree>
    <p:extLst>
      <p:ext uri="{BB962C8B-B14F-4D97-AF65-F5344CB8AC3E}">
        <p14:creationId xmlns:p14="http://schemas.microsoft.com/office/powerpoint/2010/main" val="37755030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reeform 8"/>
          <p:cNvSpPr/>
          <p:nvPr/>
        </p:nvSpPr>
        <p:spPr>
          <a:xfrm rot="2761435">
            <a:off x="7430449" y="-2389394"/>
            <a:ext cx="3718326" cy="4017838"/>
          </a:xfrm>
          <a:custGeom>
            <a:avLst/>
            <a:gdLst/>
            <a:ahLst/>
            <a:cxnLst/>
            <a:rect l="l" t="t" r="r" b="b"/>
            <a:pathLst>
              <a:path w="3718326" h="4017838">
                <a:moveTo>
                  <a:pt x="0" y="0"/>
                </a:moveTo>
                <a:lnTo>
                  <a:pt x="3718327" y="0"/>
                </a:lnTo>
                <a:lnTo>
                  <a:pt x="3718327" y="4017838"/>
                </a:lnTo>
                <a:lnTo>
                  <a:pt x="0" y="401783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9" name="Freeform 9"/>
          <p:cNvSpPr/>
          <p:nvPr/>
        </p:nvSpPr>
        <p:spPr>
          <a:xfrm rot="-2430465">
            <a:off x="285971" y="7039840"/>
            <a:ext cx="2562779" cy="3014631"/>
          </a:xfrm>
          <a:custGeom>
            <a:avLst/>
            <a:gdLst/>
            <a:ahLst/>
            <a:cxnLst/>
            <a:rect l="l" t="t" r="r" b="b"/>
            <a:pathLst>
              <a:path w="2562779" h="3014631">
                <a:moveTo>
                  <a:pt x="0" y="0"/>
                </a:moveTo>
                <a:lnTo>
                  <a:pt x="2562779" y="0"/>
                </a:lnTo>
                <a:lnTo>
                  <a:pt x="2562779" y="3014631"/>
                </a:lnTo>
                <a:lnTo>
                  <a:pt x="0" y="301463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0" name="Freeform 10"/>
          <p:cNvSpPr/>
          <p:nvPr/>
        </p:nvSpPr>
        <p:spPr>
          <a:xfrm rot="-2430465">
            <a:off x="15260927" y="298515"/>
            <a:ext cx="2465428" cy="2900117"/>
          </a:xfrm>
          <a:custGeom>
            <a:avLst/>
            <a:gdLst/>
            <a:ahLst/>
            <a:cxnLst/>
            <a:rect l="l" t="t" r="r" b="b"/>
            <a:pathLst>
              <a:path w="2465428" h="2900117">
                <a:moveTo>
                  <a:pt x="0" y="0"/>
                </a:moveTo>
                <a:lnTo>
                  <a:pt x="2465428" y="0"/>
                </a:lnTo>
                <a:lnTo>
                  <a:pt x="2465428" y="2900116"/>
                </a:lnTo>
                <a:lnTo>
                  <a:pt x="0" y="290011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1" name="Freeform 11"/>
          <p:cNvSpPr/>
          <p:nvPr/>
        </p:nvSpPr>
        <p:spPr>
          <a:xfrm rot="2761435">
            <a:off x="7377228" y="8516603"/>
            <a:ext cx="3718326" cy="4017838"/>
          </a:xfrm>
          <a:custGeom>
            <a:avLst/>
            <a:gdLst/>
            <a:ahLst/>
            <a:cxnLst/>
            <a:rect l="l" t="t" r="r" b="b"/>
            <a:pathLst>
              <a:path w="3718326" h="4017838">
                <a:moveTo>
                  <a:pt x="0" y="0"/>
                </a:moveTo>
                <a:lnTo>
                  <a:pt x="3718326" y="0"/>
                </a:lnTo>
                <a:lnTo>
                  <a:pt x="3718326" y="4017838"/>
                </a:lnTo>
                <a:lnTo>
                  <a:pt x="0" y="401783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2" name="Google Shape;392;p64">
            <a:extLst>
              <a:ext uri="{FF2B5EF4-FFF2-40B4-BE49-F238E27FC236}">
                <a16:creationId xmlns:a16="http://schemas.microsoft.com/office/drawing/2014/main" id="{30796F42-4B3A-3823-9B02-295011F9281B}"/>
              </a:ext>
            </a:extLst>
          </p:cNvPr>
          <p:cNvSpPr txBox="1">
            <a:spLocks/>
          </p:cNvSpPr>
          <p:nvPr/>
        </p:nvSpPr>
        <p:spPr>
          <a:xfrm>
            <a:off x="3134716" y="1039502"/>
            <a:ext cx="12867283" cy="604774"/>
          </a:xfrm>
          <a:prstGeom prst="rect">
            <a:avLst/>
          </a:prstGeom>
        </p:spPr>
        <p:txBody>
          <a:bodyPr spcFirstLastPara="1" wrap="square" lIns="91425" tIns="91425" rIns="91425" bIns="91425" anchor="ctr" anchorCtr="0">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nSpc>
                <a:spcPct val="90000"/>
              </a:lnSpc>
            </a:pPr>
            <a:endParaRPr lang="es-MX" sz="6000" dirty="0">
              <a:latin typeface="Berlin Sans FB" panose="020E0602020502020306" pitchFamily="34" charset="0"/>
            </a:endParaRPr>
          </a:p>
        </p:txBody>
      </p:sp>
      <p:sp>
        <p:nvSpPr>
          <p:cNvPr id="4" name="Google Shape;392;p64">
            <a:extLst>
              <a:ext uri="{FF2B5EF4-FFF2-40B4-BE49-F238E27FC236}">
                <a16:creationId xmlns:a16="http://schemas.microsoft.com/office/drawing/2014/main" id="{5396C517-D7BC-3EFA-07A8-23A761498EFC}"/>
              </a:ext>
            </a:extLst>
          </p:cNvPr>
          <p:cNvSpPr txBox="1">
            <a:spLocks/>
          </p:cNvSpPr>
          <p:nvPr/>
        </p:nvSpPr>
        <p:spPr>
          <a:xfrm>
            <a:off x="2895600" y="998446"/>
            <a:ext cx="8064000" cy="572700"/>
          </a:xfrm>
          <a:prstGeom prst="rect">
            <a:avLst/>
          </a:prstGeom>
        </p:spPr>
        <p:txBody>
          <a:bodyPr spcFirstLastPara="1" wrap="square" lIns="91425" tIns="91425" rIns="91425" bIns="91425" anchor="ctr" anchorCtr="0">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nSpc>
                <a:spcPct val="90000"/>
              </a:lnSpc>
            </a:pPr>
            <a:endParaRPr lang="es-MX" sz="6000" dirty="0">
              <a:latin typeface="Berlin Sans FB" panose="020E0602020502020306" pitchFamily="34" charset="0"/>
            </a:endParaRPr>
          </a:p>
        </p:txBody>
      </p:sp>
      <p:sp>
        <p:nvSpPr>
          <p:cNvPr id="7" name="Rectangle 3">
            <a:extLst>
              <a:ext uri="{FF2B5EF4-FFF2-40B4-BE49-F238E27FC236}">
                <a16:creationId xmlns:a16="http://schemas.microsoft.com/office/drawing/2014/main" id="{BCD0019F-2F34-B73A-17A1-6DA8C52CD880}"/>
              </a:ext>
            </a:extLst>
          </p:cNvPr>
          <p:cNvSpPr>
            <a:spLocks noChangeArrowheads="1"/>
          </p:cNvSpPr>
          <p:nvPr/>
        </p:nvSpPr>
        <p:spPr bwMode="auto">
          <a:xfrm>
            <a:off x="796582" y="4706434"/>
            <a:ext cx="7881443" cy="9456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endParaRPr lang="es-MX" sz="2400" dirty="0">
              <a:latin typeface="Berlin Sans FB" panose="020E0602020502020306" pitchFamily="34" charset="0"/>
            </a:endParaRPr>
          </a:p>
          <a:p>
            <a:pPr algn="just">
              <a:lnSpc>
                <a:spcPct val="150000"/>
              </a:lnSpc>
            </a:pPr>
            <a:endParaRPr kumimoji="0" lang="es-ES" altLang="es-ES" sz="2400" i="0" u="none" strike="noStrike" cap="none" normalizeH="0" baseline="0" dirty="0">
              <a:ln>
                <a:noFill/>
              </a:ln>
              <a:solidFill>
                <a:schemeClr val="tx1"/>
              </a:solidFill>
              <a:effectLst/>
              <a:latin typeface="Berlin Sans FB" panose="020E0602020502020306" pitchFamily="34" charset="0"/>
            </a:endParaRPr>
          </a:p>
        </p:txBody>
      </p:sp>
      <p:sp>
        <p:nvSpPr>
          <p:cNvPr id="3" name="Google Shape;392;p64">
            <a:extLst>
              <a:ext uri="{FF2B5EF4-FFF2-40B4-BE49-F238E27FC236}">
                <a16:creationId xmlns:a16="http://schemas.microsoft.com/office/drawing/2014/main" id="{DE52A80C-5113-EEEB-ADFD-656F1385C6FE}"/>
              </a:ext>
            </a:extLst>
          </p:cNvPr>
          <p:cNvSpPr txBox="1">
            <a:spLocks/>
          </p:cNvSpPr>
          <p:nvPr/>
        </p:nvSpPr>
        <p:spPr>
          <a:xfrm>
            <a:off x="2741553" y="1139259"/>
            <a:ext cx="11872945" cy="502627"/>
          </a:xfrm>
          <a:prstGeom prst="rect">
            <a:avLst/>
          </a:prstGeom>
        </p:spPr>
        <p:txBody>
          <a:bodyPr spcFirstLastPara="1" wrap="square" lIns="91425" tIns="91425" rIns="91425" bIns="91425" anchor="ctr" anchorCtr="0">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nSpc>
                <a:spcPct val="90000"/>
              </a:lnSpc>
            </a:pPr>
            <a:endParaRPr lang="es-MX" sz="6000" dirty="0">
              <a:latin typeface="Berlin Sans FB" panose="020E0602020502020306" pitchFamily="34" charset="0"/>
            </a:endParaRPr>
          </a:p>
        </p:txBody>
      </p:sp>
      <p:sp>
        <p:nvSpPr>
          <p:cNvPr id="5" name="Google Shape;392;p64">
            <a:extLst>
              <a:ext uri="{FF2B5EF4-FFF2-40B4-BE49-F238E27FC236}">
                <a16:creationId xmlns:a16="http://schemas.microsoft.com/office/drawing/2014/main" id="{BB353F34-9222-7B7B-F747-C9A2882CBD5D}"/>
              </a:ext>
            </a:extLst>
          </p:cNvPr>
          <p:cNvSpPr txBox="1">
            <a:spLocks/>
          </p:cNvSpPr>
          <p:nvPr/>
        </p:nvSpPr>
        <p:spPr>
          <a:xfrm>
            <a:off x="1494404" y="883639"/>
            <a:ext cx="14999237" cy="458250"/>
          </a:xfrm>
          <a:prstGeom prst="rect">
            <a:avLst/>
          </a:prstGeom>
        </p:spPr>
        <p:txBody>
          <a:bodyPr spcFirstLastPara="1" wrap="square" lIns="91425" tIns="91425" rIns="91425" bIns="91425" anchor="ctr" anchorCtr="0">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nSpc>
                <a:spcPct val="90000"/>
              </a:lnSpc>
            </a:pPr>
            <a:r>
              <a:rPr lang="es-MX" sz="6000" dirty="0">
                <a:latin typeface="Berlin Sans FB" panose="020E0602020502020306" pitchFamily="34" charset="0"/>
              </a:rPr>
              <a:t>Conclusión</a:t>
            </a:r>
          </a:p>
        </p:txBody>
      </p:sp>
      <p:sp>
        <p:nvSpPr>
          <p:cNvPr id="13" name="CuadroTexto 12">
            <a:extLst>
              <a:ext uri="{FF2B5EF4-FFF2-40B4-BE49-F238E27FC236}">
                <a16:creationId xmlns:a16="http://schemas.microsoft.com/office/drawing/2014/main" id="{0EA371C5-C569-CE3A-06BD-E23F9A3D1A41}"/>
              </a:ext>
            </a:extLst>
          </p:cNvPr>
          <p:cNvSpPr txBox="1"/>
          <p:nvPr/>
        </p:nvSpPr>
        <p:spPr>
          <a:xfrm>
            <a:off x="355437" y="2607963"/>
            <a:ext cx="9144000" cy="576312"/>
          </a:xfrm>
          <a:prstGeom prst="rect">
            <a:avLst/>
          </a:prstGeom>
          <a:noFill/>
        </p:spPr>
        <p:txBody>
          <a:bodyPr wrap="square">
            <a:spAutoFit/>
          </a:bodyPr>
          <a:lstStyle/>
          <a:p>
            <a:pPr algn="just">
              <a:lnSpc>
                <a:spcPct val="150000"/>
              </a:lnSpc>
            </a:pPr>
            <a:r>
              <a:rPr lang="es-ES" sz="2400" dirty="0">
                <a:latin typeface="Berlin Sans FB" panose="020E0602020502020306" pitchFamily="34" charset="0"/>
              </a:rPr>
              <a:t>.</a:t>
            </a:r>
          </a:p>
        </p:txBody>
      </p:sp>
      <p:sp>
        <p:nvSpPr>
          <p:cNvPr id="12" name="CuadroTexto 11">
            <a:extLst>
              <a:ext uri="{FF2B5EF4-FFF2-40B4-BE49-F238E27FC236}">
                <a16:creationId xmlns:a16="http://schemas.microsoft.com/office/drawing/2014/main" id="{B30526AD-1B6C-F8B5-5329-E1D443442D68}"/>
              </a:ext>
            </a:extLst>
          </p:cNvPr>
          <p:cNvSpPr txBox="1"/>
          <p:nvPr/>
        </p:nvSpPr>
        <p:spPr>
          <a:xfrm>
            <a:off x="2246773" y="2615964"/>
            <a:ext cx="13979236" cy="3346301"/>
          </a:xfrm>
          <a:prstGeom prst="rect">
            <a:avLst/>
          </a:prstGeom>
          <a:noFill/>
        </p:spPr>
        <p:txBody>
          <a:bodyPr wrap="square">
            <a:spAutoFit/>
          </a:bodyPr>
          <a:lstStyle/>
          <a:p>
            <a:pPr algn="just">
              <a:lnSpc>
                <a:spcPct val="150000"/>
              </a:lnSpc>
            </a:pPr>
            <a:r>
              <a:rPr lang="es-ES" sz="2400" dirty="0">
                <a:latin typeface="Berlin Sans FB" panose="020E0602020502020306" pitchFamily="34" charset="0"/>
              </a:rPr>
              <a:t>en la implementación de aplicaciones empresariales </a:t>
            </a:r>
            <a:r>
              <a:rPr lang="es-ES" sz="2400" dirty="0" err="1">
                <a:latin typeface="Berlin Sans FB" panose="020E0602020502020306" pitchFamily="34" charset="0"/>
              </a:rPr>
              <a:t>modernasLa</a:t>
            </a:r>
            <a:r>
              <a:rPr lang="es-ES" sz="2400" dirty="0">
                <a:latin typeface="Berlin Sans FB" panose="020E0602020502020306" pitchFamily="34" charset="0"/>
              </a:rPr>
              <a:t> práctica permitió aplicar y consolidar los conocimientos sobre arquitecturas de microservicios, integrando tecnologías como Spring </a:t>
            </a:r>
            <a:r>
              <a:rPr lang="es-ES" sz="2400" dirty="0" err="1">
                <a:latin typeface="Berlin Sans FB" panose="020E0602020502020306" pitchFamily="34" charset="0"/>
              </a:rPr>
              <a:t>Boot</a:t>
            </a:r>
            <a:r>
              <a:rPr lang="es-ES" sz="2400" dirty="0">
                <a:latin typeface="Berlin Sans FB" panose="020E0602020502020306" pitchFamily="34" charset="0"/>
              </a:rPr>
              <a:t>, Angular y Docker. Se logró desarrollar un sistema modular y escalable, donde los microservicios se comunican correctamente mediante Eureka y API Gateway, y las operaciones CRUD funcionan de manera confiable. La integración del </a:t>
            </a:r>
            <a:r>
              <a:rPr lang="es-ES" sz="2400" dirty="0" err="1">
                <a:latin typeface="Berlin Sans FB" panose="020E0602020502020306" pitchFamily="34" charset="0"/>
              </a:rPr>
              <a:t>frontend</a:t>
            </a:r>
            <a:r>
              <a:rPr lang="es-ES" sz="2400" dirty="0">
                <a:latin typeface="Berlin Sans FB" panose="020E0602020502020306" pitchFamily="34" charset="0"/>
              </a:rPr>
              <a:t> con el </a:t>
            </a:r>
            <a:r>
              <a:rPr lang="es-ES" sz="2400" dirty="0" err="1">
                <a:latin typeface="Berlin Sans FB" panose="020E0602020502020306" pitchFamily="34" charset="0"/>
              </a:rPr>
              <a:t>backend</a:t>
            </a:r>
            <a:r>
              <a:rPr lang="es-ES" sz="2400" dirty="0">
                <a:latin typeface="Berlin Sans FB" panose="020E0602020502020306" pitchFamily="34" charset="0"/>
              </a:rPr>
              <a:t> confirmó la correcta visualización y manipulación de los datos, demostrando la eficacia de la arquitectura y las herramientas empleadas .</a:t>
            </a:r>
          </a:p>
        </p:txBody>
      </p:sp>
    </p:spTree>
    <p:extLst>
      <p:ext uri="{BB962C8B-B14F-4D97-AF65-F5344CB8AC3E}">
        <p14:creationId xmlns:p14="http://schemas.microsoft.com/office/powerpoint/2010/main" val="269374045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110</TotalTime>
  <Words>1079</Words>
  <Application>Microsoft Office PowerPoint</Application>
  <PresentationFormat>Personalizado</PresentationFormat>
  <Paragraphs>80</Paragraphs>
  <Slides>19</Slides>
  <Notes>4</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19</vt:i4>
      </vt:variant>
    </vt:vector>
  </HeadingPairs>
  <TitlesOfParts>
    <vt:vector size="26" baseType="lpstr">
      <vt:lpstr>Calibri</vt:lpstr>
      <vt:lpstr>Monkey</vt:lpstr>
      <vt:lpstr>Aptos</vt:lpstr>
      <vt:lpstr>Berlin Sans FB</vt:lpstr>
      <vt:lpstr>Times New Roman</vt:lpstr>
      <vt:lpstr>Arial</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Diapositivas Proyecto Divertido Juvenil Rosa y Azul</dc:title>
  <dc:creator>Miriam Recinos</dc:creator>
  <cp:lastModifiedBy>Miriam Recinos</cp:lastModifiedBy>
  <cp:revision>6</cp:revision>
  <dcterms:created xsi:type="dcterms:W3CDTF">2006-08-16T00:00:00Z</dcterms:created>
  <dcterms:modified xsi:type="dcterms:W3CDTF">2025-10-18T19:15:58Z</dcterms:modified>
  <dc:identifier>DAG0mLgwIks</dc:identifier>
</cp:coreProperties>
</file>